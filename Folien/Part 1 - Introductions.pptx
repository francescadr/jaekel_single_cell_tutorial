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embeddedFontLst>
    <p:embeddedFont>
      <p:font typeface="Inconsolata"/>
      <p:regular r:id="rId73"/>
      <p:bold r:id="rId74"/>
    </p:embeddedFont>
    <p:embeddedFont>
      <p:font typeface="Inter"/>
      <p:regular r:id="rId75"/>
      <p:bold r:id="rId76"/>
      <p:italic r:id="rId77"/>
      <p:boldItalic r:id="rId78"/>
    </p:embeddedFont>
    <p:embeddedFont>
      <p:font typeface="Helvetica Neue"/>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HelveticaNeue-bold.fntdata"/><Relationship Id="rId82" Type="http://schemas.openxmlformats.org/officeDocument/2006/relationships/font" Target="fonts/HelveticaNeue-boldItalic.fntdata"/><Relationship Id="rId81"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Inconsolata-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Inter-regular.fntdata"/><Relationship Id="rId30" Type="http://schemas.openxmlformats.org/officeDocument/2006/relationships/slide" Target="slides/slide25.xml"/><Relationship Id="rId74" Type="http://schemas.openxmlformats.org/officeDocument/2006/relationships/font" Target="fonts/Inconsolata-bold.fntdata"/><Relationship Id="rId33" Type="http://schemas.openxmlformats.org/officeDocument/2006/relationships/slide" Target="slides/slide28.xml"/><Relationship Id="rId77" Type="http://schemas.openxmlformats.org/officeDocument/2006/relationships/font" Target="fonts/Inter-italic.fntdata"/><Relationship Id="rId32" Type="http://schemas.openxmlformats.org/officeDocument/2006/relationships/slide" Target="slides/slide27.xml"/><Relationship Id="rId76" Type="http://schemas.openxmlformats.org/officeDocument/2006/relationships/font" Target="fonts/Inter-bold.fntdata"/><Relationship Id="rId35" Type="http://schemas.openxmlformats.org/officeDocument/2006/relationships/slide" Target="slides/slide30.xml"/><Relationship Id="rId79" Type="http://schemas.openxmlformats.org/officeDocument/2006/relationships/font" Target="fonts/HelveticaNeue-regular.fntdata"/><Relationship Id="rId34" Type="http://schemas.openxmlformats.org/officeDocument/2006/relationships/slide" Target="slides/slide29.xml"/><Relationship Id="rId78" Type="http://schemas.openxmlformats.org/officeDocument/2006/relationships/font" Target="fonts/Inter-bold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best-practices.org/introduction/scrna_seq.html#id114" TargetMode="External"/><Relationship Id="rId3" Type="http://schemas.openxmlformats.org/officeDocument/2006/relationships/hyperlink" Target="https://www.sc-best-practices.org/introduction/scrna_seq.html#id114" TargetMode="External"/><Relationship Id="rId4" Type="http://schemas.openxmlformats.org/officeDocument/2006/relationships/hyperlink" Target="https://www.sc-best-practices.org/introduction/scrna_seq.html#id114"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64f46d09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64f46d09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f92421f35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f92421f35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64f46d09b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864f46d09b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04800" lvl="0" marL="285750" rtl="0" algn="l">
              <a:spcBef>
                <a:spcPts val="0"/>
              </a:spcBef>
              <a:spcAft>
                <a:spcPts val="0"/>
              </a:spcAft>
              <a:buClr>
                <a:schemeClr val="dk1"/>
              </a:buClr>
              <a:buSzPts val="1500"/>
              <a:buFont typeface="Arial"/>
              <a:buChar char="•"/>
            </a:pPr>
            <a:r>
              <a:rPr lang="en" sz="1500">
                <a:solidFill>
                  <a:schemeClr val="dk1"/>
                </a:solidFill>
              </a:rPr>
              <a:t>scRNA-seq is an extremely powerful technique</a:t>
            </a:r>
            <a:endParaRPr sz="1500"/>
          </a:p>
          <a:p>
            <a:pPr indent="-304800" lvl="0" marL="285750" rtl="0" algn="l">
              <a:spcBef>
                <a:spcPts val="0"/>
              </a:spcBef>
              <a:spcAft>
                <a:spcPts val="0"/>
              </a:spcAft>
              <a:buClr>
                <a:schemeClr val="dk1"/>
              </a:buClr>
              <a:buSzPts val="1500"/>
              <a:buFont typeface="Arial"/>
              <a:buChar char="•"/>
            </a:pPr>
            <a:r>
              <a:rPr lang="en" sz="1500">
                <a:solidFill>
                  <a:schemeClr val="dk1"/>
                </a:solidFill>
              </a:rPr>
              <a:t>Allows us to ask biological questions at an unprecedented level</a:t>
            </a:r>
            <a:endParaRPr sz="1500"/>
          </a:p>
          <a:p>
            <a:pPr indent="-304800" lvl="0" marL="285750" rtl="0" algn="l">
              <a:spcBef>
                <a:spcPts val="0"/>
              </a:spcBef>
              <a:spcAft>
                <a:spcPts val="0"/>
              </a:spcAft>
              <a:buClr>
                <a:schemeClr val="dk1"/>
              </a:buClr>
              <a:buSzPts val="1500"/>
              <a:buFont typeface="Arial"/>
              <a:buChar char="•"/>
            </a:pPr>
            <a:r>
              <a:rPr lang="en" sz="1500">
                <a:solidFill>
                  <a:schemeClr val="dk1"/>
                </a:solidFill>
              </a:rPr>
              <a:t>Has already seen applications in numerous biological fields (embryogenesis, cancer,  autoimmune diseases, neuroscience etc.)</a:t>
            </a:r>
            <a:endParaRPr sz="1500"/>
          </a:p>
          <a:p>
            <a:pPr indent="-304800" lvl="1" marL="742950" rtl="0" algn="l">
              <a:spcBef>
                <a:spcPts val="0"/>
              </a:spcBef>
              <a:spcAft>
                <a:spcPts val="0"/>
              </a:spcAft>
              <a:buClr>
                <a:schemeClr val="dk1"/>
              </a:buClr>
              <a:buSzPts val="1500"/>
              <a:buFont typeface="Arial"/>
              <a:buChar char="•"/>
            </a:pPr>
            <a:r>
              <a:rPr lang="en" sz="1500">
                <a:solidFill>
                  <a:schemeClr val="dk1"/>
                </a:solidFill>
              </a:rPr>
              <a:t>Will play a major role in Human Cell Atlas</a:t>
            </a:r>
            <a:endParaRPr sz="1500"/>
          </a:p>
          <a:p>
            <a:pPr indent="-304800" lvl="0" marL="285750" rtl="0" algn="l">
              <a:spcBef>
                <a:spcPts val="0"/>
              </a:spcBef>
              <a:spcAft>
                <a:spcPts val="0"/>
              </a:spcAft>
              <a:buClr>
                <a:schemeClr val="dk1"/>
              </a:buClr>
              <a:buSzPts val="1500"/>
              <a:buFont typeface="Arial"/>
              <a:buChar char="•"/>
            </a:pPr>
            <a:r>
              <a:rPr lang="en" sz="1500"/>
              <a:t>scRNA-seq measures the abundance of mRNA molecules per cell</a:t>
            </a:r>
            <a:endParaRPr sz="1500"/>
          </a:p>
          <a:p>
            <a:pPr indent="-323850" lvl="0" marL="457200" rtl="0" algn="l">
              <a:spcBef>
                <a:spcPts val="0"/>
              </a:spcBef>
              <a:spcAft>
                <a:spcPts val="0"/>
              </a:spcAft>
              <a:buSzPts val="1500"/>
              <a:buAutoNum type="arabicPeriod"/>
            </a:pPr>
            <a:r>
              <a:rPr lang="en" sz="1500"/>
              <a:t>Tissue digested during single-cell dissociation: breaking down solid tissue into individual, separated cells.</a:t>
            </a:r>
            <a:endParaRPr sz="1500"/>
          </a:p>
          <a:p>
            <a:pPr indent="-323850" lvl="0" marL="457200" rtl="0" algn="l">
              <a:spcBef>
                <a:spcPts val="0"/>
              </a:spcBef>
              <a:spcAft>
                <a:spcPts val="0"/>
              </a:spcAft>
              <a:buSzPts val="1500"/>
              <a:buAutoNum type="arabicPeriod"/>
            </a:pPr>
            <a:r>
              <a:rPr lang="en" sz="1500"/>
              <a:t>Individual cells are sorted to isolate specific populations of interest. Two different protocols, plate-based and droplet-based.</a:t>
            </a:r>
            <a:endParaRPr sz="1500"/>
          </a:p>
          <a:p>
            <a:pPr indent="-323850" lvl="1" marL="914400" rtl="0" algn="l">
              <a:spcBef>
                <a:spcPts val="0"/>
              </a:spcBef>
              <a:spcAft>
                <a:spcPts val="0"/>
              </a:spcAft>
              <a:buSzPts val="1500"/>
              <a:buAutoNum type="alphaLcPeriod"/>
            </a:pPr>
            <a:r>
              <a:rPr lang="en" sz="1500"/>
              <a:t>Plate-based: isolate cells in to wells on a plate</a:t>
            </a:r>
            <a:endParaRPr sz="1500"/>
          </a:p>
          <a:p>
            <a:pPr indent="-323850" lvl="1" marL="914400" rtl="0" algn="l">
              <a:spcBef>
                <a:spcPts val="0"/>
              </a:spcBef>
              <a:spcAft>
                <a:spcPts val="0"/>
              </a:spcAft>
              <a:buSzPts val="1500"/>
              <a:buAutoNum type="alphaLcPeriod"/>
            </a:pPr>
            <a:r>
              <a:rPr b="1" lang="en" sz="1500"/>
              <a:t>Droplet-based: capture cells in microfliodic droplets</a:t>
            </a:r>
            <a:endParaRPr b="1" sz="1500"/>
          </a:p>
          <a:p>
            <a:pPr indent="-323850" lvl="0" marL="457200" rtl="0" algn="l">
              <a:spcBef>
                <a:spcPts val="0"/>
              </a:spcBef>
              <a:spcAft>
                <a:spcPts val="0"/>
              </a:spcAft>
              <a:buSzPts val="1500"/>
              <a:buAutoNum type="arabicPeriod"/>
            </a:pPr>
            <a:r>
              <a:rPr lang="en" sz="1600"/>
              <a:t>Individual cells are then captured using platforms like 10x Genomics, where each cell receives a unique barcode.</a:t>
            </a:r>
            <a:endParaRPr sz="1600"/>
          </a:p>
          <a:p>
            <a:pPr indent="-330200" lvl="1" marL="914400" rtl="0" algn="l">
              <a:lnSpc>
                <a:spcPct val="115000"/>
              </a:lnSpc>
              <a:spcBef>
                <a:spcPts val="0"/>
              </a:spcBef>
              <a:spcAft>
                <a:spcPts val="0"/>
              </a:spcAft>
              <a:buSzPts val="1600"/>
              <a:buAutoNum type="alphaLcPeriod"/>
            </a:pPr>
            <a:r>
              <a:rPr lang="en" sz="1600"/>
              <a:t>Individual cells are encapsulated in tiny oil droplets (nanoliter-sized)</a:t>
            </a:r>
            <a:endParaRPr sz="1600"/>
          </a:p>
          <a:p>
            <a:pPr indent="-330200" lvl="1" marL="914400" rtl="0" algn="l">
              <a:lnSpc>
                <a:spcPct val="115000"/>
              </a:lnSpc>
              <a:spcBef>
                <a:spcPts val="0"/>
              </a:spcBef>
              <a:spcAft>
                <a:spcPts val="0"/>
              </a:spcAft>
              <a:buSzPts val="1600"/>
              <a:buAutoNum type="alphaLcPeriod"/>
            </a:pPr>
            <a:r>
              <a:rPr lang="en" sz="1600"/>
              <a:t>Each droplet contains: one cell + one bead + lysis buffer + RT reagents</a:t>
            </a:r>
            <a:endParaRPr sz="1600"/>
          </a:p>
          <a:p>
            <a:pPr indent="-330200" lvl="1" marL="914400" rtl="0" algn="l">
              <a:lnSpc>
                <a:spcPct val="115000"/>
              </a:lnSpc>
              <a:spcBef>
                <a:spcPts val="0"/>
              </a:spcBef>
              <a:spcAft>
                <a:spcPts val="0"/>
              </a:spcAft>
              <a:buSzPts val="1600"/>
              <a:buAutoNum type="alphaLcPeriod"/>
            </a:pPr>
            <a:r>
              <a:rPr lang="en" sz="1600"/>
              <a:t>The bead carries millions of copies of oligonucleotides with a unique cell barcode</a:t>
            </a:r>
            <a:endParaRPr sz="1600"/>
          </a:p>
          <a:p>
            <a:pPr indent="-330200" lvl="1" marL="914400" rtl="0" algn="l">
              <a:lnSpc>
                <a:spcPct val="115000"/>
              </a:lnSpc>
              <a:spcBef>
                <a:spcPts val="0"/>
              </a:spcBef>
              <a:spcAft>
                <a:spcPts val="0"/>
              </a:spcAft>
              <a:buSzPts val="1600"/>
              <a:buAutoNum type="alphaLcPeriod"/>
            </a:pPr>
            <a:r>
              <a:rPr lang="en" sz="1600">
                <a:latin typeface="Arial"/>
                <a:ea typeface="Arial"/>
                <a:cs typeface="Arial"/>
                <a:sym typeface="Arial"/>
              </a:rPr>
              <a:t>Upon lysis the cell’s mRNA is instantaneously released and captured by the barcoded oligonucleotides that are attached on the beads. </a:t>
            </a:r>
            <a:endParaRPr sz="1600">
              <a:latin typeface="Arial"/>
              <a:ea typeface="Arial"/>
              <a:cs typeface="Arial"/>
              <a:sym typeface="Arial"/>
            </a:endParaRPr>
          </a:p>
          <a:p>
            <a:pPr indent="-330200" lvl="1" marL="914400" rtl="0" algn="l">
              <a:lnSpc>
                <a:spcPct val="115000"/>
              </a:lnSpc>
              <a:spcBef>
                <a:spcPts val="0"/>
              </a:spcBef>
              <a:spcAft>
                <a:spcPts val="0"/>
              </a:spcAft>
              <a:buSzPts val="1600"/>
              <a:buAutoNum type="alphaLcPeriod"/>
            </a:pPr>
            <a:r>
              <a:rPr lang="en" sz="1600">
                <a:latin typeface="Arial"/>
                <a:ea typeface="Arial"/>
                <a:cs typeface="Arial"/>
                <a:sym typeface="Arial"/>
              </a:rPr>
              <a:t>Next, the droplets are collected and broken to release single-cell transcriptomes attached to microparticles (STAMPs). </a:t>
            </a:r>
            <a:endParaRPr sz="1600">
              <a:latin typeface="Arial"/>
              <a:ea typeface="Arial"/>
              <a:cs typeface="Arial"/>
              <a:sym typeface="Arial"/>
            </a:endParaRPr>
          </a:p>
          <a:p>
            <a:pPr indent="-330200" lvl="0" marL="457200" rtl="0" algn="l">
              <a:lnSpc>
                <a:spcPct val="115000"/>
              </a:lnSpc>
              <a:spcBef>
                <a:spcPts val="0"/>
              </a:spcBef>
              <a:spcAft>
                <a:spcPts val="0"/>
              </a:spcAft>
              <a:buSzPts val="1600"/>
              <a:buAutoNum type="arabicPeriod"/>
            </a:pPr>
            <a:r>
              <a:rPr lang="en" sz="1600">
                <a:latin typeface="Arial"/>
                <a:ea typeface="Arial"/>
                <a:cs typeface="Arial"/>
                <a:sym typeface="Arial"/>
              </a:rPr>
              <a:t>This is followed by PCR and reverse transcription (RT) to capture and amplify the transcripts. </a:t>
            </a:r>
            <a:endParaRPr sz="1600">
              <a:latin typeface="Arial"/>
              <a:ea typeface="Arial"/>
              <a:cs typeface="Arial"/>
              <a:sym typeface="Arial"/>
            </a:endParaRPr>
          </a:p>
          <a:p>
            <a:pPr indent="-330200" lvl="0" marL="457200" rtl="0" algn="l">
              <a:lnSpc>
                <a:spcPct val="115000"/>
              </a:lnSpc>
              <a:spcBef>
                <a:spcPts val="0"/>
              </a:spcBef>
              <a:spcAft>
                <a:spcPts val="0"/>
              </a:spcAft>
              <a:buSzPts val="1600"/>
              <a:buAutoNum type="arabicPeriod"/>
            </a:pPr>
            <a:r>
              <a:rPr lang="en" sz="1600">
                <a:latin typeface="Arial"/>
                <a:ea typeface="Arial"/>
                <a:cs typeface="Arial"/>
                <a:sym typeface="Arial"/>
              </a:rPr>
              <a:t>Finally, tagmentation takes place where the transcripts are randomly cut and sequencing adaptors get attached. This process results in sequencing libraries that are ready for sequencing as described above. In microfluidic based protocols only about 10% of the transcripts of the cell are recovered[</a:t>
            </a:r>
            <a:r>
              <a:rPr lang="en" sz="1600" u="sng">
                <a:latin typeface="Arial"/>
                <a:ea typeface="Arial"/>
                <a:cs typeface="Arial"/>
                <a:sym typeface="Arial"/>
                <a:hlinkClick r:id="rId2"/>
              </a:rPr>
              <a:t>Islam </a:t>
            </a:r>
            <a:r>
              <a:rPr i="1" lang="en" sz="1600" u="sng">
                <a:latin typeface="Arial"/>
                <a:ea typeface="Arial"/>
                <a:cs typeface="Arial"/>
                <a:sym typeface="Arial"/>
                <a:hlinkClick r:id="rId3"/>
              </a:rPr>
              <a:t>et al.</a:t>
            </a:r>
            <a:r>
              <a:rPr lang="en" sz="1600" u="sng">
                <a:latin typeface="Arial"/>
                <a:ea typeface="Arial"/>
                <a:cs typeface="Arial"/>
                <a:sym typeface="Arial"/>
                <a:hlinkClick r:id="rId4"/>
              </a:rPr>
              <a:t>, 2014</a:t>
            </a:r>
            <a:r>
              <a:rPr lang="en" sz="1600">
                <a:latin typeface="Arial"/>
                <a:ea typeface="Arial"/>
                <a:cs typeface="Arial"/>
                <a:sym typeface="Arial"/>
              </a:rPr>
              <a:t>]. Notably, this low sequencing is sufficient for robust identification of cell types.</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lang="en" sz="1600">
                <a:latin typeface="Arial"/>
                <a:ea typeface="Arial"/>
                <a:cs typeface="Arial"/>
                <a:sym typeface="Arial"/>
              </a:rPr>
              <a:t>Sequencing get i) cell barcode = identifies the cell, ii) UMI = identifies individual RNA molecule, iii) actual gene sequence (cDNA copy of original mRNA). The sequencing machine literally "reads" these fragments base by base, determining whether each position is an A, T, G or C. Output is a FASTQ file which contains: reads of about 50-150 nucleotides and quality scores</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lang="en" sz="1600">
                <a:latin typeface="Arial"/>
                <a:ea typeface="Arial"/>
                <a:cs typeface="Arial"/>
                <a:sym typeface="Arial"/>
              </a:rPr>
              <a:t>Demultiplex and sequence alignment done by 10X genomics software CellRanger for example. The output is a count matrix: cell by gene </a:t>
            </a:r>
            <a:endParaRPr sz="1600">
              <a:latin typeface="Arial"/>
              <a:ea typeface="Arial"/>
              <a:cs typeface="Arial"/>
              <a:sym typeface="Arial"/>
            </a:endParaRPr>
          </a:p>
          <a:p>
            <a:pPr indent="0" lvl="0" marL="0" rtl="0" algn="l">
              <a:spcBef>
                <a:spcPts val="0"/>
              </a:spcBef>
              <a:spcAft>
                <a:spcPts val="0"/>
              </a:spcAft>
              <a:buNone/>
            </a:pPr>
            <a:r>
              <a:t/>
            </a:r>
            <a:endParaRPr/>
          </a:p>
        </p:txBody>
      </p:sp>
      <p:sp>
        <p:nvSpPr>
          <p:cNvPr id="85" name="Google Shape;85;g3864f46d09b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64f46d09b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864f46d09b_0_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200"/>
              <a:buFont typeface="Arial"/>
              <a:buChar char="•"/>
            </a:pPr>
            <a:r>
              <a:rPr lang="en"/>
              <a:t>article serves as an entry point for novices in the field of single-cell (multi-)omic analysis and guides advanced users to the most recent best practices.</a:t>
            </a:r>
            <a:endParaRPr/>
          </a:p>
        </p:txBody>
      </p:sp>
      <p:sp>
        <p:nvSpPr>
          <p:cNvPr id="141" name="Google Shape;141;g3864f46d09b_0_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64f46d09b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864f46d09b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200"/>
              <a:buFont typeface="Arial"/>
              <a:buChar char="•"/>
            </a:pPr>
            <a:r>
              <a:rPr lang="en"/>
              <a:t>article serves as an entry point for novices in the field of single-cell (multi-)omic analysis and guides advanced users to the most recent best practices.</a:t>
            </a:r>
            <a:endParaRPr/>
          </a:p>
        </p:txBody>
      </p:sp>
      <p:sp>
        <p:nvSpPr>
          <p:cNvPr id="157" name="Google Shape;157;g3864f46d09b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64f46d09b_0_1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864f46d09b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64f46d09b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864f46d09b_0_1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864f46d09b_0_15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f92421f35_0_187:notes"/>
          <p:cNvSpPr/>
          <p:nvPr>
            <p:ph idx="2" type="sldImg"/>
          </p:nvPr>
        </p:nvSpPr>
        <p:spPr>
          <a:xfrm>
            <a:off x="381281"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9f92421f35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f92421f3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f92421f3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f92421f3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f92421f3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f92421f3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f92421f3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9f92421f3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9f92421f3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f92421f3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f92421f3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9f92421f3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9f92421f3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f92421f3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f92421f3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f92421f3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f92421f3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8df3a336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98df3a336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98df3a336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8df3a3364_0_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98df3a3364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8df3a3364_0_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200"/>
              </a:spcBef>
              <a:spcAft>
                <a:spcPts val="0"/>
              </a:spcAft>
              <a:buSzPts val="1100"/>
              <a:buChar char="●"/>
            </a:pPr>
            <a:r>
              <a:rPr lang="en" sz="1100">
                <a:latin typeface="Arial"/>
                <a:ea typeface="Arial"/>
                <a:cs typeface="Arial"/>
                <a:sym typeface="Arial"/>
              </a:rPr>
              <a:t>E.g. “total_genes_by_counts”. Number of genes with positive counts in a cell.</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t/>
            </a:r>
            <a:endParaRPr/>
          </a:p>
        </p:txBody>
      </p:sp>
      <p:sp>
        <p:nvSpPr>
          <p:cNvPr id="362" name="Google Shape;362;g398df3a3364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8df3a3364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98df3a3364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g398df3a3364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98df3a3364_0_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98df3a3364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8df3a3364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g398df3a3364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398df3a3364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98df3a3364_0_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98df3a3364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8df3a3364_0_8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98df3a3364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98df3a3364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98df3a3364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g398df3a3364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98df3a3364_0_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98df3a3364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98df3a3364_0_10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98df3a3364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8df3a3364_0_1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98df3a3364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864f46d0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864f46d0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9f92421f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9f92421f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f92421f35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f92421f35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9f92421f35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9f92421f35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864f46d09b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864f46d09b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864f46d09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864f46d09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64f46d09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864f46d09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864f46d09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864f46d09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864f46d09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864f46d09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864f46d09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864f46d09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864f46d09b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864f46d09b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98df3a3364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98df3a3364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98df3a3364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98df3a3364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98df3a3364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98df3a3364_0_12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98df3a3364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8df3a3364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98df3a3364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Important Note:</a:t>
            </a:r>
            <a:endParaRPr/>
          </a:p>
          <a:p>
            <a:pPr indent="0" lvl="0" marL="0" rtl="0" algn="l">
              <a:spcBef>
                <a:spcPts val="0"/>
              </a:spcBef>
              <a:spcAft>
                <a:spcPts val="0"/>
              </a:spcAft>
              <a:buNone/>
            </a:pPr>
            <a:r>
              <a:t/>
            </a:r>
            <a:endParaRPr sz="1200"/>
          </a:p>
          <a:p>
            <a:pPr indent="-285750" lvl="0" marL="285750" rtl="0" algn="l">
              <a:spcBef>
                <a:spcPts val="0"/>
              </a:spcBef>
              <a:spcAft>
                <a:spcPts val="0"/>
              </a:spcAft>
              <a:buClr>
                <a:schemeClr val="dk1"/>
              </a:buClr>
              <a:buSzPts val="1200"/>
              <a:buFont typeface="Calibri"/>
              <a:buChar char="-"/>
            </a:pPr>
            <a:r>
              <a:rPr lang="en" sz="1200"/>
              <a:t>Once you compute HVGs, please check to find if the genes you know are relevant to your study are included in that list or not.</a:t>
            </a:r>
            <a:endParaRPr/>
          </a:p>
          <a:p>
            <a:pPr indent="-209550" lvl="0" marL="285750" rtl="0" algn="l">
              <a:spcBef>
                <a:spcPts val="0"/>
              </a:spcBef>
              <a:spcAft>
                <a:spcPts val="0"/>
              </a:spcAft>
              <a:buClr>
                <a:schemeClr val="dk1"/>
              </a:buClr>
              <a:buSzPts val="1200"/>
              <a:buFont typeface="Calibri"/>
              <a:buNone/>
            </a:pPr>
            <a:r>
              <a:t/>
            </a:r>
            <a:endParaRPr sz="1200"/>
          </a:p>
          <a:p>
            <a:pPr indent="-285750" lvl="0" marL="285750" rtl="0" algn="l">
              <a:spcBef>
                <a:spcPts val="0"/>
              </a:spcBef>
              <a:spcAft>
                <a:spcPts val="0"/>
              </a:spcAft>
              <a:buClr>
                <a:schemeClr val="dk1"/>
              </a:buClr>
              <a:buSzPts val="1200"/>
              <a:buFont typeface="Calibri"/>
              <a:buChar char="-"/>
            </a:pPr>
            <a:r>
              <a:rPr lang="en" sz="1200"/>
              <a:t>If not, please feel free to manually append them to the list.</a:t>
            </a:r>
            <a:endParaRPr/>
          </a:p>
          <a:p>
            <a:pPr indent="0" lvl="0" marL="0" rtl="0" algn="l">
              <a:spcBef>
                <a:spcPts val="0"/>
              </a:spcBef>
              <a:spcAft>
                <a:spcPts val="0"/>
              </a:spcAft>
              <a:buNone/>
            </a:pPr>
            <a:r>
              <a:t/>
            </a:r>
            <a:endParaRPr/>
          </a:p>
        </p:txBody>
      </p:sp>
      <p:sp>
        <p:nvSpPr>
          <p:cNvPr id="552" name="Google Shape;552;g398df3a3364_0_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98df3a3364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g398df3a3364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g398df3a3364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8df3a3364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98df3a3364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1" marL="457200" rtl="0" algn="just">
              <a:spcBef>
                <a:spcPts val="0"/>
              </a:spcBef>
              <a:spcAft>
                <a:spcPts val="0"/>
              </a:spcAft>
              <a:buClr>
                <a:srgbClr val="C00000"/>
              </a:buClr>
              <a:buSzPts val="1200"/>
              <a:buFont typeface="Arial"/>
              <a:buNone/>
            </a:pPr>
            <a:r>
              <a:rPr lang="en" sz="1200">
                <a:solidFill>
                  <a:srgbClr val="C00000"/>
                </a:solidFill>
              </a:rPr>
              <a:t>Key: Genes and their products inside cell form </a:t>
            </a:r>
            <a:r>
              <a:rPr b="1" i="1" lang="en" sz="1200">
                <a:solidFill>
                  <a:srgbClr val="C00000"/>
                </a:solidFill>
              </a:rPr>
              <a:t>modules</a:t>
            </a:r>
            <a:r>
              <a:rPr lang="en" sz="1200">
                <a:solidFill>
                  <a:srgbClr val="C00000"/>
                </a:solidFill>
              </a:rPr>
              <a:t> =&gt; a lot of genes are co-regulated and co-related</a:t>
            </a:r>
            <a:endParaRPr/>
          </a:p>
          <a:p>
            <a:pPr indent="0" lvl="1" marL="457200" rtl="0" algn="just">
              <a:spcBef>
                <a:spcPts val="0"/>
              </a:spcBef>
              <a:spcAft>
                <a:spcPts val="0"/>
              </a:spcAft>
              <a:buClr>
                <a:srgbClr val="000000"/>
              </a:buClr>
              <a:buSzPts val="1200"/>
              <a:buFont typeface="Arial"/>
              <a:buNone/>
            </a:pPr>
            <a:r>
              <a:rPr lang="en" sz="1200">
                <a:solidFill>
                  <a:srgbClr val="000000"/>
                </a:solidFill>
              </a:rPr>
              <a:t>Thus, by measuring so many features from a single cell, we obtain </a:t>
            </a:r>
            <a:r>
              <a:rPr b="1" lang="en" sz="1200">
                <a:solidFill>
                  <a:srgbClr val="000000"/>
                </a:solidFill>
              </a:rPr>
              <a:t>redundant information</a:t>
            </a:r>
            <a:endParaRPr/>
          </a:p>
          <a:p>
            <a:pPr indent="0" lvl="1" marL="457200" rtl="0" algn="just">
              <a:spcBef>
                <a:spcPts val="0"/>
              </a:spcBef>
              <a:spcAft>
                <a:spcPts val="0"/>
              </a:spcAft>
              <a:buClr>
                <a:srgbClr val="000000"/>
              </a:buClr>
              <a:buSzPts val="1200"/>
              <a:buFont typeface="Arial"/>
              <a:buNone/>
            </a:pPr>
            <a:r>
              <a:rPr lang="en" sz="1200">
                <a:solidFill>
                  <a:srgbClr val="000000"/>
                </a:solidFill>
              </a:rPr>
              <a:t>There might be only a few key variables (possibly hidden) that are driving the underlying biological process</a:t>
            </a:r>
            <a:endParaRPr/>
          </a:p>
          <a:p>
            <a:pPr indent="0" lvl="1" marL="457200" rtl="0" algn="just">
              <a:spcBef>
                <a:spcPts val="0"/>
              </a:spcBef>
              <a:spcAft>
                <a:spcPts val="0"/>
              </a:spcAft>
              <a:buClr>
                <a:srgbClr val="000000"/>
              </a:buClr>
              <a:buSzPts val="1200"/>
              <a:buFont typeface="Arial"/>
              <a:buNone/>
            </a:pPr>
            <a:r>
              <a:rPr lang="en" sz="1200">
                <a:solidFill>
                  <a:srgbClr val="000000"/>
                </a:solidFill>
              </a:rPr>
              <a:t>The notion of dimensionality reduction is thus to extract those few meaningful dimensions that are reflective of the true underlying biological process</a:t>
            </a:r>
            <a:endParaRPr/>
          </a:p>
          <a:p>
            <a:pPr indent="0" lvl="0" marL="0" rtl="0" algn="l">
              <a:spcBef>
                <a:spcPts val="0"/>
              </a:spcBef>
              <a:spcAft>
                <a:spcPts val="0"/>
              </a:spcAft>
              <a:buNone/>
            </a:pPr>
            <a:r>
              <a:t/>
            </a:r>
            <a:endParaRPr/>
          </a:p>
        </p:txBody>
      </p:sp>
      <p:sp>
        <p:nvSpPr>
          <p:cNvPr id="569" name="Google Shape;569;g398df3a3364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98df3a3364_0_1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98df3a3364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98df3a3364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g398df3a3364_0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properties come into play because biological networks (gene or protein) are complex.</a:t>
            </a:r>
            <a:endParaRPr/>
          </a:p>
        </p:txBody>
      </p:sp>
      <p:sp>
        <p:nvSpPr>
          <p:cNvPr id="587" name="Google Shape;587;g398df3a3364_0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98df3a3364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98df3a3364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g398df3a3364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8df3a3364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98df3a3364_0_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properties come into play because biological networks (gene or protein) are complex.</a:t>
            </a:r>
            <a:endParaRPr/>
          </a:p>
        </p:txBody>
      </p:sp>
      <p:sp>
        <p:nvSpPr>
          <p:cNvPr id="604" name="Google Shape;604;g398df3a3364_0_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98df3a3364_0_1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g398df3a3364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98df3a3364_0_20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398df3a3364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98df3a3364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98df3a3364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g398df3a3364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98df3a3364_0_2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398df3a3364_0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98df3a3364_0_2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398df3a3364_0_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98df3a3364_0_2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98df3a3364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98df3a3364_0_2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g398df3a3364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98df3a3364_0_2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g398df3a3364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98df3a3364_0_2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g398df3a3364_0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98df3a3364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98df3a3364_0_2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398df3a3364_0_2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98df3a3364_0_2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g398df3a3364_0_2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98df3a3364_0_2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g398df3a3364_0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98df3a3364_0_3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98df3a3364_0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98df3a3364_0_3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g398df3a3364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98df3a3364_0_3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g398df3a3364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98df3a3364_0_3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g398df3a3364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98df3a3364_0_5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98df3a3364_0_5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min - Title Only">
  <p:cSld name="CUSTOM">
    <p:spTree>
      <p:nvGrpSpPr>
        <p:cNvPr id="50" name="Shape 50"/>
        <p:cNvGrpSpPr/>
        <p:nvPr/>
      </p:nvGrpSpPr>
      <p:grpSpPr>
        <a:xfrm>
          <a:off x="0" y="0"/>
          <a:ext cx="0" cy="0"/>
          <a:chOff x="0" y="0"/>
          <a:chExt cx="0" cy="0"/>
        </a:xfrm>
      </p:grpSpPr>
      <p:sp>
        <p:nvSpPr>
          <p:cNvPr id="51" name="Google Shape;51;p13"/>
          <p:cNvSpPr txBox="1"/>
          <p:nvPr>
            <p:ph type="title"/>
          </p:nvPr>
        </p:nvSpPr>
        <p:spPr>
          <a:xfrm>
            <a:off x="398225" y="242950"/>
            <a:ext cx="8173200" cy="4803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None/>
              <a:defRPr b="1" sz="2400"/>
            </a:lvl1pPr>
            <a:lvl2pPr lvl="1" algn="l">
              <a:spcBef>
                <a:spcPts val="0"/>
              </a:spcBef>
              <a:spcAft>
                <a:spcPts val="0"/>
              </a:spcAft>
              <a:buSzPts val="2400"/>
              <a:buNone/>
              <a:defRPr b="1" sz="2400"/>
            </a:lvl2pPr>
            <a:lvl3pPr lvl="2" algn="l">
              <a:spcBef>
                <a:spcPts val="0"/>
              </a:spcBef>
              <a:spcAft>
                <a:spcPts val="0"/>
              </a:spcAft>
              <a:buSzPts val="2400"/>
              <a:buNone/>
              <a:defRPr b="1" sz="2400"/>
            </a:lvl3pPr>
            <a:lvl4pPr lvl="3" algn="l">
              <a:spcBef>
                <a:spcPts val="0"/>
              </a:spcBef>
              <a:spcAft>
                <a:spcPts val="0"/>
              </a:spcAft>
              <a:buSzPts val="2400"/>
              <a:buNone/>
              <a:defRPr b="1" sz="2400"/>
            </a:lvl4pPr>
            <a:lvl5pPr lvl="4" algn="l">
              <a:spcBef>
                <a:spcPts val="0"/>
              </a:spcBef>
              <a:spcAft>
                <a:spcPts val="0"/>
              </a:spcAft>
              <a:buSzPts val="2400"/>
              <a:buNone/>
              <a:defRPr b="1" sz="2400"/>
            </a:lvl5pPr>
            <a:lvl6pPr lvl="5" algn="l">
              <a:spcBef>
                <a:spcPts val="0"/>
              </a:spcBef>
              <a:spcAft>
                <a:spcPts val="0"/>
              </a:spcAft>
              <a:buSzPts val="2400"/>
              <a:buNone/>
              <a:defRPr b="1" sz="2400"/>
            </a:lvl6pPr>
            <a:lvl7pPr lvl="6" algn="l">
              <a:spcBef>
                <a:spcPts val="0"/>
              </a:spcBef>
              <a:spcAft>
                <a:spcPts val="0"/>
              </a:spcAft>
              <a:buSzPts val="2400"/>
              <a:buNone/>
              <a:defRPr b="1" sz="2400"/>
            </a:lvl7pPr>
            <a:lvl8pPr lvl="7" algn="l">
              <a:spcBef>
                <a:spcPts val="0"/>
              </a:spcBef>
              <a:spcAft>
                <a:spcPts val="0"/>
              </a:spcAft>
              <a:buSzPts val="2400"/>
              <a:buNone/>
              <a:defRPr b="1" sz="2400"/>
            </a:lvl8pPr>
            <a:lvl9pPr lvl="8" algn="l">
              <a:spcBef>
                <a:spcPts val="0"/>
              </a:spcBef>
              <a:spcAft>
                <a:spcPts val="0"/>
              </a:spcAft>
              <a:buSzPts val="2400"/>
              <a:buNone/>
              <a:defRPr b="1" sz="2400"/>
            </a:lvl9pPr>
          </a:lstStyle>
          <a:p/>
        </p:txBody>
      </p:sp>
      <p:sp>
        <p:nvSpPr>
          <p:cNvPr id="52" name="Google Shape;52;p13"/>
          <p:cNvSpPr txBox="1"/>
          <p:nvPr>
            <p:ph idx="1" type="body"/>
          </p:nvPr>
        </p:nvSpPr>
        <p:spPr>
          <a:xfrm>
            <a:off x="398225" y="803700"/>
            <a:ext cx="8477700" cy="3983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14"/>
          <p:cNvSpPr txBox="1"/>
          <p:nvPr>
            <p:ph type="title"/>
          </p:nvPr>
        </p:nvSpPr>
        <p:spPr>
          <a:xfrm>
            <a:off x="113588" y="0"/>
            <a:ext cx="7773000" cy="68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pic>
        <p:nvPicPr>
          <p:cNvPr id="56" name="Google Shape;56;p14" title="scverse_trademark(1).png"/>
          <p:cNvPicPr preferRelativeResize="0"/>
          <p:nvPr/>
        </p:nvPicPr>
        <p:blipFill>
          <a:blip r:embed="rId2">
            <a:alphaModFix/>
          </a:blip>
          <a:stretch>
            <a:fillRect/>
          </a:stretch>
        </p:blipFill>
        <p:spPr>
          <a:xfrm>
            <a:off x="8827125" y="43163"/>
            <a:ext cx="256241" cy="256241"/>
          </a:xfrm>
          <a:prstGeom prst="rect">
            <a:avLst/>
          </a:prstGeom>
          <a:noFill/>
          <a:ln>
            <a:noFill/>
          </a:ln>
        </p:spPr>
      </p:pic>
      <p:sp>
        <p:nvSpPr>
          <p:cNvPr id="57" name="Google Shape;57;p14"/>
          <p:cNvSpPr txBox="1"/>
          <p:nvPr/>
        </p:nvSpPr>
        <p:spPr>
          <a:xfrm>
            <a:off x="0" y="4956075"/>
            <a:ext cx="4413000" cy="187500"/>
          </a:xfrm>
          <a:prstGeom prst="rect">
            <a:avLst/>
          </a:prstGeom>
          <a:noFill/>
          <a:ln>
            <a:noFill/>
          </a:ln>
        </p:spPr>
        <p:txBody>
          <a:bodyPr anchorCtr="0" anchor="b" bIns="68575" lIns="68575" spcFirstLastPara="1" rIns="68575" wrap="square" tIns="68575">
            <a:noAutofit/>
          </a:bodyPr>
          <a:lstStyle/>
          <a:p>
            <a:pPr indent="0" lvl="0" marL="0" rtl="0" algn="l">
              <a:spcBef>
                <a:spcPts val="0"/>
              </a:spcBef>
              <a:spcAft>
                <a:spcPts val="0"/>
              </a:spcAft>
              <a:buNone/>
            </a:pPr>
            <a:r>
              <a:rPr lang="en" sz="900">
                <a:solidFill>
                  <a:srgbClr val="595959"/>
                </a:solidFill>
              </a:rPr>
              <a:t>Slides adapted from </a:t>
            </a:r>
            <a:r>
              <a:rPr lang="en" sz="900">
                <a:solidFill>
                  <a:schemeClr val="dk2"/>
                </a:solidFill>
              </a:rPr>
              <a:t>scverse x GSCN workshop (</a:t>
            </a:r>
            <a:r>
              <a:rPr lang="en" sz="900">
                <a:solidFill>
                  <a:srgbClr val="595959"/>
                </a:solidFill>
              </a:rPr>
              <a:t>2025, October)</a:t>
            </a:r>
            <a:endParaRPr sz="900">
              <a:solidFill>
                <a:srgbClr val="59595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5"/>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1200"/>
              </a:spcBef>
              <a:spcAft>
                <a:spcPts val="0"/>
              </a:spcAft>
              <a:buClr>
                <a:srgbClr val="888888"/>
              </a:buClr>
              <a:buSzPts val="1500"/>
              <a:buNone/>
              <a:defRPr sz="1500">
                <a:solidFill>
                  <a:srgbClr val="888888"/>
                </a:solidFill>
              </a:defRPr>
            </a:lvl2pPr>
            <a:lvl3pPr indent="-228600" lvl="2" marL="1371600" algn="l">
              <a:lnSpc>
                <a:spcPct val="90000"/>
              </a:lnSpc>
              <a:spcBef>
                <a:spcPts val="1200"/>
              </a:spcBef>
              <a:spcAft>
                <a:spcPts val="0"/>
              </a:spcAft>
              <a:buClr>
                <a:srgbClr val="888888"/>
              </a:buClr>
              <a:buSzPts val="1400"/>
              <a:buNone/>
              <a:defRPr sz="1400">
                <a:solidFill>
                  <a:srgbClr val="888888"/>
                </a:solidFill>
              </a:defRPr>
            </a:lvl3pPr>
            <a:lvl4pPr indent="-228600" lvl="3" marL="1828800" algn="l">
              <a:lnSpc>
                <a:spcPct val="90000"/>
              </a:lnSpc>
              <a:spcBef>
                <a:spcPts val="1200"/>
              </a:spcBef>
              <a:spcAft>
                <a:spcPts val="0"/>
              </a:spcAft>
              <a:buClr>
                <a:srgbClr val="888888"/>
              </a:buClr>
              <a:buSzPts val="1200"/>
              <a:buNone/>
              <a:defRPr sz="1200">
                <a:solidFill>
                  <a:srgbClr val="888888"/>
                </a:solidFill>
              </a:defRPr>
            </a:lvl4pPr>
            <a:lvl5pPr indent="-228600" lvl="4" marL="2286000" algn="l">
              <a:lnSpc>
                <a:spcPct val="90000"/>
              </a:lnSpc>
              <a:spcBef>
                <a:spcPts val="1200"/>
              </a:spcBef>
              <a:spcAft>
                <a:spcPts val="0"/>
              </a:spcAft>
              <a:buClr>
                <a:srgbClr val="888888"/>
              </a:buClr>
              <a:buSzPts val="1200"/>
              <a:buNone/>
              <a:defRPr sz="1200">
                <a:solidFill>
                  <a:srgbClr val="888888"/>
                </a:solidFill>
              </a:defRPr>
            </a:lvl5pPr>
            <a:lvl6pPr indent="-228600" lvl="5" marL="2743200" algn="l">
              <a:lnSpc>
                <a:spcPct val="90000"/>
              </a:lnSpc>
              <a:spcBef>
                <a:spcPts val="1200"/>
              </a:spcBef>
              <a:spcAft>
                <a:spcPts val="0"/>
              </a:spcAft>
              <a:buClr>
                <a:srgbClr val="888888"/>
              </a:buClr>
              <a:buSzPts val="1200"/>
              <a:buNone/>
              <a:defRPr sz="1200">
                <a:solidFill>
                  <a:srgbClr val="888888"/>
                </a:solidFill>
              </a:defRPr>
            </a:lvl6pPr>
            <a:lvl7pPr indent="-228600" lvl="6" marL="3200400" algn="l">
              <a:lnSpc>
                <a:spcPct val="90000"/>
              </a:lnSpc>
              <a:spcBef>
                <a:spcPts val="1200"/>
              </a:spcBef>
              <a:spcAft>
                <a:spcPts val="0"/>
              </a:spcAft>
              <a:buClr>
                <a:srgbClr val="888888"/>
              </a:buClr>
              <a:buSzPts val="1200"/>
              <a:buNone/>
              <a:defRPr sz="1200">
                <a:solidFill>
                  <a:srgbClr val="888888"/>
                </a:solidFill>
              </a:defRPr>
            </a:lvl7pPr>
            <a:lvl8pPr indent="-228600" lvl="7" marL="3657600" algn="l">
              <a:lnSpc>
                <a:spcPct val="90000"/>
              </a:lnSpc>
              <a:spcBef>
                <a:spcPts val="1200"/>
              </a:spcBef>
              <a:spcAft>
                <a:spcPts val="0"/>
              </a:spcAft>
              <a:buClr>
                <a:srgbClr val="888888"/>
              </a:buClr>
              <a:buSzPts val="1200"/>
              <a:buNone/>
              <a:defRPr sz="1200">
                <a:solidFill>
                  <a:srgbClr val="888888"/>
                </a:solidFill>
              </a:defRPr>
            </a:lvl8pPr>
            <a:lvl9pPr indent="-228600" lvl="8" marL="4114800" algn="l">
              <a:lnSpc>
                <a:spcPct val="90000"/>
              </a:lnSpc>
              <a:spcBef>
                <a:spcPts val="1200"/>
              </a:spcBef>
              <a:spcAft>
                <a:spcPts val="1200"/>
              </a:spcAft>
              <a:buClr>
                <a:srgbClr val="888888"/>
              </a:buClr>
              <a:buSzPts val="1200"/>
              <a:buNone/>
              <a:defRPr sz="1200">
                <a:solidFill>
                  <a:srgbClr val="888888"/>
                </a:solidFill>
              </a:defRPr>
            </a:lvl9pPr>
          </a:lstStyle>
          <a:p/>
        </p:txBody>
      </p:sp>
      <p:sp>
        <p:nvSpPr>
          <p:cNvPr id="61" name="Google Shape;61;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2" name="Google Shape;62;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3" name="Google Shape;63;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5.png"/><Relationship Id="rId13" Type="http://schemas.openxmlformats.org/officeDocument/2006/relationships/image" Target="../media/image10.png"/><Relationship Id="rId12" Type="http://schemas.openxmlformats.org/officeDocument/2006/relationships/image" Target="../media/image8.png"/><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30.jpg"/><Relationship Id="rId9" Type="http://schemas.openxmlformats.org/officeDocument/2006/relationships/image" Target="../media/image11.png"/><Relationship Id="rId15" Type="http://schemas.openxmlformats.org/officeDocument/2006/relationships/image" Target="../media/image17.jpg"/><Relationship Id="rId14"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hyperlink" Target="https://scanpy.readthedocs.io/en/stabl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2.png"/><Relationship Id="rId7"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2.png"/><Relationship Id="rId7"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2.png"/><Relationship Id="rId7"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hyperlink" Target="https://scanpy.readthedocs.io/en/stable/generated/scanpy.pp.calculate_qc_metric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hyperlink" Target="https://genomebiology.biomedcentral.com/articles/10.1186/s13059-016-0947-7" TargetMode="External"/><Relationship Id="rId4" Type="http://schemas.openxmlformats.org/officeDocument/2006/relationships/hyperlink" Target="https://genomebiology.biomedcentral.com/articles/10.1186/s13059-019-1874-1"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hyperlink" Target="https://genomebiology.biomedcentral.com/articles/10.1186/s13059-016-0947-7" TargetMode="External"/><Relationship Id="rId4" Type="http://schemas.openxmlformats.org/officeDocument/2006/relationships/hyperlink" Target="https://genomebiology.biomedcentral.com/articles/10.1186/s13059-019-1874-1" TargetMode="External"/><Relationship Id="rId5"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hyperlink" Target="https://github.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cellxgene.cziscience.com/datasets" TargetMode="External"/><Relationship Id="rId4" Type="http://schemas.openxmlformats.org/officeDocument/2006/relationships/hyperlink" Target="https://www.synapse.org/" TargetMode="External"/><Relationship Id="rId5" Type="http://schemas.openxmlformats.org/officeDocument/2006/relationships/hyperlink" Target="https://www.ncbi.nlm.nih.gov/geo/" TargetMode="External"/><Relationship Id="rId6" Type="http://schemas.openxmlformats.org/officeDocument/2006/relationships/hyperlink" Target="https://registry.opendata.aws/allen-sea-ad-atlas/" TargetMode="External"/><Relationship Id="rId7" Type="http://schemas.openxmlformats.org/officeDocument/2006/relationships/hyperlink" Target="https://commonfund.nih.gov/HuBMA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48.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hyperlink" Target="https://lamin.ai" TargetMode="External"/><Relationship Id="rId4" Type="http://schemas.openxmlformats.org/officeDocument/2006/relationships/hyperlink" Target="https://docs.lamin.ai/setu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hyperlink" Target="https://lamin.ai/explor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hyperlink" Target="https://lamin.ai/explore" TargetMode="External"/><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github.com/FrancescaDr/jaekel_single_cell_tutorial.gi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65.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6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5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52.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50.png"/><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hyperlink" Target="https://umap-learn.readthedocs.io/en/latest/how_umap_works.html" TargetMode="Externa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6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5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59.png"/><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61.png"/><Relationship Id="rId4" Type="http://schemas.openxmlformats.org/officeDocument/2006/relationships/image" Target="../media/image6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7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6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 Id="rId3" Type="http://schemas.openxmlformats.org/officeDocument/2006/relationships/image" Target="../media/image69.gi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71.png"/><Relationship Id="rId4" Type="http://schemas.openxmlformats.org/officeDocument/2006/relationships/image" Target="../media/image5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6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 Id="rId3" Type="http://schemas.openxmlformats.org/officeDocument/2006/relationships/image" Target="../media/image66.png"/><Relationship Id="rId4" Type="http://schemas.openxmlformats.org/officeDocument/2006/relationships/image" Target="../media/image6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hyperlink" Target="http://www.youtube.com/@scverse" TargetMode="External"/><Relationship Id="rId4" Type="http://schemas.openxmlformats.org/officeDocument/2006/relationships/image" Target="../media/image70.png"/><Relationship Id="rId5" Type="http://schemas.openxmlformats.org/officeDocument/2006/relationships/image" Target="../media/image73.png"/><Relationship Id="rId6" Type="http://schemas.openxmlformats.org/officeDocument/2006/relationships/hyperlink" Target="https://www.sc-best-practices.org/" TargetMode="External"/><Relationship Id="rId7" Type="http://schemas.openxmlformats.org/officeDocument/2006/relationships/hyperlink" Target="https://scverse.org/learn/" TargetMode="External"/><Relationship Id="rId8"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Introduction to </a:t>
            </a:r>
            <a:endParaRPr/>
          </a:p>
          <a:p>
            <a:pPr indent="0" lvl="0" marL="0" rtl="0" algn="ctr">
              <a:spcBef>
                <a:spcPts val="0"/>
              </a:spcBef>
              <a:spcAft>
                <a:spcPts val="0"/>
              </a:spcAft>
              <a:buNone/>
            </a:pPr>
            <a:r>
              <a:rPr lang="en"/>
              <a:t>single-cell analysis</a:t>
            </a:r>
            <a:endParaRPr/>
          </a:p>
        </p:txBody>
      </p:sp>
      <p:sp>
        <p:nvSpPr>
          <p:cNvPr id="69" name="Google Shape;69;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Francesca Drummer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Before we </a:t>
            </a:r>
            <a:r>
              <a:rPr lang="en"/>
              <a:t>begin</a:t>
            </a:r>
            <a:r>
              <a:rPr lang="en"/>
              <a:t>…</a:t>
            </a:r>
            <a:endParaRPr/>
          </a:p>
        </p:txBody>
      </p:sp>
      <p:sp>
        <p:nvSpPr>
          <p:cNvPr id="75" name="Google Shape;7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Data analysis is no magic ✨ you can only get out what you put in.</a:t>
            </a:r>
            <a:endParaRPr>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Design you experiment according to your question.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Make a pilot before a big experiment (to test signal).</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Don’t just run pipelines without thinking.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a:solidFill>
                  <a:schemeClr val="dk1"/>
                </a:solidFill>
              </a:rPr>
              <a:t>And </a:t>
            </a:r>
            <a:r>
              <a:rPr lang="en">
                <a:solidFill>
                  <a:schemeClr val="dk1"/>
                </a:solidFill>
              </a:rPr>
              <a:t>lastly</a:t>
            </a:r>
            <a:r>
              <a:rPr lang="en">
                <a:solidFill>
                  <a:schemeClr val="dk1"/>
                </a:solidFill>
              </a:rPr>
              <a:t>: You are the BETTER data analysi</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goal of today</a:t>
            </a:r>
            <a:endParaRPr/>
          </a:p>
        </p:txBody>
      </p:sp>
      <p:sp>
        <p:nvSpPr>
          <p:cNvPr id="81" name="Google Shape;8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Understand single-cell tool landscape in Python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Access github repo</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Load single-cell data as Anndata object</a:t>
            </a:r>
            <a:endParaRPr>
              <a:solidFill>
                <a:schemeClr val="dk1"/>
              </a:solidFill>
            </a:endParaRPr>
          </a:p>
          <a:p>
            <a:pPr indent="-342900" lvl="0" marL="457200" rtl="0" algn="l">
              <a:spcBef>
                <a:spcPts val="0"/>
              </a:spcBef>
              <a:spcAft>
                <a:spcPts val="0"/>
              </a:spcAft>
              <a:buClr>
                <a:schemeClr val="dk1"/>
              </a:buClr>
              <a:buSzPts val="1800"/>
              <a:buChar char="●"/>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113588" y="0"/>
            <a:ext cx="7773000" cy="681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Single-cell RNA-sequencing data</a:t>
            </a:r>
            <a:endParaRPr/>
          </a:p>
        </p:txBody>
      </p:sp>
      <p:sp>
        <p:nvSpPr>
          <p:cNvPr id="88" name="Google Shape;88;p19"/>
          <p:cNvSpPr/>
          <p:nvPr/>
        </p:nvSpPr>
        <p:spPr>
          <a:xfrm>
            <a:off x="628650" y="4414616"/>
            <a:ext cx="7060200" cy="440400"/>
          </a:xfrm>
          <a:prstGeom prst="rect">
            <a:avLst/>
          </a:prstGeom>
          <a:solidFill>
            <a:schemeClr val="lt1"/>
          </a:solidFill>
          <a:ln cap="flat" cmpd="sng" w="57150">
            <a:solidFill>
              <a:srgbClr val="7030A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1400" u="none" cap="none" strike="noStrike">
                <a:solidFill>
                  <a:schemeClr val="dk1"/>
                </a:solidFill>
                <a:latin typeface="Calibri"/>
                <a:ea typeface="Calibri"/>
                <a:cs typeface="Calibri"/>
                <a:sym typeface="Calibri"/>
              </a:rPr>
              <a:t>Goal: Familiarize and implement some outstanding computational tools used by the field</a:t>
            </a:r>
            <a:endParaRPr sz="1100"/>
          </a:p>
        </p:txBody>
      </p:sp>
      <p:sp>
        <p:nvSpPr>
          <p:cNvPr id="89" name="Google Shape;89;p19"/>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90" name="Google Shape;90;p19"/>
          <p:cNvPicPr preferRelativeResize="0"/>
          <p:nvPr/>
        </p:nvPicPr>
        <p:blipFill rotWithShape="1">
          <a:blip r:embed="rId3">
            <a:alphaModFix/>
          </a:blip>
          <a:srcRect b="0" l="0" r="0" t="0"/>
          <a:stretch/>
        </p:blipFill>
        <p:spPr>
          <a:xfrm>
            <a:off x="3426472" y="1148377"/>
            <a:ext cx="381775" cy="647861"/>
          </a:xfrm>
          <a:prstGeom prst="rect">
            <a:avLst/>
          </a:prstGeom>
          <a:noFill/>
          <a:ln>
            <a:noFill/>
          </a:ln>
        </p:spPr>
      </p:pic>
      <p:pic>
        <p:nvPicPr>
          <p:cNvPr descr="page5image51205616" id="91" name="Google Shape;91;p19"/>
          <p:cNvPicPr preferRelativeResize="0"/>
          <p:nvPr/>
        </p:nvPicPr>
        <p:blipFill rotWithShape="1">
          <a:blip r:embed="rId4">
            <a:alphaModFix/>
          </a:blip>
          <a:srcRect b="5609" l="35966" r="40906" t="71599"/>
          <a:stretch/>
        </p:blipFill>
        <p:spPr>
          <a:xfrm>
            <a:off x="4000299" y="2658276"/>
            <a:ext cx="1865210" cy="1169342"/>
          </a:xfrm>
          <a:prstGeom prst="rect">
            <a:avLst/>
          </a:prstGeom>
          <a:noFill/>
          <a:ln>
            <a:noFill/>
          </a:ln>
        </p:spPr>
      </p:pic>
      <p:pic>
        <p:nvPicPr>
          <p:cNvPr id="92" name="Google Shape;92;p19"/>
          <p:cNvPicPr preferRelativeResize="0"/>
          <p:nvPr/>
        </p:nvPicPr>
        <p:blipFill rotWithShape="1">
          <a:blip r:embed="rId5">
            <a:alphaModFix/>
          </a:blip>
          <a:srcRect b="0" l="0" r="0" t="0"/>
          <a:stretch/>
        </p:blipFill>
        <p:spPr>
          <a:xfrm>
            <a:off x="2972726" y="756705"/>
            <a:ext cx="381775" cy="703664"/>
          </a:xfrm>
          <a:prstGeom prst="rect">
            <a:avLst/>
          </a:prstGeom>
          <a:noFill/>
          <a:ln>
            <a:noFill/>
          </a:ln>
        </p:spPr>
      </p:pic>
      <p:pic>
        <p:nvPicPr>
          <p:cNvPr id="93" name="Google Shape;93;p19"/>
          <p:cNvPicPr preferRelativeResize="0"/>
          <p:nvPr/>
        </p:nvPicPr>
        <p:blipFill rotWithShape="1">
          <a:blip r:embed="rId6">
            <a:alphaModFix/>
          </a:blip>
          <a:srcRect b="0" l="0" r="0" t="0"/>
          <a:stretch/>
        </p:blipFill>
        <p:spPr>
          <a:xfrm>
            <a:off x="5879682" y="905045"/>
            <a:ext cx="1167955" cy="723690"/>
          </a:xfrm>
          <a:prstGeom prst="rect">
            <a:avLst/>
          </a:prstGeom>
          <a:noFill/>
          <a:ln>
            <a:noFill/>
          </a:ln>
        </p:spPr>
      </p:pic>
      <p:pic>
        <p:nvPicPr>
          <p:cNvPr id="94" name="Google Shape;94;p19"/>
          <p:cNvPicPr preferRelativeResize="0"/>
          <p:nvPr/>
        </p:nvPicPr>
        <p:blipFill rotWithShape="1">
          <a:blip r:embed="rId7">
            <a:alphaModFix/>
          </a:blip>
          <a:srcRect b="72325" l="0" r="18765" t="0"/>
          <a:stretch/>
        </p:blipFill>
        <p:spPr>
          <a:xfrm>
            <a:off x="6405342" y="2592824"/>
            <a:ext cx="893846" cy="382031"/>
          </a:xfrm>
          <a:prstGeom prst="rect">
            <a:avLst/>
          </a:prstGeom>
          <a:noFill/>
          <a:ln>
            <a:noFill/>
          </a:ln>
        </p:spPr>
      </p:pic>
      <p:pic>
        <p:nvPicPr>
          <p:cNvPr id="95" name="Google Shape;95;p19"/>
          <p:cNvPicPr preferRelativeResize="0"/>
          <p:nvPr/>
        </p:nvPicPr>
        <p:blipFill rotWithShape="1">
          <a:blip r:embed="rId8">
            <a:alphaModFix/>
          </a:blip>
          <a:srcRect b="68915" l="0" r="62994" t="10537"/>
          <a:stretch/>
        </p:blipFill>
        <p:spPr>
          <a:xfrm>
            <a:off x="1137372" y="1076635"/>
            <a:ext cx="1375338" cy="552502"/>
          </a:xfrm>
          <a:prstGeom prst="rect">
            <a:avLst/>
          </a:prstGeom>
          <a:noFill/>
          <a:ln>
            <a:noFill/>
          </a:ln>
        </p:spPr>
      </p:pic>
      <p:sp>
        <p:nvSpPr>
          <p:cNvPr id="96" name="Google Shape;96;p19"/>
          <p:cNvSpPr/>
          <p:nvPr/>
        </p:nvSpPr>
        <p:spPr>
          <a:xfrm>
            <a:off x="1193207" y="1048006"/>
            <a:ext cx="1326900" cy="6270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 name="Google Shape;97;p19"/>
          <p:cNvSpPr txBox="1"/>
          <p:nvPr/>
        </p:nvSpPr>
        <p:spPr>
          <a:xfrm>
            <a:off x="1222735" y="1493498"/>
            <a:ext cx="10743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Dissociation</a:t>
            </a:r>
            <a:endParaRPr sz="1100"/>
          </a:p>
        </p:txBody>
      </p:sp>
      <p:sp>
        <p:nvSpPr>
          <p:cNvPr id="98" name="Google Shape;98;p19"/>
          <p:cNvSpPr txBox="1"/>
          <p:nvPr/>
        </p:nvSpPr>
        <p:spPr>
          <a:xfrm>
            <a:off x="2870214" y="1796526"/>
            <a:ext cx="10743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Sorting</a:t>
            </a:r>
            <a:endParaRPr sz="1100"/>
          </a:p>
        </p:txBody>
      </p:sp>
      <p:cxnSp>
        <p:nvCxnSpPr>
          <p:cNvPr id="99" name="Google Shape;99;p19"/>
          <p:cNvCxnSpPr/>
          <p:nvPr/>
        </p:nvCxnSpPr>
        <p:spPr>
          <a:xfrm>
            <a:off x="2583533" y="1342835"/>
            <a:ext cx="271500" cy="0"/>
          </a:xfrm>
          <a:prstGeom prst="straightConnector1">
            <a:avLst/>
          </a:prstGeom>
          <a:noFill/>
          <a:ln cap="flat" cmpd="sng" w="47625">
            <a:solidFill>
              <a:srgbClr val="AEABAB"/>
            </a:solidFill>
            <a:prstDash val="solid"/>
            <a:miter lim="800000"/>
            <a:headEnd len="sm" w="sm" type="none"/>
            <a:tailEnd len="med" w="med" type="triangle"/>
          </a:ln>
        </p:spPr>
      </p:cxnSp>
      <p:cxnSp>
        <p:nvCxnSpPr>
          <p:cNvPr id="100" name="Google Shape;100;p19"/>
          <p:cNvCxnSpPr/>
          <p:nvPr/>
        </p:nvCxnSpPr>
        <p:spPr>
          <a:xfrm>
            <a:off x="4042965" y="1330118"/>
            <a:ext cx="271500" cy="0"/>
          </a:xfrm>
          <a:prstGeom prst="straightConnector1">
            <a:avLst/>
          </a:prstGeom>
          <a:noFill/>
          <a:ln cap="flat" cmpd="sng" w="47625">
            <a:solidFill>
              <a:schemeClr val="dk1"/>
            </a:solidFill>
            <a:prstDash val="solid"/>
            <a:miter lim="800000"/>
            <a:headEnd len="sm" w="sm" type="none"/>
            <a:tailEnd len="med" w="med" type="triangle"/>
          </a:ln>
        </p:spPr>
      </p:cxnSp>
      <p:sp>
        <p:nvSpPr>
          <p:cNvPr id="101" name="Google Shape;101;p19"/>
          <p:cNvSpPr txBox="1"/>
          <p:nvPr/>
        </p:nvSpPr>
        <p:spPr>
          <a:xfrm>
            <a:off x="5642217" y="1862488"/>
            <a:ext cx="16143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Single-cell Capture</a:t>
            </a:r>
            <a:endParaRPr sz="1100"/>
          </a:p>
        </p:txBody>
      </p:sp>
      <p:pic>
        <p:nvPicPr>
          <p:cNvPr id="102" name="Google Shape;102;p19"/>
          <p:cNvPicPr preferRelativeResize="0"/>
          <p:nvPr/>
        </p:nvPicPr>
        <p:blipFill rotWithShape="1">
          <a:blip r:embed="rId7">
            <a:alphaModFix/>
          </a:blip>
          <a:srcRect b="0" l="9007" r="28226" t="59775"/>
          <a:stretch/>
        </p:blipFill>
        <p:spPr>
          <a:xfrm>
            <a:off x="6460043" y="3162079"/>
            <a:ext cx="690648" cy="555290"/>
          </a:xfrm>
          <a:prstGeom prst="rect">
            <a:avLst/>
          </a:prstGeom>
          <a:noFill/>
          <a:ln>
            <a:noFill/>
          </a:ln>
        </p:spPr>
      </p:pic>
      <p:cxnSp>
        <p:nvCxnSpPr>
          <p:cNvPr id="103" name="Google Shape;103;p19"/>
          <p:cNvCxnSpPr/>
          <p:nvPr/>
        </p:nvCxnSpPr>
        <p:spPr>
          <a:xfrm>
            <a:off x="6794716" y="2172249"/>
            <a:ext cx="0" cy="374100"/>
          </a:xfrm>
          <a:prstGeom prst="straightConnector1">
            <a:avLst/>
          </a:prstGeom>
          <a:noFill/>
          <a:ln cap="flat" cmpd="sng" w="21425">
            <a:solidFill>
              <a:schemeClr val="dk1"/>
            </a:solidFill>
            <a:prstDash val="solid"/>
            <a:miter lim="800000"/>
            <a:headEnd len="sm" w="sm" type="none"/>
            <a:tailEnd len="med" w="med" type="triangle"/>
          </a:ln>
        </p:spPr>
      </p:cxnSp>
      <p:cxnSp>
        <p:nvCxnSpPr>
          <p:cNvPr id="104" name="Google Shape;104;p19"/>
          <p:cNvCxnSpPr/>
          <p:nvPr/>
        </p:nvCxnSpPr>
        <p:spPr>
          <a:xfrm>
            <a:off x="6794711" y="2996183"/>
            <a:ext cx="0" cy="202200"/>
          </a:xfrm>
          <a:prstGeom prst="straightConnector1">
            <a:avLst/>
          </a:prstGeom>
          <a:noFill/>
          <a:ln cap="flat" cmpd="sng" w="26200">
            <a:solidFill>
              <a:schemeClr val="dk1"/>
            </a:solidFill>
            <a:prstDash val="solid"/>
            <a:miter lim="800000"/>
            <a:headEnd len="sm" w="sm" type="none"/>
            <a:tailEnd len="med" w="med" type="triangle"/>
          </a:ln>
        </p:spPr>
      </p:cxnSp>
      <p:sp>
        <p:nvSpPr>
          <p:cNvPr id="105" name="Google Shape;105;p19"/>
          <p:cNvSpPr txBox="1"/>
          <p:nvPr/>
        </p:nvSpPr>
        <p:spPr>
          <a:xfrm>
            <a:off x="6309188" y="3712482"/>
            <a:ext cx="10743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RT-PCR</a:t>
            </a:r>
            <a:endParaRPr sz="1100"/>
          </a:p>
        </p:txBody>
      </p:sp>
      <p:cxnSp>
        <p:nvCxnSpPr>
          <p:cNvPr id="106" name="Google Shape;106;p19"/>
          <p:cNvCxnSpPr/>
          <p:nvPr/>
        </p:nvCxnSpPr>
        <p:spPr>
          <a:xfrm rot="10800000">
            <a:off x="5937566" y="3230475"/>
            <a:ext cx="267900" cy="0"/>
          </a:xfrm>
          <a:prstGeom prst="straightConnector1">
            <a:avLst/>
          </a:prstGeom>
          <a:noFill/>
          <a:ln cap="flat" cmpd="sng" w="21425">
            <a:solidFill>
              <a:schemeClr val="dk1"/>
            </a:solidFill>
            <a:prstDash val="solid"/>
            <a:miter lim="800000"/>
            <a:headEnd len="sm" w="sm" type="none"/>
            <a:tailEnd len="med" w="med" type="triangle"/>
          </a:ln>
        </p:spPr>
      </p:cxnSp>
      <p:sp>
        <p:nvSpPr>
          <p:cNvPr id="107" name="Google Shape;107;p19"/>
          <p:cNvSpPr/>
          <p:nvPr/>
        </p:nvSpPr>
        <p:spPr>
          <a:xfrm>
            <a:off x="4063117" y="2594615"/>
            <a:ext cx="1787700" cy="13683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8" name="Google Shape;108;p19"/>
          <p:cNvSpPr txBox="1"/>
          <p:nvPr/>
        </p:nvSpPr>
        <p:spPr>
          <a:xfrm>
            <a:off x="4333226" y="3747587"/>
            <a:ext cx="10743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Sequencing</a:t>
            </a:r>
            <a:endParaRPr sz="1100"/>
          </a:p>
        </p:txBody>
      </p:sp>
      <p:cxnSp>
        <p:nvCxnSpPr>
          <p:cNvPr id="109" name="Google Shape;109;p19"/>
          <p:cNvCxnSpPr/>
          <p:nvPr/>
        </p:nvCxnSpPr>
        <p:spPr>
          <a:xfrm rot="10800000">
            <a:off x="3674575" y="3231161"/>
            <a:ext cx="267900" cy="0"/>
          </a:xfrm>
          <a:prstGeom prst="straightConnector1">
            <a:avLst/>
          </a:prstGeom>
          <a:noFill/>
          <a:ln cap="flat" cmpd="sng" w="21425">
            <a:solidFill>
              <a:schemeClr val="dk1"/>
            </a:solidFill>
            <a:prstDash val="solid"/>
            <a:miter lim="800000"/>
            <a:headEnd len="sm" w="sm" type="none"/>
            <a:tailEnd len="med" w="med" type="triangle"/>
          </a:ln>
        </p:spPr>
      </p:cxnSp>
      <p:grpSp>
        <p:nvGrpSpPr>
          <p:cNvPr id="110" name="Google Shape;110;p19"/>
          <p:cNvGrpSpPr/>
          <p:nvPr/>
        </p:nvGrpSpPr>
        <p:grpSpPr>
          <a:xfrm>
            <a:off x="1912505" y="2226663"/>
            <a:ext cx="756758" cy="904163"/>
            <a:chOff x="3521657" y="3572139"/>
            <a:chExt cx="945475" cy="1078954"/>
          </a:xfrm>
        </p:grpSpPr>
        <p:pic>
          <p:nvPicPr>
            <p:cNvPr id="111" name="Google Shape;111;p19"/>
            <p:cNvPicPr preferRelativeResize="0"/>
            <p:nvPr/>
          </p:nvPicPr>
          <p:blipFill rotWithShape="1">
            <a:blip r:embed="rId9">
              <a:alphaModFix/>
            </a:blip>
            <a:srcRect b="0" l="0" r="0" t="0"/>
            <a:stretch/>
          </p:blipFill>
          <p:spPr>
            <a:xfrm>
              <a:off x="3521657" y="3572139"/>
              <a:ext cx="945475" cy="1078954"/>
            </a:xfrm>
            <a:prstGeom prst="rect">
              <a:avLst/>
            </a:prstGeom>
            <a:noFill/>
            <a:ln>
              <a:noFill/>
            </a:ln>
          </p:spPr>
        </p:pic>
        <p:sp>
          <p:nvSpPr>
            <p:cNvPr id="112" name="Google Shape;112;p19"/>
            <p:cNvSpPr/>
            <p:nvPr/>
          </p:nvSpPr>
          <p:spPr>
            <a:xfrm>
              <a:off x="3700029" y="3741283"/>
              <a:ext cx="622200" cy="4107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sp>
        <p:nvSpPr>
          <p:cNvPr id="113" name="Google Shape;113;p19"/>
          <p:cNvSpPr txBox="1"/>
          <p:nvPr/>
        </p:nvSpPr>
        <p:spPr>
          <a:xfrm>
            <a:off x="2516390" y="2299775"/>
            <a:ext cx="1160700" cy="74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Demultiplex, </a:t>
            </a:r>
            <a:endParaRPr sz="1100"/>
          </a:p>
          <a:p>
            <a:pPr indent="0" lvl="0" marL="0" marR="0" rtl="0" algn="ctr">
              <a:spcBef>
                <a:spcPts val="0"/>
              </a:spcBef>
              <a:spcAft>
                <a:spcPts val="0"/>
              </a:spcAft>
              <a:buNone/>
            </a:pPr>
            <a:r>
              <a:rPr b="0" i="0" lang="en" sz="1100" u="none" cap="none" strike="noStrike">
                <a:solidFill>
                  <a:srgbClr val="C00000"/>
                </a:solidFill>
                <a:latin typeface="Calibri"/>
                <a:ea typeface="Calibri"/>
                <a:cs typeface="Calibri"/>
                <a:sym typeface="Calibri"/>
              </a:rPr>
              <a:t>Sequence Alignment, </a:t>
            </a:r>
            <a:endParaRPr sz="1100"/>
          </a:p>
          <a:p>
            <a:pPr indent="0" lvl="0" marL="0" marR="0" rtl="0" algn="ctr">
              <a:spcBef>
                <a:spcPts val="0"/>
              </a:spcBef>
              <a:spcAft>
                <a:spcPts val="0"/>
              </a:spcAft>
              <a:buNone/>
            </a:pPr>
            <a:r>
              <a:rPr b="1" i="0" lang="en" sz="1100" u="none" cap="none" strike="noStrike">
                <a:solidFill>
                  <a:srgbClr val="C00000"/>
                </a:solidFill>
                <a:latin typeface="Calibri"/>
                <a:ea typeface="Calibri"/>
                <a:cs typeface="Calibri"/>
                <a:sym typeface="Calibri"/>
              </a:rPr>
              <a:t>Data Analysis</a:t>
            </a:r>
            <a:endParaRPr sz="1100"/>
          </a:p>
        </p:txBody>
      </p:sp>
      <p:pic>
        <p:nvPicPr>
          <p:cNvPr id="114" name="Google Shape;114;p19"/>
          <p:cNvPicPr preferRelativeResize="0"/>
          <p:nvPr/>
        </p:nvPicPr>
        <p:blipFill rotWithShape="1">
          <a:blip r:embed="rId10">
            <a:alphaModFix/>
          </a:blip>
          <a:srcRect b="0" l="0" r="0" t="0"/>
          <a:stretch/>
        </p:blipFill>
        <p:spPr>
          <a:xfrm>
            <a:off x="1139580" y="3069491"/>
            <a:ext cx="1009069" cy="435409"/>
          </a:xfrm>
          <a:prstGeom prst="rect">
            <a:avLst/>
          </a:prstGeom>
          <a:noFill/>
          <a:ln>
            <a:noFill/>
          </a:ln>
        </p:spPr>
      </p:pic>
      <p:pic>
        <p:nvPicPr>
          <p:cNvPr id="115" name="Google Shape;115;p19"/>
          <p:cNvPicPr preferRelativeResize="0"/>
          <p:nvPr/>
        </p:nvPicPr>
        <p:blipFill rotWithShape="1">
          <a:blip r:embed="rId11">
            <a:alphaModFix/>
          </a:blip>
          <a:srcRect b="0" l="0" r="0" t="0"/>
          <a:stretch/>
        </p:blipFill>
        <p:spPr>
          <a:xfrm>
            <a:off x="2373080" y="3080566"/>
            <a:ext cx="1133653" cy="446190"/>
          </a:xfrm>
          <a:prstGeom prst="rect">
            <a:avLst/>
          </a:prstGeom>
          <a:noFill/>
          <a:ln>
            <a:noFill/>
          </a:ln>
        </p:spPr>
      </p:pic>
      <p:pic>
        <p:nvPicPr>
          <p:cNvPr id="116" name="Google Shape;116;p19"/>
          <p:cNvPicPr preferRelativeResize="0"/>
          <p:nvPr/>
        </p:nvPicPr>
        <p:blipFill rotWithShape="1">
          <a:blip r:embed="rId12">
            <a:alphaModFix/>
          </a:blip>
          <a:srcRect b="0" l="0" r="0" t="0"/>
          <a:stretch/>
        </p:blipFill>
        <p:spPr>
          <a:xfrm>
            <a:off x="1868691" y="3502702"/>
            <a:ext cx="829041" cy="638289"/>
          </a:xfrm>
          <a:prstGeom prst="rect">
            <a:avLst/>
          </a:prstGeom>
          <a:noFill/>
          <a:ln>
            <a:noFill/>
          </a:ln>
        </p:spPr>
      </p:pic>
      <p:cxnSp>
        <p:nvCxnSpPr>
          <p:cNvPr id="117" name="Google Shape;117;p19"/>
          <p:cNvCxnSpPr/>
          <p:nvPr/>
        </p:nvCxnSpPr>
        <p:spPr>
          <a:xfrm rot="10800000">
            <a:off x="1897748" y="3601851"/>
            <a:ext cx="0" cy="543600"/>
          </a:xfrm>
          <a:prstGeom prst="straightConnector1">
            <a:avLst/>
          </a:prstGeom>
          <a:noFill/>
          <a:ln cap="flat" cmpd="sng" w="7150">
            <a:solidFill>
              <a:schemeClr val="dk1"/>
            </a:solidFill>
            <a:prstDash val="solid"/>
            <a:miter lim="800000"/>
            <a:headEnd len="sm" w="sm" type="none"/>
            <a:tailEnd len="sm" w="sm" type="triangle"/>
          </a:ln>
        </p:spPr>
      </p:cxnSp>
      <p:cxnSp>
        <p:nvCxnSpPr>
          <p:cNvPr id="118" name="Google Shape;118;p19"/>
          <p:cNvCxnSpPr/>
          <p:nvPr/>
        </p:nvCxnSpPr>
        <p:spPr>
          <a:xfrm>
            <a:off x="1896569" y="4145451"/>
            <a:ext cx="737100" cy="0"/>
          </a:xfrm>
          <a:prstGeom prst="straightConnector1">
            <a:avLst/>
          </a:prstGeom>
          <a:noFill/>
          <a:ln cap="flat" cmpd="sng" w="7150">
            <a:solidFill>
              <a:schemeClr val="dk1"/>
            </a:solidFill>
            <a:prstDash val="solid"/>
            <a:miter lim="800000"/>
            <a:headEnd len="sm" w="sm" type="none"/>
            <a:tailEnd len="sm" w="sm" type="triangle"/>
          </a:ln>
        </p:spPr>
      </p:cxnSp>
      <p:sp>
        <p:nvSpPr>
          <p:cNvPr id="119" name="Google Shape;119;p19"/>
          <p:cNvSpPr txBox="1"/>
          <p:nvPr/>
        </p:nvSpPr>
        <p:spPr>
          <a:xfrm>
            <a:off x="2005707" y="4116328"/>
            <a:ext cx="5064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600" u="none" cap="none" strike="noStrike">
                <a:solidFill>
                  <a:schemeClr val="dk1"/>
                </a:solidFill>
                <a:latin typeface="Calibri"/>
                <a:ea typeface="Calibri"/>
                <a:cs typeface="Calibri"/>
                <a:sym typeface="Calibri"/>
              </a:rPr>
              <a:t>Dim-1</a:t>
            </a:r>
            <a:endParaRPr sz="1100"/>
          </a:p>
        </p:txBody>
      </p:sp>
      <p:sp>
        <p:nvSpPr>
          <p:cNvPr id="120" name="Google Shape;120;p19"/>
          <p:cNvSpPr txBox="1"/>
          <p:nvPr/>
        </p:nvSpPr>
        <p:spPr>
          <a:xfrm rot="-5400000">
            <a:off x="1631029" y="3703123"/>
            <a:ext cx="4398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600">
                <a:solidFill>
                  <a:schemeClr val="dk1"/>
                </a:solidFill>
                <a:latin typeface="Calibri"/>
                <a:ea typeface="Calibri"/>
                <a:cs typeface="Calibri"/>
                <a:sym typeface="Calibri"/>
              </a:rPr>
              <a:t>Dim-2</a:t>
            </a:r>
            <a:endParaRPr sz="1100"/>
          </a:p>
        </p:txBody>
      </p:sp>
      <p:sp>
        <p:nvSpPr>
          <p:cNvPr id="121" name="Google Shape;121;p19"/>
          <p:cNvSpPr/>
          <p:nvPr/>
        </p:nvSpPr>
        <p:spPr>
          <a:xfrm>
            <a:off x="6278708" y="2559935"/>
            <a:ext cx="1034400" cy="13683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122" name="Google Shape;122;p19"/>
          <p:cNvCxnSpPr/>
          <p:nvPr/>
        </p:nvCxnSpPr>
        <p:spPr>
          <a:xfrm>
            <a:off x="2185820" y="3278049"/>
            <a:ext cx="146400" cy="0"/>
          </a:xfrm>
          <a:prstGeom prst="straightConnector1">
            <a:avLst/>
          </a:prstGeom>
          <a:noFill/>
          <a:ln cap="flat" cmpd="sng" w="11900">
            <a:solidFill>
              <a:srgbClr val="757070"/>
            </a:solidFill>
            <a:prstDash val="solid"/>
            <a:miter lim="800000"/>
            <a:headEnd len="sm" w="sm" type="none"/>
            <a:tailEnd len="med" w="med" type="triangle"/>
          </a:ln>
        </p:spPr>
      </p:cxnSp>
      <p:cxnSp>
        <p:nvCxnSpPr>
          <p:cNvPr id="123" name="Google Shape;123;p19"/>
          <p:cNvCxnSpPr/>
          <p:nvPr/>
        </p:nvCxnSpPr>
        <p:spPr>
          <a:xfrm>
            <a:off x="2980665" y="3528122"/>
            <a:ext cx="0" cy="318000"/>
          </a:xfrm>
          <a:prstGeom prst="straightConnector1">
            <a:avLst/>
          </a:prstGeom>
          <a:noFill/>
          <a:ln cap="flat" cmpd="sng" w="11900">
            <a:solidFill>
              <a:srgbClr val="757070"/>
            </a:solidFill>
            <a:prstDash val="solid"/>
            <a:miter lim="800000"/>
            <a:headEnd len="sm" w="sm" type="none"/>
            <a:tailEnd len="sm" w="sm" type="none"/>
          </a:ln>
        </p:spPr>
      </p:cxnSp>
      <p:cxnSp>
        <p:nvCxnSpPr>
          <p:cNvPr id="124" name="Google Shape;124;p19"/>
          <p:cNvCxnSpPr/>
          <p:nvPr/>
        </p:nvCxnSpPr>
        <p:spPr>
          <a:xfrm rot="10800000">
            <a:off x="2814764" y="3846067"/>
            <a:ext cx="165900" cy="0"/>
          </a:xfrm>
          <a:prstGeom prst="straightConnector1">
            <a:avLst/>
          </a:prstGeom>
          <a:noFill/>
          <a:ln cap="flat" cmpd="sng" w="11900">
            <a:solidFill>
              <a:srgbClr val="757070"/>
            </a:solidFill>
            <a:prstDash val="solid"/>
            <a:miter lim="800000"/>
            <a:headEnd len="sm" w="sm" type="none"/>
            <a:tailEnd len="med" w="med" type="triangle"/>
          </a:ln>
        </p:spPr>
      </p:cxnSp>
      <p:sp>
        <p:nvSpPr>
          <p:cNvPr id="125" name="Google Shape;125;p19"/>
          <p:cNvSpPr/>
          <p:nvPr/>
        </p:nvSpPr>
        <p:spPr>
          <a:xfrm>
            <a:off x="2908575" y="735341"/>
            <a:ext cx="1035900" cy="12804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6" name="Google Shape;126;p19"/>
          <p:cNvSpPr/>
          <p:nvPr/>
        </p:nvSpPr>
        <p:spPr>
          <a:xfrm>
            <a:off x="5484512" y="4003398"/>
            <a:ext cx="1867500" cy="161700"/>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lang="en" sz="600">
                <a:solidFill>
                  <a:srgbClr val="222222"/>
                </a:solidFill>
                <a:latin typeface="Arial"/>
                <a:ea typeface="Arial"/>
                <a:cs typeface="Arial"/>
                <a:sym typeface="Arial"/>
              </a:rPr>
              <a:t>Salomon, Robert, et al. </a:t>
            </a:r>
            <a:r>
              <a:rPr i="1" lang="en" sz="600">
                <a:solidFill>
                  <a:srgbClr val="222222"/>
                </a:solidFill>
                <a:latin typeface="Arial"/>
                <a:ea typeface="Arial"/>
                <a:cs typeface="Arial"/>
                <a:sym typeface="Arial"/>
              </a:rPr>
              <a:t>Lab on a Chip</a:t>
            </a:r>
            <a:r>
              <a:rPr lang="en" sz="600">
                <a:solidFill>
                  <a:srgbClr val="222222"/>
                </a:solidFill>
                <a:latin typeface="Arial"/>
                <a:ea typeface="Arial"/>
                <a:cs typeface="Arial"/>
                <a:sym typeface="Arial"/>
              </a:rPr>
              <a:t> (2019)</a:t>
            </a:r>
            <a:endParaRPr sz="600">
              <a:solidFill>
                <a:schemeClr val="dk1"/>
              </a:solidFill>
              <a:latin typeface="Calibri"/>
              <a:ea typeface="Calibri"/>
              <a:cs typeface="Calibri"/>
              <a:sym typeface="Calibri"/>
            </a:endParaRPr>
          </a:p>
        </p:txBody>
      </p:sp>
      <p:pic>
        <p:nvPicPr>
          <p:cNvPr id="127" name="Google Shape;127;p19"/>
          <p:cNvPicPr preferRelativeResize="0"/>
          <p:nvPr/>
        </p:nvPicPr>
        <p:blipFill>
          <a:blip r:embed="rId13">
            <a:alphaModFix/>
          </a:blip>
          <a:stretch>
            <a:fillRect/>
          </a:stretch>
        </p:blipFill>
        <p:spPr>
          <a:xfrm>
            <a:off x="4714669" y="1472813"/>
            <a:ext cx="795822" cy="598481"/>
          </a:xfrm>
          <a:prstGeom prst="rect">
            <a:avLst/>
          </a:prstGeom>
          <a:noFill/>
          <a:ln>
            <a:noFill/>
          </a:ln>
        </p:spPr>
      </p:pic>
      <p:grpSp>
        <p:nvGrpSpPr>
          <p:cNvPr id="128" name="Google Shape;128;p19"/>
          <p:cNvGrpSpPr/>
          <p:nvPr/>
        </p:nvGrpSpPr>
        <p:grpSpPr>
          <a:xfrm>
            <a:off x="4664027" y="799220"/>
            <a:ext cx="2467945" cy="1340961"/>
            <a:chOff x="6218702" y="1065626"/>
            <a:chExt cx="3290593" cy="1787949"/>
          </a:xfrm>
        </p:grpSpPr>
        <p:grpSp>
          <p:nvGrpSpPr>
            <p:cNvPr id="129" name="Google Shape;129;p19"/>
            <p:cNvGrpSpPr/>
            <p:nvPr/>
          </p:nvGrpSpPr>
          <p:grpSpPr>
            <a:xfrm>
              <a:off x="6218702" y="1065626"/>
              <a:ext cx="3290593" cy="1774649"/>
              <a:chOff x="6218702" y="1065626"/>
              <a:chExt cx="3290593" cy="1774649"/>
            </a:xfrm>
          </p:grpSpPr>
          <p:pic>
            <p:nvPicPr>
              <p:cNvPr id="130" name="Google Shape;130;p19"/>
              <p:cNvPicPr preferRelativeResize="0"/>
              <p:nvPr/>
            </p:nvPicPr>
            <p:blipFill rotWithShape="1">
              <a:blip r:embed="rId14">
                <a:alphaModFix/>
              </a:blip>
              <a:srcRect b="12349" l="18714" r="6458" t="13796"/>
              <a:stretch/>
            </p:blipFill>
            <p:spPr>
              <a:xfrm>
                <a:off x="6514724" y="1065626"/>
                <a:ext cx="809653" cy="724824"/>
              </a:xfrm>
              <a:prstGeom prst="rect">
                <a:avLst/>
              </a:prstGeom>
              <a:noFill/>
              <a:ln>
                <a:noFill/>
              </a:ln>
            </p:spPr>
          </p:pic>
          <p:sp>
            <p:nvSpPr>
              <p:cNvPr id="131" name="Google Shape;131;p19"/>
              <p:cNvSpPr/>
              <p:nvPr/>
            </p:nvSpPr>
            <p:spPr>
              <a:xfrm>
                <a:off x="7740195" y="1180326"/>
                <a:ext cx="1769100" cy="1145400"/>
              </a:xfrm>
              <a:prstGeom prst="rect">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32" name="Google Shape;132;p19" title="scRNA-seq.jpeg"/>
              <p:cNvPicPr preferRelativeResize="0"/>
              <p:nvPr/>
            </p:nvPicPr>
            <p:blipFill rotWithShape="1">
              <a:blip r:embed="rId15">
                <a:alphaModFix/>
              </a:blip>
              <a:srcRect b="45235" l="0" r="66126" t="0"/>
              <a:stretch/>
            </p:blipFill>
            <p:spPr>
              <a:xfrm>
                <a:off x="6218702" y="1773500"/>
                <a:ext cx="1319697" cy="1066776"/>
              </a:xfrm>
              <a:prstGeom prst="rect">
                <a:avLst/>
              </a:prstGeom>
              <a:noFill/>
              <a:ln>
                <a:noFill/>
              </a:ln>
            </p:spPr>
          </p:pic>
          <p:cxnSp>
            <p:nvCxnSpPr>
              <p:cNvPr id="133" name="Google Shape;133;p19"/>
              <p:cNvCxnSpPr/>
              <p:nvPr/>
            </p:nvCxnSpPr>
            <p:spPr>
              <a:xfrm flipH="1" rot="10800000">
                <a:off x="7340100" y="2084450"/>
                <a:ext cx="425400" cy="148500"/>
              </a:xfrm>
              <a:prstGeom prst="straightConnector1">
                <a:avLst/>
              </a:prstGeom>
              <a:noFill/>
              <a:ln cap="flat" cmpd="sng" w="7150">
                <a:solidFill>
                  <a:schemeClr val="dk1"/>
                </a:solidFill>
                <a:prstDash val="solid"/>
                <a:miter lim="800000"/>
                <a:headEnd len="sm" w="sm" type="none"/>
                <a:tailEnd len="sm" w="sm" type="none"/>
              </a:ln>
            </p:spPr>
          </p:cxnSp>
          <p:cxnSp>
            <p:nvCxnSpPr>
              <p:cNvPr id="134" name="Google Shape;134;p19"/>
              <p:cNvCxnSpPr/>
              <p:nvPr/>
            </p:nvCxnSpPr>
            <p:spPr>
              <a:xfrm flipH="1" rot="10800000">
                <a:off x="7352625" y="2316400"/>
                <a:ext cx="401400" cy="75300"/>
              </a:xfrm>
              <a:prstGeom prst="straightConnector1">
                <a:avLst/>
              </a:prstGeom>
              <a:noFill/>
              <a:ln cap="flat" cmpd="sng" w="7150">
                <a:solidFill>
                  <a:schemeClr val="dk1"/>
                </a:solidFill>
                <a:prstDash val="solid"/>
                <a:miter lim="800000"/>
                <a:headEnd len="sm" w="sm" type="none"/>
                <a:tailEnd len="sm" w="sm" type="none"/>
              </a:ln>
            </p:spPr>
          </p:cxnSp>
        </p:grpSp>
        <p:sp>
          <p:nvSpPr>
            <p:cNvPr id="135" name="Google Shape;135;p19"/>
            <p:cNvSpPr/>
            <p:nvPr/>
          </p:nvSpPr>
          <p:spPr>
            <a:xfrm>
              <a:off x="6934875" y="2638175"/>
              <a:ext cx="722700" cy="215400"/>
            </a:xfrm>
            <a:prstGeom prst="rect">
              <a:avLst/>
            </a:prstGeom>
            <a:solidFill>
              <a:schemeClr val="lt1"/>
            </a:solidFill>
            <a:ln cap="flat" cmpd="sng" w="7150">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highlight>
                  <a:schemeClr val="lt1"/>
                </a:highlight>
                <a:latin typeface="Calibri"/>
                <a:ea typeface="Calibri"/>
                <a:cs typeface="Calibri"/>
                <a:sym typeface="Calibri"/>
              </a:endParaRPr>
            </a:p>
          </p:txBody>
        </p:sp>
      </p:grpSp>
      <p:sp>
        <p:nvSpPr>
          <p:cNvPr id="136" name="Google Shape;136;p19"/>
          <p:cNvSpPr/>
          <p:nvPr/>
        </p:nvSpPr>
        <p:spPr>
          <a:xfrm>
            <a:off x="4564294" y="735338"/>
            <a:ext cx="2852100" cy="1423500"/>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7" name="Google Shape;137;p19"/>
          <p:cNvSpPr txBox="1"/>
          <p:nvPr/>
        </p:nvSpPr>
        <p:spPr>
          <a:xfrm>
            <a:off x="4815394" y="2025281"/>
            <a:ext cx="2349900" cy="171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300">
                <a:solidFill>
                  <a:schemeClr val="dk1"/>
                </a:solidFill>
                <a:latin typeface="Calibri"/>
                <a:ea typeface="Calibri"/>
                <a:cs typeface="Calibri"/>
                <a:sym typeface="Calibri"/>
              </a:rPr>
              <a:t>Lian, Ma et al. (2022). Total-mRNA-Aware Analysis for Droplet-Based Single Cell Sequencing. 10.21203/rs.3.rs-2211167/v1. </a:t>
            </a:r>
            <a:endParaRPr sz="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113588" y="0"/>
            <a:ext cx="8075700" cy="7959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Overview of unimodal analysis steps for scRNA-seq</a:t>
            </a:r>
            <a:endParaRPr/>
          </a:p>
        </p:txBody>
      </p:sp>
      <p:sp>
        <p:nvSpPr>
          <p:cNvPr id="144" name="Google Shape;144;p20"/>
          <p:cNvSpPr txBox="1"/>
          <p:nvPr>
            <p:ph idx="4294967295" type="sldNum"/>
          </p:nvPr>
        </p:nvSpPr>
        <p:spPr>
          <a:xfrm>
            <a:off x="6446419" y="3665475"/>
            <a:ext cx="411600" cy="192300"/>
          </a:xfrm>
          <a:prstGeom prst="rect">
            <a:avLst/>
          </a:prstGeom>
          <a:noFill/>
          <a:ln>
            <a:noFill/>
          </a:ln>
        </p:spPr>
        <p:txBody>
          <a:bodyPr anchorCtr="0" anchor="ctr" bIns="34275" lIns="68575" spcFirstLastPara="1" rIns="68575" wrap="square" tIns="34275">
            <a:normAutofit lnSpcReduction="20000"/>
          </a:bodyPr>
          <a:lstStyle/>
          <a:p>
            <a:pPr indent="0" lvl="0" marL="0" rtl="0" algn="r">
              <a:spcBef>
                <a:spcPts val="0"/>
              </a:spcBef>
              <a:spcAft>
                <a:spcPts val="0"/>
              </a:spcAft>
              <a:buNone/>
            </a:pPr>
            <a:fld id="{00000000-1234-1234-1234-123412341234}" type="slidenum">
              <a:rPr lang="en"/>
              <a:t>‹#›</a:t>
            </a:fld>
            <a:endParaRPr/>
          </a:p>
        </p:txBody>
      </p:sp>
      <p:sp>
        <p:nvSpPr>
          <p:cNvPr id="145" name="Google Shape;145;p20"/>
          <p:cNvSpPr txBox="1"/>
          <p:nvPr/>
        </p:nvSpPr>
        <p:spPr>
          <a:xfrm>
            <a:off x="590663" y="4765711"/>
            <a:ext cx="3899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rPr>
              <a:t>Heumos L. &amp; Schaar A. et al., 2023 Nat. Rev. Genetics </a:t>
            </a:r>
            <a:endParaRPr sz="800"/>
          </a:p>
        </p:txBody>
      </p:sp>
      <p:pic>
        <p:nvPicPr>
          <p:cNvPr id="146" name="Google Shape;146;p20"/>
          <p:cNvPicPr preferRelativeResize="0"/>
          <p:nvPr/>
        </p:nvPicPr>
        <p:blipFill>
          <a:blip r:embed="rId3">
            <a:alphaModFix/>
          </a:blip>
          <a:stretch>
            <a:fillRect/>
          </a:stretch>
        </p:blipFill>
        <p:spPr>
          <a:xfrm>
            <a:off x="992306" y="934263"/>
            <a:ext cx="1692174" cy="3855586"/>
          </a:xfrm>
          <a:prstGeom prst="rect">
            <a:avLst/>
          </a:prstGeom>
          <a:noFill/>
          <a:ln>
            <a:noFill/>
          </a:ln>
        </p:spPr>
      </p:pic>
      <p:sp>
        <p:nvSpPr>
          <p:cNvPr id="147" name="Google Shape;147;p20"/>
          <p:cNvSpPr txBox="1"/>
          <p:nvPr/>
        </p:nvSpPr>
        <p:spPr>
          <a:xfrm>
            <a:off x="-16700" y="559875"/>
            <a:ext cx="3996600" cy="374400"/>
          </a:xfrm>
          <a:prstGeom prst="rect">
            <a:avLst/>
          </a:prstGeom>
          <a:noFill/>
          <a:ln>
            <a:noFill/>
          </a:ln>
        </p:spPr>
        <p:txBody>
          <a:bodyPr anchorCtr="0" anchor="t" bIns="91425" lIns="91425" spcFirstLastPara="1" rIns="91425" wrap="square" tIns="91425">
            <a:noAutofit/>
          </a:bodyPr>
          <a:lstStyle/>
          <a:p>
            <a:pPr indent="-317500" lvl="0" marL="457200" rtl="0" algn="ctr">
              <a:spcBef>
                <a:spcPts val="0"/>
              </a:spcBef>
              <a:spcAft>
                <a:spcPts val="0"/>
              </a:spcAft>
              <a:buClr>
                <a:schemeClr val="dk1"/>
              </a:buClr>
              <a:buSzPts val="1400"/>
              <a:buAutoNum type="arabicPeriod"/>
            </a:pPr>
            <a:r>
              <a:rPr lang="en">
                <a:solidFill>
                  <a:schemeClr val="dk1"/>
                </a:solidFill>
              </a:rPr>
              <a:t>Preprocessing &amp; visualization</a:t>
            </a:r>
            <a:endParaRPr>
              <a:solidFill>
                <a:schemeClr val="dk1"/>
              </a:solidFill>
            </a:endParaRPr>
          </a:p>
        </p:txBody>
      </p:sp>
      <p:grpSp>
        <p:nvGrpSpPr>
          <p:cNvPr id="148" name="Google Shape;148;p20"/>
          <p:cNvGrpSpPr/>
          <p:nvPr/>
        </p:nvGrpSpPr>
        <p:grpSpPr>
          <a:xfrm>
            <a:off x="6194800" y="1044913"/>
            <a:ext cx="2757000" cy="3100933"/>
            <a:chOff x="6194800" y="1044913"/>
            <a:chExt cx="2757000" cy="3100933"/>
          </a:xfrm>
        </p:grpSpPr>
        <p:pic>
          <p:nvPicPr>
            <p:cNvPr id="149" name="Google Shape;149;p20"/>
            <p:cNvPicPr preferRelativeResize="0"/>
            <p:nvPr/>
          </p:nvPicPr>
          <p:blipFill>
            <a:blip r:embed="rId4">
              <a:alphaModFix/>
            </a:blip>
            <a:stretch>
              <a:fillRect/>
            </a:stretch>
          </p:blipFill>
          <p:spPr>
            <a:xfrm>
              <a:off x="6310352" y="1499925"/>
              <a:ext cx="2313373" cy="2645920"/>
            </a:xfrm>
            <a:prstGeom prst="rect">
              <a:avLst/>
            </a:prstGeom>
            <a:noFill/>
            <a:ln>
              <a:noFill/>
            </a:ln>
          </p:spPr>
        </p:pic>
        <p:sp>
          <p:nvSpPr>
            <p:cNvPr id="150" name="Google Shape;150;p20"/>
            <p:cNvSpPr txBox="1"/>
            <p:nvPr/>
          </p:nvSpPr>
          <p:spPr>
            <a:xfrm>
              <a:off x="6194800" y="1044913"/>
              <a:ext cx="27570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3. Revealing mechanisms</a:t>
              </a:r>
              <a:endParaRPr>
                <a:solidFill>
                  <a:schemeClr val="dk1"/>
                </a:solidFill>
              </a:endParaRPr>
            </a:p>
          </p:txBody>
        </p:sp>
      </p:grpSp>
      <p:grpSp>
        <p:nvGrpSpPr>
          <p:cNvPr id="151" name="Google Shape;151;p20"/>
          <p:cNvGrpSpPr/>
          <p:nvPr/>
        </p:nvGrpSpPr>
        <p:grpSpPr>
          <a:xfrm>
            <a:off x="3257975" y="1955725"/>
            <a:ext cx="2757000" cy="2452614"/>
            <a:chOff x="3257975" y="1955725"/>
            <a:chExt cx="2757000" cy="2452614"/>
          </a:xfrm>
        </p:grpSpPr>
        <p:pic>
          <p:nvPicPr>
            <p:cNvPr id="152" name="Google Shape;152;p20"/>
            <p:cNvPicPr preferRelativeResize="0"/>
            <p:nvPr/>
          </p:nvPicPr>
          <p:blipFill>
            <a:blip r:embed="rId5">
              <a:alphaModFix/>
            </a:blip>
            <a:stretch>
              <a:fillRect/>
            </a:stretch>
          </p:blipFill>
          <p:spPr>
            <a:xfrm>
              <a:off x="3428059" y="2443696"/>
              <a:ext cx="2416838" cy="1964644"/>
            </a:xfrm>
            <a:prstGeom prst="rect">
              <a:avLst/>
            </a:prstGeom>
            <a:noFill/>
            <a:ln>
              <a:noFill/>
            </a:ln>
          </p:spPr>
        </p:pic>
        <p:sp>
          <p:nvSpPr>
            <p:cNvPr id="153" name="Google Shape;153;p20"/>
            <p:cNvSpPr txBox="1"/>
            <p:nvPr/>
          </p:nvSpPr>
          <p:spPr>
            <a:xfrm>
              <a:off x="3257975" y="1955725"/>
              <a:ext cx="2757000" cy="3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2. Identifying cellular structures</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113588" y="0"/>
            <a:ext cx="8075700" cy="7959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Single-cell analysis guides</a:t>
            </a:r>
            <a:endParaRPr/>
          </a:p>
        </p:txBody>
      </p:sp>
      <p:sp>
        <p:nvSpPr>
          <p:cNvPr id="160" name="Google Shape;160;p21"/>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1"/>
          <p:cNvSpPr txBox="1"/>
          <p:nvPr/>
        </p:nvSpPr>
        <p:spPr>
          <a:xfrm>
            <a:off x="590663" y="4765711"/>
            <a:ext cx="3899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800">
                <a:solidFill>
                  <a:schemeClr val="dk1"/>
                </a:solidFill>
              </a:rPr>
              <a:t>Heumos L. &amp; Schaar A. et al., 2023 Nat. Rev. Genetics </a:t>
            </a:r>
            <a:endParaRPr sz="800"/>
          </a:p>
        </p:txBody>
      </p:sp>
      <p:grpSp>
        <p:nvGrpSpPr>
          <p:cNvPr id="162" name="Google Shape;162;p21"/>
          <p:cNvGrpSpPr/>
          <p:nvPr/>
        </p:nvGrpSpPr>
        <p:grpSpPr>
          <a:xfrm>
            <a:off x="2123195" y="1404644"/>
            <a:ext cx="4056508" cy="2513487"/>
            <a:chOff x="6575077" y="1894140"/>
            <a:chExt cx="4954211" cy="3069721"/>
          </a:xfrm>
        </p:grpSpPr>
        <p:pic>
          <p:nvPicPr>
            <p:cNvPr descr="Python (programming language) - Wikipedia" id="163" name="Google Shape;163;p21"/>
            <p:cNvPicPr preferRelativeResize="0"/>
            <p:nvPr/>
          </p:nvPicPr>
          <p:blipFill rotWithShape="1">
            <a:blip r:embed="rId3">
              <a:alphaModFix/>
            </a:blip>
            <a:srcRect b="0" l="0" r="0" t="0"/>
            <a:stretch/>
          </p:blipFill>
          <p:spPr>
            <a:xfrm>
              <a:off x="6711593" y="1894140"/>
              <a:ext cx="656000" cy="720000"/>
            </a:xfrm>
            <a:prstGeom prst="rect">
              <a:avLst/>
            </a:prstGeom>
            <a:noFill/>
            <a:ln>
              <a:noFill/>
            </a:ln>
          </p:spPr>
        </p:pic>
        <p:pic>
          <p:nvPicPr>
            <p:cNvPr descr="R (programming language) - Wikipedia" id="164" name="Google Shape;164;p21"/>
            <p:cNvPicPr preferRelativeResize="0"/>
            <p:nvPr/>
          </p:nvPicPr>
          <p:blipFill rotWithShape="1">
            <a:blip r:embed="rId4">
              <a:alphaModFix/>
            </a:blip>
            <a:srcRect b="0" l="0" r="0" t="0"/>
            <a:stretch/>
          </p:blipFill>
          <p:spPr>
            <a:xfrm>
              <a:off x="6575077" y="4243861"/>
              <a:ext cx="929032" cy="720000"/>
            </a:xfrm>
            <a:prstGeom prst="rect">
              <a:avLst/>
            </a:prstGeom>
            <a:noFill/>
            <a:ln>
              <a:noFill/>
            </a:ln>
          </p:spPr>
        </p:pic>
        <p:sp>
          <p:nvSpPr>
            <p:cNvPr id="165" name="Google Shape;165;p21"/>
            <p:cNvSpPr txBox="1"/>
            <p:nvPr/>
          </p:nvSpPr>
          <p:spPr>
            <a:xfrm>
              <a:off x="7504110" y="2022017"/>
              <a:ext cx="3219300" cy="374400"/>
            </a:xfrm>
            <a:prstGeom prst="rect">
              <a:avLst/>
            </a:prstGeom>
            <a:noFill/>
            <a:ln>
              <a:noFill/>
            </a:ln>
          </p:spPr>
          <p:txBody>
            <a:bodyPr anchorCtr="0" anchor="t" bIns="37425" lIns="74850" spcFirstLastPara="1" rIns="74850" wrap="square" tIns="3742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www.sc-best-practices.org/</a:t>
              </a:r>
              <a:endParaRPr sz="1500">
                <a:solidFill>
                  <a:schemeClr val="dk1"/>
                </a:solidFill>
                <a:latin typeface="Calibri"/>
                <a:ea typeface="Calibri"/>
                <a:cs typeface="Calibri"/>
                <a:sym typeface="Calibri"/>
              </a:endParaRPr>
            </a:p>
          </p:txBody>
        </p:sp>
        <p:sp>
          <p:nvSpPr>
            <p:cNvPr id="166" name="Google Shape;166;p21"/>
            <p:cNvSpPr txBox="1"/>
            <p:nvPr/>
          </p:nvSpPr>
          <p:spPr>
            <a:xfrm>
              <a:off x="7567788" y="4482530"/>
              <a:ext cx="3961500" cy="374400"/>
            </a:xfrm>
            <a:prstGeom prst="rect">
              <a:avLst/>
            </a:prstGeom>
            <a:noFill/>
            <a:ln>
              <a:noFill/>
            </a:ln>
          </p:spPr>
          <p:txBody>
            <a:bodyPr anchorCtr="0" anchor="t" bIns="37425" lIns="74850" spcFirstLastPara="1" rIns="74850" wrap="square" tIns="3742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bioconductor.org/books/release/OSCA/</a:t>
              </a:r>
              <a:endParaRPr sz="1100"/>
            </a:p>
          </p:txBody>
        </p:sp>
        <p:cxnSp>
          <p:nvCxnSpPr>
            <p:cNvPr id="167" name="Google Shape;167;p21"/>
            <p:cNvCxnSpPr/>
            <p:nvPr/>
          </p:nvCxnSpPr>
          <p:spPr>
            <a:xfrm>
              <a:off x="7039593" y="2928135"/>
              <a:ext cx="0" cy="1017000"/>
            </a:xfrm>
            <a:prstGeom prst="straightConnector1">
              <a:avLst/>
            </a:prstGeom>
            <a:noFill/>
            <a:ln cap="flat" cmpd="sng" w="10400">
              <a:solidFill>
                <a:schemeClr val="dk1"/>
              </a:solidFill>
              <a:prstDash val="solid"/>
              <a:miter lim="800000"/>
              <a:headEnd len="med" w="med" type="triangle"/>
              <a:tailEnd len="med" w="med" type="triangle"/>
            </a:ln>
          </p:spPr>
        </p:cxnSp>
        <p:sp>
          <p:nvSpPr>
            <p:cNvPr id="168" name="Google Shape;168;p21"/>
            <p:cNvSpPr txBox="1"/>
            <p:nvPr/>
          </p:nvSpPr>
          <p:spPr>
            <a:xfrm>
              <a:off x="7248583" y="3252263"/>
              <a:ext cx="1971600" cy="374400"/>
            </a:xfrm>
            <a:prstGeom prst="rect">
              <a:avLst/>
            </a:prstGeom>
            <a:noFill/>
            <a:ln>
              <a:noFill/>
            </a:ln>
          </p:spPr>
          <p:txBody>
            <a:bodyPr anchorCtr="0" anchor="t" bIns="37425" lIns="74850" spcFirstLastPara="1" rIns="74850" wrap="square" tIns="3742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interoperability</a:t>
              </a:r>
              <a:endParaRPr sz="11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txBox="1"/>
          <p:nvPr>
            <p:ph type="title"/>
          </p:nvPr>
        </p:nvSpPr>
        <p:spPr>
          <a:xfrm>
            <a:off x="113588" y="0"/>
            <a:ext cx="7773000" cy="6816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Python packages to analyze single cell data</a:t>
            </a:r>
            <a:endParaRPr/>
          </a:p>
        </p:txBody>
      </p:sp>
      <p:sp>
        <p:nvSpPr>
          <p:cNvPr id="174" name="Google Shape;174;p22"/>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2"/>
          <p:cNvSpPr txBox="1"/>
          <p:nvPr/>
        </p:nvSpPr>
        <p:spPr>
          <a:xfrm>
            <a:off x="409699" y="804863"/>
            <a:ext cx="8345400" cy="4163700"/>
          </a:xfrm>
          <a:prstGeom prst="rect">
            <a:avLst/>
          </a:prstGeom>
          <a:noFill/>
          <a:ln>
            <a:noFill/>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Python packages are pre-written sets of code that one can simply “load” or “import” onto Jupyter Notebook</a:t>
            </a:r>
            <a:endParaRPr sz="1100"/>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Packages we will rely on mostly:</a:t>
            </a:r>
            <a:endParaRPr sz="1100"/>
          </a:p>
          <a:p>
            <a:pPr indent="-342900" lvl="1" marL="685800" marR="0" rtl="0" algn="l">
              <a:spcBef>
                <a:spcPts val="0"/>
              </a:spcBef>
              <a:spcAft>
                <a:spcPts val="0"/>
              </a:spcAft>
              <a:buClr>
                <a:schemeClr val="dk1"/>
              </a:buClr>
              <a:buSzPts val="1400"/>
              <a:buFont typeface="Calibri"/>
              <a:buAutoNum type="arabicPeriod"/>
            </a:pPr>
            <a:r>
              <a:rPr b="0" i="0" lang="en" sz="1400" u="none" cap="none" strike="noStrike">
                <a:solidFill>
                  <a:schemeClr val="dk1"/>
                </a:solidFill>
                <a:latin typeface="Calibri"/>
                <a:ea typeface="Calibri"/>
                <a:cs typeface="Calibri"/>
                <a:sym typeface="Calibri"/>
              </a:rPr>
              <a:t>Numpy: Working with arrays, matrices</a:t>
            </a:r>
            <a:endParaRPr sz="1100"/>
          </a:p>
          <a:p>
            <a:pPr indent="-342900" lvl="1" marL="685800" marR="0" rtl="0" algn="l">
              <a:spcBef>
                <a:spcPts val="0"/>
              </a:spcBef>
              <a:spcAft>
                <a:spcPts val="0"/>
              </a:spcAft>
              <a:buClr>
                <a:schemeClr val="dk1"/>
              </a:buClr>
              <a:buSzPts val="1400"/>
              <a:buFont typeface="Calibri"/>
              <a:buAutoNum type="arabicPeriod"/>
            </a:pPr>
            <a:r>
              <a:rPr b="0" i="0" lang="en" sz="1400" u="none" cap="none" strike="noStrike">
                <a:solidFill>
                  <a:schemeClr val="dk1"/>
                </a:solidFill>
                <a:latin typeface="Calibri"/>
                <a:ea typeface="Calibri"/>
                <a:cs typeface="Calibri"/>
                <a:sym typeface="Calibri"/>
              </a:rPr>
              <a:t>Pandas: Working with data frames</a:t>
            </a:r>
            <a:endParaRPr sz="1100"/>
          </a:p>
          <a:p>
            <a:pPr indent="-342900" lvl="1" marL="685800" marR="0" rtl="0" algn="l">
              <a:spcBef>
                <a:spcPts val="0"/>
              </a:spcBef>
              <a:spcAft>
                <a:spcPts val="0"/>
              </a:spcAft>
              <a:buClr>
                <a:schemeClr val="dk1"/>
              </a:buClr>
              <a:buSzPts val="1400"/>
              <a:buFont typeface="Calibri"/>
              <a:buAutoNum type="arabicPeriod"/>
            </a:pPr>
            <a:r>
              <a:rPr b="0" i="0" lang="en" sz="1400" u="none" cap="none" strike="noStrike">
                <a:solidFill>
                  <a:schemeClr val="dk1"/>
                </a:solidFill>
                <a:latin typeface="Calibri"/>
                <a:ea typeface="Calibri"/>
                <a:cs typeface="Calibri"/>
                <a:sym typeface="Calibri"/>
              </a:rPr>
              <a:t>Matplotlib: Plotting functions</a:t>
            </a:r>
            <a:endParaRPr sz="1100"/>
          </a:p>
          <a:p>
            <a:pPr indent="-342900" lvl="1" marL="685800" marR="0" rtl="0" algn="l">
              <a:spcBef>
                <a:spcPts val="0"/>
              </a:spcBef>
              <a:spcAft>
                <a:spcPts val="0"/>
              </a:spcAft>
              <a:buClr>
                <a:schemeClr val="dk1"/>
              </a:buClr>
              <a:buSzPts val="1400"/>
              <a:buFont typeface="Calibri"/>
              <a:buAutoNum type="arabicPeriod"/>
            </a:pPr>
            <a:r>
              <a:rPr b="0" i="0" lang="en" sz="1400" u="none" cap="none" strike="noStrike">
                <a:solidFill>
                  <a:schemeClr val="dk1"/>
                </a:solidFill>
                <a:latin typeface="Calibri"/>
                <a:ea typeface="Calibri"/>
                <a:cs typeface="Calibri"/>
                <a:sym typeface="Calibri"/>
              </a:rPr>
              <a:t>Seaborn: Additional plotting functions</a:t>
            </a:r>
            <a:endParaRPr sz="1100"/>
          </a:p>
          <a:p>
            <a:pPr indent="-342900" lvl="1" marL="685800" marR="0" rtl="0" algn="l">
              <a:spcBef>
                <a:spcPts val="0"/>
              </a:spcBef>
              <a:spcAft>
                <a:spcPts val="0"/>
              </a:spcAft>
              <a:buClr>
                <a:schemeClr val="dk1"/>
              </a:buClr>
              <a:buSzPts val="1400"/>
              <a:buFont typeface="Calibri"/>
              <a:buAutoNum type="arabicPeriod"/>
            </a:pPr>
            <a:r>
              <a:rPr b="1" i="0" lang="en" sz="1400" u="none" cap="none" strike="noStrike">
                <a:solidFill>
                  <a:schemeClr val="dk1"/>
                </a:solidFill>
                <a:latin typeface="Calibri"/>
                <a:ea typeface="Calibri"/>
                <a:cs typeface="Calibri"/>
                <a:sym typeface="Calibri"/>
              </a:rPr>
              <a:t>Scanpy: Package developed for single-cell data analysis</a:t>
            </a:r>
            <a:endParaRPr sz="1100"/>
          </a:p>
          <a:p>
            <a:pPr indent="-254000" lvl="1" marL="685800" marR="0" rtl="0" algn="l">
              <a:spcBef>
                <a:spcPts val="0"/>
              </a:spcBef>
              <a:spcAft>
                <a:spcPts val="0"/>
              </a:spcAft>
              <a:buClr>
                <a:schemeClr val="dk1"/>
              </a:buClr>
              <a:buSzPts val="1400"/>
              <a:buFont typeface="Calibri"/>
              <a:buNone/>
            </a:pPr>
            <a:r>
              <a:t/>
            </a:r>
            <a:endParaRPr b="1" i="0" sz="1400" u="none" cap="none" strike="noStrike">
              <a:solidFill>
                <a:schemeClr val="dk1"/>
              </a:solidFill>
              <a:latin typeface="Calibri"/>
              <a:ea typeface="Calibri"/>
              <a:cs typeface="Calibri"/>
              <a:sym typeface="Calibri"/>
            </a:endParaRPr>
          </a:p>
          <a:p>
            <a:pPr indent="-254000" lvl="1" marL="685800" marR="0" rtl="0" algn="l">
              <a:spcBef>
                <a:spcPts val="0"/>
              </a:spcBef>
              <a:spcAft>
                <a:spcPts val="0"/>
              </a:spcAft>
              <a:buClr>
                <a:schemeClr val="dk1"/>
              </a:buClr>
              <a:buSzPts val="1400"/>
              <a:buFont typeface="Calibri"/>
              <a:buNone/>
            </a:pPr>
            <a:r>
              <a:t/>
            </a:r>
            <a:endParaRPr b="1" i="0" sz="1400" u="none" cap="none" strike="noStrike">
              <a:solidFill>
                <a:schemeClr val="dk1"/>
              </a:solidFill>
              <a:latin typeface="Calibri"/>
              <a:ea typeface="Calibri"/>
              <a:cs typeface="Calibri"/>
              <a:sym typeface="Calibri"/>
            </a:endParaRPr>
          </a:p>
          <a:p>
            <a:pPr indent="-254000" lvl="0" marL="342900" marR="0" rtl="0" algn="l">
              <a:spcBef>
                <a:spcPts val="0"/>
              </a:spcBef>
              <a:spcAft>
                <a:spcPts val="0"/>
              </a:spcAft>
              <a:buClr>
                <a:schemeClr val="dk1"/>
              </a:buClr>
              <a:buSzPts val="1400"/>
              <a:buFont typeface="Calibri"/>
              <a:buNone/>
            </a:pPr>
            <a:r>
              <a:t/>
            </a:r>
            <a:endParaRPr b="1"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127000" lvl="0" marL="215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pic>
        <p:nvPicPr>
          <p:cNvPr descr="mage result for scanpy python" id="176" name="Google Shape;176;p22"/>
          <p:cNvPicPr preferRelativeResize="0"/>
          <p:nvPr/>
        </p:nvPicPr>
        <p:blipFill rotWithShape="1">
          <a:blip r:embed="rId3">
            <a:alphaModFix/>
          </a:blip>
          <a:srcRect b="0" l="0" r="0" t="0"/>
          <a:stretch/>
        </p:blipFill>
        <p:spPr>
          <a:xfrm>
            <a:off x="5714305" y="1176917"/>
            <a:ext cx="3238901" cy="1428438"/>
          </a:xfrm>
          <a:prstGeom prst="rect">
            <a:avLst/>
          </a:prstGeom>
          <a:noFill/>
          <a:ln>
            <a:noFill/>
          </a:ln>
        </p:spPr>
      </p:pic>
      <p:sp>
        <p:nvSpPr>
          <p:cNvPr id="177" name="Google Shape;177;p22"/>
          <p:cNvSpPr txBox="1"/>
          <p:nvPr/>
        </p:nvSpPr>
        <p:spPr>
          <a:xfrm>
            <a:off x="485918" y="3230642"/>
            <a:ext cx="78645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Highlights:</a:t>
            </a:r>
            <a:endParaRPr sz="1100"/>
          </a:p>
          <a:p>
            <a:pPr indent="-215900" lvl="0" marL="215900" marR="0" rtl="0" algn="l">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scanpy contains Python implementation of the most widely used single-cell RNA-sequencing methods (Data Normalization, PCA, tSNE, UMAP, Diffusion Maps, trajectory inference, batch correction etc.)</a:t>
            </a:r>
            <a:endParaRPr sz="1100"/>
          </a:p>
          <a:p>
            <a:pPr indent="-215900" lvl="0" marL="215900" marR="0" rtl="0" algn="l">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Developed in Theis’ Lab by Alex Wolf - Wolf et. al. </a:t>
            </a:r>
            <a:r>
              <a:rPr i="1" lang="en" sz="1400">
                <a:solidFill>
                  <a:schemeClr val="dk1"/>
                </a:solidFill>
                <a:latin typeface="Calibri"/>
                <a:ea typeface="Calibri"/>
                <a:cs typeface="Calibri"/>
                <a:sym typeface="Calibri"/>
              </a:rPr>
              <a:t>Genome Biology. </a:t>
            </a:r>
            <a:r>
              <a:rPr lang="en" sz="1400">
                <a:solidFill>
                  <a:schemeClr val="dk1"/>
                </a:solidFill>
                <a:latin typeface="Calibri"/>
                <a:ea typeface="Calibri"/>
                <a:cs typeface="Calibri"/>
                <a:sym typeface="Calibri"/>
              </a:rPr>
              <a:t>(2018)</a:t>
            </a:r>
            <a:endParaRPr sz="1100"/>
          </a:p>
          <a:p>
            <a:pPr indent="-215900" lvl="0" marL="215900" marR="0" rtl="0" algn="l">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A lot of help available online: </a:t>
            </a:r>
            <a:r>
              <a:rPr lang="en" sz="1400" u="sng">
                <a:solidFill>
                  <a:schemeClr val="dk1"/>
                </a:solidFill>
                <a:latin typeface="Calibri"/>
                <a:ea typeface="Calibri"/>
                <a:cs typeface="Calibri"/>
                <a:sym typeface="Calibri"/>
                <a:hlinkClick r:id="rId4">
                  <a:extLst>
                    <a:ext uri="{A12FA001-AC4F-418D-AE19-62706E023703}">
                      <ahyp:hlinkClr val="tx"/>
                    </a:ext>
                  </a:extLst>
                </a:hlinkClick>
              </a:rPr>
              <a:t>https://scanpy.readthedocs.io/en/stable/</a:t>
            </a:r>
            <a:r>
              <a:rPr lang="en" sz="1400">
                <a:solidFill>
                  <a:schemeClr val="dk1"/>
                </a:solidFill>
                <a:latin typeface="Calibri"/>
                <a:ea typeface="Calibri"/>
                <a:cs typeface="Calibri"/>
                <a:sym typeface="Calibri"/>
              </a:rPr>
              <a:t> </a:t>
            </a:r>
            <a:endParaRPr sz="1100"/>
          </a:p>
        </p:txBody>
      </p:sp>
      <p:sp>
        <p:nvSpPr>
          <p:cNvPr id="178" name="Google Shape;178;p22"/>
          <p:cNvSpPr/>
          <p:nvPr/>
        </p:nvSpPr>
        <p:spPr>
          <a:xfrm>
            <a:off x="678450" y="2091244"/>
            <a:ext cx="4613700" cy="256200"/>
          </a:xfrm>
          <a:prstGeom prst="rect">
            <a:avLst/>
          </a:prstGeom>
          <a:solidFill>
            <a:schemeClr val="lt1"/>
          </a:solidFill>
          <a:ln cap="flat" cmpd="sng" w="7150">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113588" y="0"/>
            <a:ext cx="7773000" cy="6816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Anndata structure</a:t>
            </a:r>
            <a:endParaRPr/>
          </a:p>
        </p:txBody>
      </p:sp>
      <p:sp>
        <p:nvSpPr>
          <p:cNvPr id="185" name="Google Shape;185;p23"/>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pic>
        <p:nvPicPr>
          <p:cNvPr id="186" name="Google Shape;186;p23"/>
          <p:cNvPicPr preferRelativeResize="0"/>
          <p:nvPr/>
        </p:nvPicPr>
        <p:blipFill>
          <a:blip r:embed="rId3">
            <a:alphaModFix/>
          </a:blip>
          <a:stretch>
            <a:fillRect/>
          </a:stretch>
        </p:blipFill>
        <p:spPr>
          <a:xfrm>
            <a:off x="2815631" y="642525"/>
            <a:ext cx="4044036" cy="4099443"/>
          </a:xfrm>
          <a:prstGeom prst="rect">
            <a:avLst/>
          </a:prstGeom>
          <a:noFill/>
          <a:ln>
            <a:noFill/>
          </a:ln>
        </p:spPr>
      </p:pic>
      <p:grpSp>
        <p:nvGrpSpPr>
          <p:cNvPr id="187" name="Google Shape;187;p23"/>
          <p:cNvGrpSpPr/>
          <p:nvPr/>
        </p:nvGrpSpPr>
        <p:grpSpPr>
          <a:xfrm>
            <a:off x="5311425" y="565819"/>
            <a:ext cx="3283706" cy="4321481"/>
            <a:chOff x="7081900" y="754425"/>
            <a:chExt cx="4378275" cy="5761975"/>
          </a:xfrm>
        </p:grpSpPr>
        <p:sp>
          <p:nvSpPr>
            <p:cNvPr id="188" name="Google Shape;188;p23"/>
            <p:cNvSpPr txBox="1"/>
            <p:nvPr/>
          </p:nvSpPr>
          <p:spPr>
            <a:xfrm>
              <a:off x="8412175" y="5708500"/>
              <a:ext cx="3048000" cy="807900"/>
            </a:xfrm>
            <a:prstGeom prst="rect">
              <a:avLst/>
            </a:prstGeom>
            <a:noFill/>
            <a:ln cap="flat" cmpd="sng" w="9525">
              <a:solidFill>
                <a:schemeClr val="dk1"/>
              </a:solidFill>
              <a:prstDash val="solid"/>
              <a:round/>
              <a:headEnd len="sm" w="sm" type="none"/>
              <a:tailEnd len="sm" w="sm" type="none"/>
            </a:ln>
          </p:spPr>
          <p:txBody>
            <a:bodyPr anchorCtr="0" anchor="t" bIns="68575" lIns="68575" spcFirstLastPara="1" rIns="68575" wrap="square" tIns="68575">
              <a:noAutofit/>
            </a:bodyPr>
            <a:lstStyle/>
            <a:p>
              <a:pPr indent="0" lvl="0" marL="0" rtl="0" algn="l">
                <a:lnSpc>
                  <a:spcPct val="115000"/>
                </a:lnSpc>
                <a:spcBef>
                  <a:spcPts val="0"/>
                </a:spcBef>
                <a:spcAft>
                  <a:spcPts val="0"/>
                </a:spcAft>
                <a:buClr>
                  <a:schemeClr val="dk1"/>
                </a:buClr>
                <a:buSzPts val="800"/>
                <a:buFont typeface="Arial"/>
                <a:buNone/>
              </a:pPr>
              <a:r>
                <a:rPr lang="en" sz="1400">
                  <a:solidFill>
                    <a:schemeClr val="dk1"/>
                  </a:solidFill>
                  <a:latin typeface="Calibri"/>
                  <a:ea typeface="Calibri"/>
                  <a:cs typeface="Calibri"/>
                  <a:sym typeface="Calibri"/>
                </a:rPr>
                <a:t>Each </a:t>
              </a:r>
              <a:r>
                <a:rPr lang="en" sz="1400">
                  <a:solidFill>
                    <a:srgbClr val="FF0000"/>
                  </a:solidFill>
                  <a:latin typeface="Calibri"/>
                  <a:ea typeface="Calibri"/>
                  <a:cs typeface="Calibri"/>
                  <a:sym typeface="Calibri"/>
                </a:rPr>
                <a:t>column</a:t>
              </a:r>
              <a:r>
                <a:rPr lang="en" sz="1400">
                  <a:solidFill>
                    <a:schemeClr val="dk1"/>
                  </a:solidFill>
                  <a:latin typeface="Calibri"/>
                  <a:ea typeface="Calibri"/>
                  <a:cs typeface="Calibri"/>
                  <a:sym typeface="Calibri"/>
                </a:rPr>
                <a:t> corresponds to the same </a:t>
              </a:r>
              <a:r>
                <a:rPr lang="en" sz="1400">
                  <a:solidFill>
                    <a:srgbClr val="FF0000"/>
                  </a:solidFill>
                  <a:latin typeface="Calibri"/>
                  <a:ea typeface="Calibri"/>
                  <a:cs typeface="Calibri"/>
                  <a:sym typeface="Calibri"/>
                </a:rPr>
                <a:t>gene</a:t>
              </a:r>
              <a:endParaRPr sz="1400">
                <a:solidFill>
                  <a:srgbClr val="FF0000"/>
                </a:solidFill>
                <a:latin typeface="Calibri"/>
                <a:ea typeface="Calibri"/>
                <a:cs typeface="Calibri"/>
                <a:sym typeface="Calibri"/>
              </a:endParaRPr>
            </a:p>
            <a:p>
              <a:pPr indent="0" lvl="0" marL="0" rtl="0" algn="l">
                <a:lnSpc>
                  <a:spcPct val="115000"/>
                </a:lnSpc>
                <a:spcBef>
                  <a:spcPts val="0"/>
                </a:spcBef>
                <a:spcAft>
                  <a:spcPts val="0"/>
                </a:spcAft>
                <a:buNone/>
              </a:pPr>
              <a:r>
                <a:t/>
              </a:r>
              <a:endParaRPr sz="1400">
                <a:solidFill>
                  <a:schemeClr val="dk1"/>
                </a:solidFill>
                <a:latin typeface="Calibri"/>
                <a:ea typeface="Calibri"/>
                <a:cs typeface="Calibri"/>
                <a:sym typeface="Calibri"/>
              </a:endParaRPr>
            </a:p>
          </p:txBody>
        </p:sp>
        <p:sp>
          <p:nvSpPr>
            <p:cNvPr id="189" name="Google Shape;189;p23"/>
            <p:cNvSpPr/>
            <p:nvPr/>
          </p:nvSpPr>
          <p:spPr>
            <a:xfrm>
              <a:off x="7081900" y="754425"/>
              <a:ext cx="107100" cy="5714100"/>
            </a:xfrm>
            <a:prstGeom prst="rect">
              <a:avLst/>
            </a:prstGeom>
            <a:solidFill>
              <a:srgbClr val="FF0000"/>
            </a:solidFill>
            <a:ln cap="flat" cmpd="sng" w="715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grpSp>
        <p:nvGrpSpPr>
          <p:cNvPr id="190" name="Google Shape;190;p23"/>
          <p:cNvGrpSpPr/>
          <p:nvPr/>
        </p:nvGrpSpPr>
        <p:grpSpPr>
          <a:xfrm>
            <a:off x="2724431" y="1716806"/>
            <a:ext cx="6091444" cy="791006"/>
            <a:chOff x="3632575" y="2289075"/>
            <a:chExt cx="8121925" cy="1054675"/>
          </a:xfrm>
        </p:grpSpPr>
        <p:sp>
          <p:nvSpPr>
            <p:cNvPr id="191" name="Google Shape;191;p23"/>
            <p:cNvSpPr txBox="1"/>
            <p:nvPr/>
          </p:nvSpPr>
          <p:spPr>
            <a:xfrm>
              <a:off x="9281900" y="2535850"/>
              <a:ext cx="2472600" cy="807900"/>
            </a:xfrm>
            <a:prstGeom prst="rect">
              <a:avLst/>
            </a:prstGeom>
            <a:noFill/>
            <a:ln cap="flat" cmpd="sng" w="9525">
              <a:solidFill>
                <a:schemeClr val="dk1"/>
              </a:solidFill>
              <a:prstDash val="solid"/>
              <a:round/>
              <a:headEnd len="sm" w="sm" type="none"/>
              <a:tailEnd len="sm" w="sm" type="none"/>
            </a:ln>
          </p:spPr>
          <p:txBody>
            <a:bodyPr anchorCtr="0" anchor="t" bIns="68575" lIns="68575" spcFirstLastPara="1" rIns="68575" wrap="square" tIns="68575">
              <a:noAutofit/>
            </a:bodyPr>
            <a:lstStyle/>
            <a:p>
              <a:pPr indent="0" lvl="0" marL="0" rtl="0" algn="l">
                <a:lnSpc>
                  <a:spcPct val="115000"/>
                </a:lnSpc>
                <a:spcBef>
                  <a:spcPts val="0"/>
                </a:spcBef>
                <a:spcAft>
                  <a:spcPts val="0"/>
                </a:spcAft>
                <a:buNone/>
              </a:pPr>
              <a:r>
                <a:rPr lang="en" sz="1400">
                  <a:solidFill>
                    <a:schemeClr val="dk1"/>
                  </a:solidFill>
                  <a:latin typeface="Calibri"/>
                  <a:ea typeface="Calibri"/>
                  <a:cs typeface="Calibri"/>
                  <a:sym typeface="Calibri"/>
                </a:rPr>
                <a:t>Each </a:t>
              </a:r>
              <a:r>
                <a:rPr lang="en" sz="1400">
                  <a:solidFill>
                    <a:srgbClr val="00FF00"/>
                  </a:solidFill>
                  <a:latin typeface="Calibri"/>
                  <a:ea typeface="Calibri"/>
                  <a:cs typeface="Calibri"/>
                  <a:sym typeface="Calibri"/>
                </a:rPr>
                <a:t>row</a:t>
              </a:r>
              <a:r>
                <a:rPr lang="en" sz="1400">
                  <a:solidFill>
                    <a:schemeClr val="dk1"/>
                  </a:solidFill>
                  <a:latin typeface="Calibri"/>
                  <a:ea typeface="Calibri"/>
                  <a:cs typeface="Calibri"/>
                  <a:sym typeface="Calibri"/>
                </a:rPr>
                <a:t> corresponds to the same </a:t>
              </a:r>
              <a:r>
                <a:rPr lang="en" sz="1400">
                  <a:solidFill>
                    <a:srgbClr val="00FF00"/>
                  </a:solidFill>
                  <a:latin typeface="Calibri"/>
                  <a:ea typeface="Calibri"/>
                  <a:cs typeface="Calibri"/>
                  <a:sym typeface="Calibri"/>
                </a:rPr>
                <a:t>cell</a:t>
              </a:r>
              <a:endParaRPr sz="2100">
                <a:solidFill>
                  <a:srgbClr val="00FF00"/>
                </a:solidFill>
                <a:latin typeface="Calibri"/>
                <a:ea typeface="Calibri"/>
                <a:cs typeface="Calibri"/>
                <a:sym typeface="Calibri"/>
              </a:endParaRPr>
            </a:p>
          </p:txBody>
        </p:sp>
        <p:sp>
          <p:nvSpPr>
            <p:cNvPr id="192" name="Google Shape;192;p23"/>
            <p:cNvSpPr/>
            <p:nvPr/>
          </p:nvSpPr>
          <p:spPr>
            <a:xfrm rot="5400000">
              <a:off x="6510775" y="-589125"/>
              <a:ext cx="107100" cy="5863500"/>
            </a:xfrm>
            <a:prstGeom prst="rect">
              <a:avLst/>
            </a:prstGeom>
            <a:solidFill>
              <a:srgbClr val="00FF00"/>
            </a:solidFill>
            <a:ln cap="flat" cmpd="sng" w="7150">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193" name="Google Shape;193;p23"/>
          <p:cNvSpPr txBox="1"/>
          <p:nvPr/>
        </p:nvSpPr>
        <p:spPr>
          <a:xfrm>
            <a:off x="215888" y="1287563"/>
            <a:ext cx="2220600" cy="18735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0"/>
              </a:spcBef>
              <a:spcAft>
                <a:spcPts val="0"/>
              </a:spcAft>
              <a:buClr>
                <a:schemeClr val="dk1"/>
              </a:buClr>
              <a:buSzPts val="800"/>
              <a:buFont typeface="Arial"/>
              <a:buNone/>
            </a:pPr>
            <a:r>
              <a:rPr lang="en" sz="1400">
                <a:solidFill>
                  <a:schemeClr val="dk1"/>
                </a:solidFill>
              </a:rPr>
              <a:t>•</a:t>
            </a:r>
            <a:r>
              <a:rPr lang="en" sz="1400">
                <a:solidFill>
                  <a:schemeClr val="dk1"/>
                </a:solidFill>
                <a:latin typeface="Calibri"/>
                <a:ea typeface="Calibri"/>
                <a:cs typeface="Calibri"/>
                <a:sym typeface="Calibri"/>
              </a:rPr>
              <a:t>Easy way to track all data/metadata</a:t>
            </a:r>
            <a:endParaRPr sz="14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800"/>
              <a:buFont typeface="Arial"/>
              <a:buNone/>
            </a:pPr>
            <a:r>
              <a:rPr lang="en" sz="1400">
                <a:solidFill>
                  <a:schemeClr val="dk1"/>
                </a:solidFill>
              </a:rPr>
              <a:t>•</a:t>
            </a:r>
            <a:r>
              <a:rPr lang="en" sz="1400">
                <a:solidFill>
                  <a:schemeClr val="dk1"/>
                </a:solidFill>
                <a:latin typeface="Calibri"/>
                <a:ea typeface="Calibri"/>
                <a:cs typeface="Calibri"/>
                <a:sym typeface="Calibri"/>
              </a:rPr>
              <a:t>Effective when one gets deep into data analysis and meta data start accumulating</a:t>
            </a:r>
            <a:endParaRPr sz="14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94" name="Google Shape;194;p23"/>
          <p:cNvSpPr txBox="1"/>
          <p:nvPr/>
        </p:nvSpPr>
        <p:spPr>
          <a:xfrm>
            <a:off x="215888" y="4063144"/>
            <a:ext cx="4275600" cy="601800"/>
          </a:xfrm>
          <a:prstGeom prst="rect">
            <a:avLst/>
          </a:prstGeom>
          <a:noFill/>
          <a:ln>
            <a:noFill/>
          </a:ln>
        </p:spPr>
        <p:txBody>
          <a:bodyPr anchorCtr="0" anchor="t" bIns="68575" lIns="68575" spcFirstLastPara="1" rIns="68575" wrap="square" tIns="68575">
            <a:spAutoFit/>
          </a:bodyPr>
          <a:lstStyle/>
          <a:p>
            <a:pPr indent="0" lvl="0" marL="0" rtl="0" algn="l">
              <a:lnSpc>
                <a:spcPct val="115000"/>
              </a:lnSpc>
              <a:spcBef>
                <a:spcPts val="0"/>
              </a:spcBef>
              <a:spcAft>
                <a:spcPts val="0"/>
              </a:spcAft>
              <a:buNone/>
            </a:pPr>
            <a:r>
              <a:rPr lang="en" sz="1400">
                <a:solidFill>
                  <a:schemeClr val="dk1"/>
                </a:solidFill>
                <a:latin typeface="Calibri"/>
                <a:ea typeface="Calibri"/>
                <a:cs typeface="Calibri"/>
                <a:sym typeface="Calibri"/>
              </a:rPr>
              <a:t>scanpy uses the annotated data structure </a:t>
            </a:r>
            <a:endParaRPr sz="14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 sz="1400">
                <a:solidFill>
                  <a:schemeClr val="dk1"/>
                </a:solidFill>
                <a:latin typeface="Calibri"/>
                <a:ea typeface="Calibri"/>
                <a:cs typeface="Calibri"/>
                <a:sym typeface="Calibri"/>
              </a:rPr>
              <a:t>(https://anndata.readthedocs.io/en/latest/index.html)</a:t>
            </a:r>
            <a:endParaRPr sz="1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nvSpPr>
        <p:spPr>
          <a:xfrm>
            <a:off x="363376" y="578200"/>
            <a:ext cx="5883300" cy="137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5200">
                <a:solidFill>
                  <a:srgbClr val="024C73"/>
                </a:solidFill>
                <a:latin typeface="Inter"/>
                <a:ea typeface="Inter"/>
                <a:cs typeface="Inter"/>
                <a:sym typeface="Inter"/>
              </a:rPr>
              <a:t>AnnData</a:t>
            </a:r>
            <a:endParaRPr b="1" sz="5200">
              <a:solidFill>
                <a:srgbClr val="024C73"/>
              </a:solidFill>
              <a:latin typeface="Inter"/>
              <a:ea typeface="Inter"/>
              <a:cs typeface="Inter"/>
              <a:sym typeface="Inter"/>
            </a:endParaRPr>
          </a:p>
          <a:p>
            <a:pPr indent="0" lvl="0" marL="0" rtl="0" algn="l">
              <a:spcBef>
                <a:spcPts val="0"/>
              </a:spcBef>
              <a:spcAft>
                <a:spcPts val="0"/>
              </a:spcAft>
              <a:buNone/>
            </a:pPr>
            <a:r>
              <a:rPr b="1" lang="en" sz="5200">
                <a:solidFill>
                  <a:srgbClr val="024C73"/>
                </a:solidFill>
                <a:latin typeface="Inter"/>
                <a:ea typeface="Inter"/>
                <a:cs typeface="Inter"/>
                <a:sym typeface="Inter"/>
              </a:rPr>
              <a:t>Introduction</a:t>
            </a:r>
            <a:endParaRPr b="1" sz="5200">
              <a:solidFill>
                <a:srgbClr val="024C73"/>
              </a:solidFill>
              <a:latin typeface="Inter"/>
              <a:ea typeface="Inter"/>
              <a:cs typeface="Inter"/>
              <a:sym typeface="Inter"/>
            </a:endParaRPr>
          </a:p>
        </p:txBody>
      </p:sp>
      <p:pic>
        <p:nvPicPr>
          <p:cNvPr id="200" name="Google Shape;200;p24"/>
          <p:cNvPicPr preferRelativeResize="0"/>
          <p:nvPr/>
        </p:nvPicPr>
        <p:blipFill>
          <a:blip r:embed="rId3">
            <a:alphaModFix/>
          </a:blip>
          <a:stretch>
            <a:fillRect/>
          </a:stretch>
        </p:blipFill>
        <p:spPr>
          <a:xfrm>
            <a:off x="363375" y="4606375"/>
            <a:ext cx="1254200" cy="418274"/>
          </a:xfrm>
          <a:prstGeom prst="rect">
            <a:avLst/>
          </a:prstGeom>
          <a:noFill/>
          <a:ln>
            <a:noFill/>
          </a:ln>
        </p:spPr>
      </p:pic>
      <p:sp>
        <p:nvSpPr>
          <p:cNvPr id="201" name="Google Shape;201;p24"/>
          <p:cNvSpPr/>
          <p:nvPr/>
        </p:nvSpPr>
        <p:spPr>
          <a:xfrm>
            <a:off x="4843550" y="-128250"/>
            <a:ext cx="5400000" cy="5400000"/>
          </a:xfrm>
          <a:prstGeom prst="ellipse">
            <a:avLst/>
          </a:prstGeom>
          <a:solidFill>
            <a:srgbClr val="8DB6B0">
              <a:alpha val="405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a:off x="6457875" y="1311750"/>
            <a:ext cx="2520000" cy="2520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 name="Google Shape;203;p24" title="scverse_trademark.png"/>
          <p:cNvPicPr preferRelativeResize="0"/>
          <p:nvPr/>
        </p:nvPicPr>
        <p:blipFill>
          <a:blip r:embed="rId4">
            <a:alphaModFix/>
          </a:blip>
          <a:stretch>
            <a:fillRect/>
          </a:stretch>
        </p:blipFill>
        <p:spPr>
          <a:xfrm>
            <a:off x="6716650" y="1529599"/>
            <a:ext cx="1920425" cy="192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p:nvPr/>
        </p:nvSpPr>
        <p:spPr>
          <a:xfrm>
            <a:off x="69450" y="1914925"/>
            <a:ext cx="4791300" cy="14586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5"/>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Courier New"/>
                <a:ea typeface="Courier New"/>
                <a:cs typeface="Courier New"/>
                <a:sym typeface="Courier New"/>
              </a:rPr>
              <a:t>anndata</a:t>
            </a:r>
            <a:r>
              <a:rPr b="1" lang="en" sz="3000">
                <a:latin typeface="Inter"/>
                <a:ea typeface="Inter"/>
                <a:cs typeface="Inter"/>
                <a:sym typeface="Inter"/>
              </a:rPr>
              <a:t> Packages</a:t>
            </a:r>
            <a:endParaRPr b="1" sz="3000">
              <a:latin typeface="Inter"/>
              <a:ea typeface="Inter"/>
              <a:cs typeface="Inter"/>
              <a:sym typeface="Inter"/>
            </a:endParaRPr>
          </a:p>
        </p:txBody>
      </p:sp>
      <p:sp>
        <p:nvSpPr>
          <p:cNvPr id="210" name="Google Shape;210;p25"/>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5"/>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5"/>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Overview</a:t>
            </a:r>
            <a:endParaRPr sz="1700">
              <a:solidFill>
                <a:srgbClr val="333333"/>
              </a:solidFill>
              <a:latin typeface="Inter"/>
              <a:ea typeface="Inter"/>
              <a:cs typeface="Inter"/>
              <a:sym typeface="Inter"/>
            </a:endParaRPr>
          </a:p>
        </p:txBody>
      </p:sp>
      <p:sp>
        <p:nvSpPr>
          <p:cNvPr id="213" name="Google Shape;213;p25"/>
          <p:cNvSpPr txBox="1"/>
          <p:nvPr>
            <p:ph idx="4294967295" type="body"/>
          </p:nvPr>
        </p:nvSpPr>
        <p:spPr>
          <a:xfrm>
            <a:off x="161825" y="2057176"/>
            <a:ext cx="4791300" cy="1395600"/>
          </a:xfrm>
          <a:prstGeom prst="rect">
            <a:avLst/>
          </a:prstGeom>
          <a:noFill/>
          <a:ln>
            <a:noFill/>
          </a:ln>
        </p:spPr>
        <p:txBody>
          <a:bodyPr anchorCtr="0" anchor="t" bIns="19050" lIns="19050" spcFirstLastPara="1" rIns="19050" wrap="square" tIns="19050">
            <a:normAutofit/>
          </a:bodyPr>
          <a:lstStyle/>
          <a:p>
            <a:pPr indent="-177800" lvl="0" marL="190500" rtl="0" algn="l">
              <a:lnSpc>
                <a:spcPct val="100000"/>
              </a:lnSpc>
              <a:spcBef>
                <a:spcPts val="0"/>
              </a:spcBef>
              <a:spcAft>
                <a:spcPts val="0"/>
              </a:spcAft>
              <a:buClr>
                <a:srgbClr val="000000"/>
              </a:buClr>
              <a:buSzPts val="1600"/>
              <a:buFont typeface="Inter"/>
              <a:buChar char="●"/>
            </a:pPr>
            <a:r>
              <a:rPr lang="en" sz="1600">
                <a:latin typeface="Courier New"/>
                <a:ea typeface="Courier New"/>
                <a:cs typeface="Courier New"/>
                <a:sym typeface="Courier New"/>
              </a:rPr>
              <a:t>anndata.AnnData</a:t>
            </a:r>
            <a:r>
              <a:rPr lang="en" sz="1600">
                <a:latin typeface="Inter"/>
                <a:ea typeface="Inter"/>
                <a:cs typeface="Inter"/>
                <a:sym typeface="Inter"/>
              </a:rPr>
              <a:t> object</a:t>
            </a:r>
            <a:endParaRPr sz="1600">
              <a:latin typeface="Inter"/>
              <a:ea typeface="Inter"/>
              <a:cs typeface="Inter"/>
              <a:sym typeface="Inter"/>
            </a:endParaRPr>
          </a:p>
          <a:p>
            <a:pPr indent="-177800" lvl="0" marL="190500" rtl="0" algn="l">
              <a:lnSpc>
                <a:spcPct val="100000"/>
              </a:lnSpc>
              <a:spcBef>
                <a:spcPts val="0"/>
              </a:spcBef>
              <a:spcAft>
                <a:spcPts val="0"/>
              </a:spcAft>
              <a:buSzPts val="1600"/>
              <a:buFont typeface="Courier New"/>
              <a:buChar char="●"/>
            </a:pPr>
            <a:r>
              <a:rPr lang="en" sz="1600">
                <a:latin typeface="Courier New"/>
                <a:ea typeface="Courier New"/>
                <a:cs typeface="Courier New"/>
                <a:sym typeface="Courier New"/>
              </a:rPr>
              <a:t>anndata.concat </a:t>
            </a:r>
            <a:r>
              <a:rPr lang="en" sz="1600"/>
              <a:t>for combining</a:t>
            </a:r>
            <a:endParaRPr sz="1600"/>
          </a:p>
          <a:p>
            <a:pPr indent="-177800" lvl="0" marL="190500" rtl="0" algn="l">
              <a:lnSpc>
                <a:spcPct val="100000"/>
              </a:lnSpc>
              <a:spcBef>
                <a:spcPts val="0"/>
              </a:spcBef>
              <a:spcAft>
                <a:spcPts val="0"/>
              </a:spcAft>
              <a:buSzPts val="1600"/>
              <a:buFont typeface="Courier New"/>
              <a:buChar char="●"/>
            </a:pPr>
            <a:r>
              <a:rPr lang="en" sz="1600">
                <a:latin typeface="Courier New"/>
                <a:ea typeface="Courier New"/>
                <a:cs typeface="Courier New"/>
                <a:sym typeface="Courier New"/>
              </a:rPr>
              <a:t>anndata.io</a:t>
            </a:r>
            <a:r>
              <a:rPr lang="en" sz="1600"/>
              <a:t> submodule</a:t>
            </a:r>
            <a:endParaRPr sz="1600"/>
          </a:p>
          <a:p>
            <a:pPr indent="-177800" lvl="0" marL="190500" rtl="0" algn="l">
              <a:lnSpc>
                <a:spcPct val="100000"/>
              </a:lnSpc>
              <a:spcBef>
                <a:spcPts val="0"/>
              </a:spcBef>
              <a:spcAft>
                <a:spcPts val="0"/>
              </a:spcAft>
              <a:buSzPts val="1600"/>
              <a:buFont typeface="Courier New"/>
              <a:buChar char="●"/>
            </a:pPr>
            <a:r>
              <a:rPr lang="en" sz="1600">
                <a:latin typeface="Courier New"/>
                <a:ea typeface="Courier New"/>
                <a:cs typeface="Courier New"/>
                <a:sym typeface="Courier New"/>
              </a:rPr>
              <a:t>anndata.experimental </a:t>
            </a:r>
            <a:r>
              <a:rPr lang="en" sz="1600"/>
              <a:t>submodule</a:t>
            </a:r>
            <a:endParaRPr sz="1600">
              <a:latin typeface="Courier New"/>
              <a:ea typeface="Courier New"/>
              <a:cs typeface="Courier New"/>
              <a:sym typeface="Courier New"/>
            </a:endParaRPr>
          </a:p>
        </p:txBody>
      </p:sp>
      <p:pic>
        <p:nvPicPr>
          <p:cNvPr descr="schema-cartoon-02.png" id="214" name="Google Shape;214;p25"/>
          <p:cNvPicPr preferRelativeResize="0"/>
          <p:nvPr/>
        </p:nvPicPr>
        <p:blipFill rotWithShape="1">
          <a:blip r:embed="rId3">
            <a:alphaModFix/>
          </a:blip>
          <a:srcRect b="0" l="0" r="0" t="0"/>
          <a:stretch/>
        </p:blipFill>
        <p:spPr>
          <a:xfrm>
            <a:off x="4069789" y="1059712"/>
            <a:ext cx="5034610" cy="3776844"/>
          </a:xfrm>
          <a:prstGeom prst="rect">
            <a:avLst/>
          </a:prstGeom>
          <a:noFill/>
          <a:ln>
            <a:noFill/>
          </a:ln>
        </p:spPr>
      </p:pic>
      <p:sp>
        <p:nvSpPr>
          <p:cNvPr id="215" name="Google Shape;21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p:nvPr/>
        </p:nvSpPr>
        <p:spPr>
          <a:xfrm>
            <a:off x="69450" y="1339450"/>
            <a:ext cx="4980900" cy="23814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6"/>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22" name="Google Shape;222;p26"/>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6"/>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pic>
        <p:nvPicPr>
          <p:cNvPr descr="schema-cartoon-02.png" id="225" name="Google Shape;225;p26"/>
          <p:cNvPicPr preferRelativeResize="0"/>
          <p:nvPr/>
        </p:nvPicPr>
        <p:blipFill rotWithShape="1">
          <a:blip r:embed="rId3">
            <a:alphaModFix/>
          </a:blip>
          <a:srcRect b="49467" l="56653" r="20814" t="14851"/>
          <a:stretch/>
        </p:blipFill>
        <p:spPr>
          <a:xfrm>
            <a:off x="6922125" y="1620575"/>
            <a:ext cx="1134453" cy="1347673"/>
          </a:xfrm>
          <a:prstGeom prst="rect">
            <a:avLst/>
          </a:prstGeom>
          <a:noFill/>
          <a:ln>
            <a:noFill/>
          </a:ln>
        </p:spPr>
      </p:pic>
      <p:sp>
        <p:nvSpPr>
          <p:cNvPr id="226" name="Google Shape;226;p26"/>
          <p:cNvSpPr txBox="1"/>
          <p:nvPr>
            <p:ph idx="4294967295" type="body"/>
          </p:nvPr>
        </p:nvSpPr>
        <p:spPr>
          <a:xfrm>
            <a:off x="69450" y="1440096"/>
            <a:ext cx="4791300" cy="2180100"/>
          </a:xfrm>
          <a:prstGeom prst="rect">
            <a:avLst/>
          </a:prstGeom>
          <a:noFill/>
          <a:ln>
            <a:noFill/>
          </a:ln>
        </p:spPr>
        <p:txBody>
          <a:bodyPr anchorCtr="0" anchor="t" bIns="19050" lIns="19050" spcFirstLastPara="1" rIns="19050" wrap="square" tIns="19050">
            <a:normAutofit fontScale="92500" lnSpcReduction="10000"/>
          </a:bodyPr>
          <a:lstStyle/>
          <a:p>
            <a:pPr indent="-328453" lvl="0" marL="457200" rtl="0" algn="l">
              <a:lnSpc>
                <a:spcPct val="100000"/>
              </a:lnSpc>
              <a:spcBef>
                <a:spcPts val="0"/>
              </a:spcBef>
              <a:spcAft>
                <a:spcPts val="0"/>
              </a:spcAft>
              <a:buSzPct val="106250"/>
              <a:buFont typeface="Inter"/>
              <a:buChar char="●"/>
            </a:pPr>
            <a:r>
              <a:rPr lang="en" sz="1600">
                <a:latin typeface="Courier New"/>
                <a:ea typeface="Courier New"/>
                <a:cs typeface="Courier New"/>
                <a:sym typeface="Courier New"/>
              </a:rPr>
              <a:t>X</a:t>
            </a:r>
            <a:r>
              <a:rPr lang="en" sz="1600">
                <a:latin typeface="Inter"/>
                <a:ea typeface="Inter"/>
                <a:cs typeface="Inter"/>
                <a:sym typeface="Inter"/>
              </a:rPr>
              <a:t> Element</a:t>
            </a:r>
            <a:endParaRPr sz="1600">
              <a:latin typeface="Inter"/>
              <a:ea typeface="Inter"/>
              <a:cs typeface="Inter"/>
              <a:sym typeface="Inter"/>
            </a:endParaRPr>
          </a:p>
          <a:p>
            <a:pPr indent="-322580" lvl="1" marL="914400" rtl="0" algn="l">
              <a:lnSpc>
                <a:spcPct val="100000"/>
              </a:lnSpc>
              <a:spcBef>
                <a:spcPts val="0"/>
              </a:spcBef>
              <a:spcAft>
                <a:spcPts val="0"/>
              </a:spcAft>
              <a:buSzPct val="100000"/>
              <a:buFont typeface="Inter"/>
              <a:buChar char="○"/>
            </a:pPr>
            <a:r>
              <a:rPr lang="en" sz="1600">
                <a:latin typeface="Inter"/>
                <a:ea typeface="Inter"/>
                <a:cs typeface="Inter"/>
                <a:sym typeface="Inter"/>
              </a:rPr>
              <a:t>Main EXperimental data readout i.e., </a:t>
            </a:r>
            <a:r>
              <a:rPr b="1" lang="en" sz="1600">
                <a:latin typeface="Inter"/>
                <a:ea typeface="Inter"/>
                <a:cs typeface="Inter"/>
                <a:sym typeface="Inter"/>
              </a:rPr>
              <a:t>observation (</a:t>
            </a:r>
            <a:r>
              <a:rPr b="1" lang="en" sz="1600">
                <a:latin typeface="Courier New"/>
                <a:ea typeface="Courier New"/>
                <a:cs typeface="Courier New"/>
                <a:sym typeface="Courier New"/>
              </a:rPr>
              <a:t>obs</a:t>
            </a:r>
            <a:r>
              <a:rPr b="1" lang="en" sz="1600">
                <a:latin typeface="Inter"/>
                <a:ea typeface="Inter"/>
                <a:cs typeface="Inter"/>
                <a:sym typeface="Inter"/>
              </a:rPr>
              <a:t>) by feature (</a:t>
            </a:r>
            <a:r>
              <a:rPr b="1" lang="en" sz="1600">
                <a:latin typeface="Courier New"/>
                <a:ea typeface="Courier New"/>
                <a:cs typeface="Courier New"/>
                <a:sym typeface="Courier New"/>
              </a:rPr>
              <a:t>var</a:t>
            </a:r>
            <a:r>
              <a:rPr b="1" lang="en" sz="1600">
                <a:latin typeface="Inter"/>
                <a:ea typeface="Inter"/>
                <a:cs typeface="Inter"/>
                <a:sym typeface="Inter"/>
              </a:rPr>
              <a:t>) matrix</a:t>
            </a:r>
            <a:endParaRPr b="1" sz="1600">
              <a:latin typeface="Inter"/>
              <a:ea typeface="Inter"/>
              <a:cs typeface="Inter"/>
              <a:sym typeface="Inter"/>
            </a:endParaRPr>
          </a:p>
          <a:p>
            <a:pPr indent="-322580" lvl="2" marL="1371600" rtl="0" algn="l">
              <a:lnSpc>
                <a:spcPct val="100000"/>
              </a:lnSpc>
              <a:spcBef>
                <a:spcPts val="0"/>
              </a:spcBef>
              <a:spcAft>
                <a:spcPts val="0"/>
              </a:spcAft>
              <a:buSzPct val="100000"/>
              <a:buFont typeface="Inter"/>
              <a:buChar char="■"/>
            </a:pPr>
            <a:r>
              <a:rPr lang="en" sz="1600">
                <a:latin typeface="Inter"/>
                <a:ea typeface="Inter"/>
                <a:cs typeface="Inter"/>
                <a:sym typeface="Inter"/>
              </a:rPr>
              <a:t>Cell-x-gene counts</a:t>
            </a:r>
            <a:endParaRPr sz="1600">
              <a:latin typeface="Inter"/>
              <a:ea typeface="Inter"/>
              <a:cs typeface="Inter"/>
              <a:sym typeface="Inter"/>
            </a:endParaRPr>
          </a:p>
          <a:p>
            <a:pPr indent="-322580" lvl="2" marL="1371600" rtl="0" algn="l">
              <a:lnSpc>
                <a:spcPct val="100000"/>
              </a:lnSpc>
              <a:spcBef>
                <a:spcPts val="0"/>
              </a:spcBef>
              <a:spcAft>
                <a:spcPts val="0"/>
              </a:spcAft>
              <a:buSzPct val="100000"/>
              <a:buFont typeface="Inter"/>
              <a:buChar char="■"/>
            </a:pPr>
            <a:r>
              <a:rPr lang="en" sz="1600">
                <a:latin typeface="Inter"/>
                <a:ea typeface="Inter"/>
                <a:cs typeface="Inter"/>
                <a:sym typeface="Inter"/>
              </a:rPr>
              <a:t>Glomeruli-x-protein abundance</a:t>
            </a:r>
            <a:endParaRPr sz="1600">
              <a:latin typeface="Inter"/>
              <a:ea typeface="Inter"/>
              <a:cs typeface="Inter"/>
              <a:sym typeface="Inter"/>
            </a:endParaRPr>
          </a:p>
          <a:p>
            <a:pPr indent="-322580" lvl="2" marL="1371600" rtl="0" algn="l">
              <a:lnSpc>
                <a:spcPct val="100000"/>
              </a:lnSpc>
              <a:spcBef>
                <a:spcPts val="0"/>
              </a:spcBef>
              <a:spcAft>
                <a:spcPts val="0"/>
              </a:spcAft>
              <a:buSzPct val="100000"/>
              <a:buFont typeface="Inter"/>
              <a:buChar char="■"/>
            </a:pPr>
            <a:r>
              <a:rPr lang="en" sz="1600">
                <a:latin typeface="Inter"/>
                <a:ea typeface="Inter"/>
                <a:cs typeface="Inter"/>
                <a:sym typeface="Inter"/>
              </a:rPr>
              <a:t>Patient-x-disease state</a:t>
            </a:r>
            <a:endParaRPr sz="1600">
              <a:latin typeface="Inter"/>
              <a:ea typeface="Inter"/>
              <a:cs typeface="Inter"/>
              <a:sym typeface="Inter"/>
            </a:endParaRPr>
          </a:p>
          <a:p>
            <a:pPr indent="-322580" lvl="1" marL="914400" rtl="0" algn="l">
              <a:lnSpc>
                <a:spcPct val="100000"/>
              </a:lnSpc>
              <a:spcBef>
                <a:spcPts val="0"/>
              </a:spcBef>
              <a:spcAft>
                <a:spcPts val="0"/>
              </a:spcAft>
              <a:buSzPct val="100000"/>
              <a:buFont typeface="Inter"/>
              <a:buChar char="○"/>
            </a:pPr>
            <a:r>
              <a:rPr lang="en" sz="1600">
                <a:latin typeface="Inter"/>
                <a:ea typeface="Inter"/>
                <a:cs typeface="Inter"/>
                <a:sym typeface="Inter"/>
              </a:rPr>
              <a:t>Sparse (</a:t>
            </a:r>
            <a:r>
              <a:rPr lang="en" sz="1600">
                <a:latin typeface="Courier New"/>
                <a:ea typeface="Courier New"/>
                <a:cs typeface="Courier New"/>
                <a:sym typeface="Courier New"/>
              </a:rPr>
              <a:t>{scipy,cupyx}.sparse.cs{c,r}_{matrix,array}</a:t>
            </a:r>
            <a:r>
              <a:rPr lang="en" sz="1600"/>
              <a:t>)</a:t>
            </a:r>
            <a:r>
              <a:rPr lang="en" sz="1600">
                <a:latin typeface="Inter"/>
                <a:ea typeface="Inter"/>
                <a:cs typeface="Inter"/>
                <a:sym typeface="Inter"/>
              </a:rPr>
              <a:t> or dense (</a:t>
            </a:r>
            <a:r>
              <a:rPr lang="en" sz="1600">
                <a:latin typeface="Courier New"/>
                <a:ea typeface="Courier New"/>
                <a:cs typeface="Courier New"/>
                <a:sym typeface="Courier New"/>
              </a:rPr>
              <a:t>{numpy,cupy}.ndarray</a:t>
            </a:r>
            <a:r>
              <a:rPr lang="en" sz="1600"/>
              <a:t>)</a:t>
            </a:r>
            <a:r>
              <a:rPr lang="en" sz="1600">
                <a:latin typeface="Inter"/>
                <a:ea typeface="Inter"/>
                <a:cs typeface="Inter"/>
                <a:sym typeface="Inter"/>
              </a:rPr>
              <a:t> matrix</a:t>
            </a:r>
            <a:endParaRPr sz="1600">
              <a:latin typeface="Inter"/>
              <a:ea typeface="Inter"/>
              <a:cs typeface="Inter"/>
              <a:sym typeface="Inter"/>
            </a:endParaRPr>
          </a:p>
        </p:txBody>
      </p:sp>
      <p:pic>
        <p:nvPicPr>
          <p:cNvPr id="227" name="Google Shape;227;p26"/>
          <p:cNvPicPr preferRelativeResize="0"/>
          <p:nvPr/>
        </p:nvPicPr>
        <p:blipFill>
          <a:blip r:embed="rId4">
            <a:alphaModFix/>
          </a:blip>
          <a:stretch>
            <a:fillRect/>
          </a:stretch>
        </p:blipFill>
        <p:spPr>
          <a:xfrm>
            <a:off x="6335150" y="516662"/>
            <a:ext cx="1051975" cy="1051975"/>
          </a:xfrm>
          <a:prstGeom prst="rect">
            <a:avLst/>
          </a:prstGeom>
          <a:noFill/>
          <a:ln>
            <a:noFill/>
          </a:ln>
        </p:spPr>
      </p:pic>
      <p:pic>
        <p:nvPicPr>
          <p:cNvPr id="228" name="Google Shape;228;p26"/>
          <p:cNvPicPr preferRelativeResize="0"/>
          <p:nvPr/>
        </p:nvPicPr>
        <p:blipFill>
          <a:blip r:embed="rId5">
            <a:alphaModFix/>
          </a:blip>
          <a:stretch>
            <a:fillRect/>
          </a:stretch>
        </p:blipFill>
        <p:spPr>
          <a:xfrm>
            <a:off x="7473063" y="516663"/>
            <a:ext cx="1051976" cy="1051976"/>
          </a:xfrm>
          <a:prstGeom prst="rect">
            <a:avLst/>
          </a:prstGeom>
          <a:noFill/>
          <a:ln>
            <a:noFill/>
          </a:ln>
        </p:spPr>
      </p:pic>
      <p:cxnSp>
        <p:nvCxnSpPr>
          <p:cNvPr id="229" name="Google Shape;229;p26"/>
          <p:cNvCxnSpPr>
            <a:stCxn id="230" idx="0"/>
          </p:cNvCxnSpPr>
          <p:nvPr/>
        </p:nvCxnSpPr>
        <p:spPr>
          <a:xfrm flipH="1" rot="10800000">
            <a:off x="6635488" y="2996400"/>
            <a:ext cx="349500" cy="466500"/>
          </a:xfrm>
          <a:prstGeom prst="straightConnector1">
            <a:avLst/>
          </a:prstGeom>
          <a:noFill/>
          <a:ln cap="flat" cmpd="sng" w="9525">
            <a:solidFill>
              <a:srgbClr val="FF0000"/>
            </a:solidFill>
            <a:prstDash val="solid"/>
            <a:round/>
            <a:headEnd len="med" w="med" type="none"/>
            <a:tailEnd len="med" w="med" type="triangle"/>
          </a:ln>
        </p:spPr>
      </p:cxnSp>
      <p:sp>
        <p:nvSpPr>
          <p:cNvPr id="230" name="Google Shape;230;p26"/>
          <p:cNvSpPr/>
          <p:nvPr/>
        </p:nvSpPr>
        <p:spPr>
          <a:xfrm>
            <a:off x="5010088" y="3462900"/>
            <a:ext cx="3250800" cy="15045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6"/>
          <p:cNvSpPr txBox="1"/>
          <p:nvPr>
            <p:ph idx="4294967295" type="body"/>
          </p:nvPr>
        </p:nvSpPr>
        <p:spPr>
          <a:xfrm>
            <a:off x="5010088" y="3563548"/>
            <a:ext cx="3126900" cy="1347600"/>
          </a:xfrm>
          <a:prstGeom prst="rect">
            <a:avLst/>
          </a:prstGeom>
          <a:noFill/>
          <a:ln>
            <a:noFill/>
          </a:ln>
        </p:spPr>
        <p:txBody>
          <a:bodyPr anchorCtr="0" anchor="t" bIns="19050" lIns="19050" spcFirstLastPara="1" rIns="19050" wrap="square" tIns="19050">
            <a:normAutofit fontScale="92500" lnSpcReduction="20000"/>
          </a:bodyPr>
          <a:lstStyle/>
          <a:p>
            <a:pPr indent="-328453" lvl="0" marL="457200" rtl="0" algn="l">
              <a:lnSpc>
                <a:spcPct val="100000"/>
              </a:lnSpc>
              <a:spcBef>
                <a:spcPts val="0"/>
              </a:spcBef>
              <a:spcAft>
                <a:spcPts val="0"/>
              </a:spcAft>
              <a:buSzPct val="106250"/>
              <a:buFont typeface="Inter"/>
              <a:buChar char="●"/>
            </a:pPr>
            <a:r>
              <a:rPr lang="en" sz="1600">
                <a:latin typeface="Courier New"/>
                <a:ea typeface="Courier New"/>
                <a:cs typeface="Courier New"/>
                <a:sym typeface="Courier New"/>
              </a:rPr>
              <a:t>layers</a:t>
            </a:r>
            <a:r>
              <a:rPr lang="en" sz="1600">
                <a:latin typeface="Inter"/>
                <a:ea typeface="Inter"/>
                <a:cs typeface="Inter"/>
                <a:sym typeface="Inter"/>
              </a:rPr>
              <a:t> Element</a:t>
            </a:r>
            <a:endParaRPr sz="1600">
              <a:latin typeface="Inter"/>
              <a:ea typeface="Inter"/>
              <a:cs typeface="Inter"/>
              <a:sym typeface="Inter"/>
            </a:endParaRPr>
          </a:p>
          <a:p>
            <a:pPr indent="-322580" lvl="1" marL="914400" rtl="0" algn="l">
              <a:lnSpc>
                <a:spcPct val="100000"/>
              </a:lnSpc>
              <a:spcBef>
                <a:spcPts val="0"/>
              </a:spcBef>
              <a:spcAft>
                <a:spcPts val="0"/>
              </a:spcAft>
              <a:buSzPct val="100000"/>
              <a:buFont typeface="Inter"/>
              <a:buChar char="○"/>
            </a:pPr>
            <a:r>
              <a:rPr lang="en" sz="1600">
                <a:latin typeface="Inter"/>
                <a:ea typeface="Inter"/>
                <a:cs typeface="Inter"/>
                <a:sym typeface="Inter"/>
              </a:rPr>
              <a:t>Alternatives to </a:t>
            </a:r>
            <a:r>
              <a:rPr lang="en" sz="1600">
                <a:latin typeface="Courier New"/>
                <a:ea typeface="Courier New"/>
                <a:cs typeface="Courier New"/>
                <a:sym typeface="Courier New"/>
              </a:rPr>
              <a:t>X</a:t>
            </a:r>
            <a:r>
              <a:rPr lang="en" sz="1600">
                <a:latin typeface="Inter"/>
                <a:ea typeface="Inter"/>
                <a:cs typeface="Inter"/>
                <a:sym typeface="Inter"/>
              </a:rPr>
              <a:t> with same dimensionality </a:t>
            </a:r>
            <a:endParaRPr b="1" sz="1600">
              <a:latin typeface="Inter"/>
              <a:ea typeface="Inter"/>
              <a:cs typeface="Inter"/>
              <a:sym typeface="Inter"/>
            </a:endParaRPr>
          </a:p>
          <a:p>
            <a:pPr indent="-322580" lvl="2" marL="1371600" rtl="0" algn="l">
              <a:lnSpc>
                <a:spcPct val="100000"/>
              </a:lnSpc>
              <a:spcBef>
                <a:spcPts val="0"/>
              </a:spcBef>
              <a:spcAft>
                <a:spcPts val="0"/>
              </a:spcAft>
              <a:buSzPct val="100000"/>
              <a:buFont typeface="Inter"/>
              <a:buChar char="■"/>
            </a:pPr>
            <a:r>
              <a:rPr i="1" lang="en" sz="1600">
                <a:latin typeface="Inter"/>
                <a:ea typeface="Inter"/>
                <a:cs typeface="Inter"/>
                <a:sym typeface="Inter"/>
              </a:rPr>
              <a:t>Normalized </a:t>
            </a:r>
            <a:r>
              <a:rPr lang="en" sz="1600">
                <a:latin typeface="Inter"/>
                <a:ea typeface="Inter"/>
                <a:cs typeface="Inter"/>
                <a:sym typeface="Inter"/>
              </a:rPr>
              <a:t>Cell-x-gene counts</a:t>
            </a:r>
            <a:endParaRPr sz="1600">
              <a:latin typeface="Inter"/>
              <a:ea typeface="Inter"/>
              <a:cs typeface="Inter"/>
              <a:sym typeface="Inter"/>
            </a:endParaRPr>
          </a:p>
          <a:p>
            <a:pPr indent="-322580" lvl="2" marL="1371600" rtl="0" algn="l">
              <a:lnSpc>
                <a:spcPct val="100000"/>
              </a:lnSpc>
              <a:spcBef>
                <a:spcPts val="0"/>
              </a:spcBef>
              <a:spcAft>
                <a:spcPts val="0"/>
              </a:spcAft>
              <a:buSzPct val="100000"/>
              <a:buFont typeface="Inter"/>
              <a:buChar char="■"/>
            </a:pPr>
            <a:r>
              <a:rPr lang="en" sz="1600">
                <a:latin typeface="Inter"/>
                <a:ea typeface="Inter"/>
                <a:cs typeface="Inter"/>
                <a:sym typeface="Inter"/>
              </a:rPr>
              <a:t>Different storage format</a:t>
            </a:r>
            <a:endParaRPr sz="1600">
              <a:latin typeface="Inter"/>
              <a:ea typeface="Inter"/>
              <a:cs typeface="Inter"/>
              <a:sym typeface="Inter"/>
            </a:endParaRPr>
          </a:p>
        </p:txBody>
      </p:sp>
      <p:pic>
        <p:nvPicPr>
          <p:cNvPr id="232" name="Google Shape;232;p26"/>
          <p:cNvPicPr preferRelativeResize="0"/>
          <p:nvPr/>
        </p:nvPicPr>
        <p:blipFill>
          <a:blip r:embed="rId6">
            <a:alphaModFix/>
          </a:blip>
          <a:stretch>
            <a:fillRect/>
          </a:stretch>
        </p:blipFill>
        <p:spPr>
          <a:xfrm>
            <a:off x="5334813" y="585462"/>
            <a:ext cx="914387" cy="914387"/>
          </a:xfrm>
          <a:prstGeom prst="rect">
            <a:avLst/>
          </a:prstGeom>
          <a:noFill/>
          <a:ln>
            <a:noFill/>
          </a:ln>
        </p:spPr>
      </p:pic>
      <p:sp>
        <p:nvSpPr>
          <p:cNvPr id="233" name="Google Shape;2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7"/>
          <p:cNvSpPr/>
          <p:nvPr/>
        </p:nvSpPr>
        <p:spPr>
          <a:xfrm>
            <a:off x="69450" y="1339450"/>
            <a:ext cx="6656100" cy="33978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7"/>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40" name="Google Shape;240;p27"/>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7"/>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sp>
        <p:nvSpPr>
          <p:cNvPr id="243" name="Google Shape;243;p27"/>
          <p:cNvSpPr txBox="1"/>
          <p:nvPr>
            <p:ph idx="4294967295" type="body"/>
          </p:nvPr>
        </p:nvSpPr>
        <p:spPr>
          <a:xfrm>
            <a:off x="161825" y="1481700"/>
            <a:ext cx="6656100" cy="3217500"/>
          </a:xfrm>
          <a:prstGeom prst="rect">
            <a:avLst/>
          </a:prstGeom>
          <a:noFill/>
          <a:ln>
            <a:noFill/>
          </a:ln>
        </p:spPr>
        <p:txBody>
          <a:bodyPr anchorCtr="0" anchor="t" bIns="19050" lIns="19050" spcFirstLastPara="1" rIns="19050" wrap="square" tIns="19050">
            <a:noAutofit/>
          </a:bodyPr>
          <a:lstStyle/>
          <a:p>
            <a:pPr indent="-323850" lvl="0" marL="457200" rtl="0" algn="l">
              <a:lnSpc>
                <a:spcPct val="100000"/>
              </a:lnSpc>
              <a:spcBef>
                <a:spcPts val="0"/>
              </a:spcBef>
              <a:spcAft>
                <a:spcPts val="0"/>
              </a:spcAft>
              <a:buSzPts val="1500"/>
              <a:buFont typeface="Inter"/>
              <a:buChar char="●"/>
            </a:pPr>
            <a:r>
              <a:rPr lang="en" sz="1500">
                <a:latin typeface="Courier New"/>
                <a:ea typeface="Courier New"/>
                <a:cs typeface="Courier New"/>
                <a:sym typeface="Courier New"/>
              </a:rPr>
              <a:t>obs</a:t>
            </a:r>
            <a:r>
              <a:rPr lang="en" sz="1500">
                <a:latin typeface="Inter"/>
                <a:ea typeface="Inter"/>
                <a:cs typeface="Inter"/>
                <a:sym typeface="Inter"/>
              </a:rPr>
              <a:t> element i.e., stacked 1D vectors with the same number of elements as the </a:t>
            </a:r>
            <a:r>
              <a:rPr lang="en" sz="1500">
                <a:latin typeface="Courier New"/>
                <a:ea typeface="Courier New"/>
                <a:cs typeface="Courier New"/>
                <a:sym typeface="Courier New"/>
              </a:rPr>
              <a:t>obs</a:t>
            </a:r>
            <a:r>
              <a:rPr lang="en" sz="1500"/>
              <a:t> axis of </a:t>
            </a:r>
            <a:r>
              <a:rPr lang="en" sz="1500">
                <a:latin typeface="Courier New"/>
                <a:ea typeface="Courier New"/>
                <a:cs typeface="Courier New"/>
                <a:sym typeface="Courier New"/>
              </a:rPr>
              <a:t>X</a:t>
            </a:r>
            <a:endParaRPr sz="1500">
              <a:latin typeface="Courier New"/>
              <a:ea typeface="Courier New"/>
              <a:cs typeface="Courier New"/>
              <a:sym typeface="Courier New"/>
            </a:endParaRPr>
          </a:p>
          <a:p>
            <a:pPr indent="-323850" lvl="1" marL="914400" rtl="0" algn="l">
              <a:lnSpc>
                <a:spcPct val="100000"/>
              </a:lnSpc>
              <a:spcBef>
                <a:spcPts val="0"/>
              </a:spcBef>
              <a:spcAft>
                <a:spcPts val="0"/>
              </a:spcAft>
              <a:buSzPts val="1500"/>
              <a:buFont typeface="Inter"/>
              <a:buChar char="○"/>
            </a:pPr>
            <a:r>
              <a:rPr lang="en" sz="1500">
                <a:latin typeface="Inter"/>
                <a:ea typeface="Inter"/>
                <a:cs typeface="Inter"/>
                <a:sym typeface="Inter"/>
              </a:rPr>
              <a:t>Alternative labels (i.e., strings)</a:t>
            </a:r>
            <a:endParaRPr sz="1500">
              <a:latin typeface="Inter"/>
              <a:ea typeface="Inter"/>
              <a:cs typeface="Inter"/>
              <a:sym typeface="Inter"/>
            </a:endParaRPr>
          </a:p>
          <a:p>
            <a:pPr indent="-323850" lvl="2" marL="1371600" rtl="0" algn="l">
              <a:lnSpc>
                <a:spcPct val="100000"/>
              </a:lnSpc>
              <a:spcBef>
                <a:spcPts val="0"/>
              </a:spcBef>
              <a:spcAft>
                <a:spcPts val="0"/>
              </a:spcAft>
              <a:buSzPts val="1500"/>
              <a:buFont typeface="Inter"/>
              <a:buChar char="■"/>
            </a:pPr>
            <a:r>
              <a:rPr lang="en" sz="1500">
                <a:latin typeface="Inter"/>
                <a:ea typeface="Inter"/>
                <a:cs typeface="Inter"/>
                <a:sym typeface="Inter"/>
              </a:rPr>
              <a:t>barcodes, names etc)</a:t>
            </a:r>
            <a:endParaRPr sz="1500">
              <a:latin typeface="Inter"/>
              <a:ea typeface="Inter"/>
              <a:cs typeface="Inter"/>
              <a:sym typeface="Inter"/>
            </a:endParaRPr>
          </a:p>
          <a:p>
            <a:pPr indent="-323850" lvl="1" marL="914400" rtl="0" algn="l">
              <a:lnSpc>
                <a:spcPct val="100000"/>
              </a:lnSpc>
              <a:spcBef>
                <a:spcPts val="0"/>
              </a:spcBef>
              <a:spcAft>
                <a:spcPts val="0"/>
              </a:spcAft>
              <a:buSzPts val="1500"/>
              <a:buFont typeface="Inter"/>
              <a:buChar char="○"/>
            </a:pPr>
            <a:r>
              <a:rPr lang="en" sz="1500">
                <a:latin typeface="Inter"/>
                <a:ea typeface="Inter"/>
                <a:cs typeface="Inter"/>
                <a:sym typeface="Inter"/>
              </a:rPr>
              <a:t>Derived statistics (i.e., numeric)</a:t>
            </a:r>
            <a:endParaRPr sz="1500">
              <a:latin typeface="Inter"/>
              <a:ea typeface="Inter"/>
              <a:cs typeface="Inter"/>
              <a:sym typeface="Inter"/>
            </a:endParaRPr>
          </a:p>
          <a:p>
            <a:pPr indent="-323850" lvl="2" marL="1371600" rtl="0" algn="l">
              <a:lnSpc>
                <a:spcPct val="100000"/>
              </a:lnSpc>
              <a:spcBef>
                <a:spcPts val="0"/>
              </a:spcBef>
              <a:spcAft>
                <a:spcPts val="0"/>
              </a:spcAft>
              <a:buSzPts val="1500"/>
              <a:buFont typeface="Inter"/>
              <a:buChar char="■"/>
            </a:pPr>
            <a:r>
              <a:rPr lang="en" sz="1500">
                <a:latin typeface="Inter"/>
                <a:ea typeface="Inter"/>
                <a:cs typeface="Inter"/>
                <a:sym typeface="Inter"/>
              </a:rPr>
              <a:t>total mRNA count, probability of viability</a:t>
            </a:r>
            <a:endParaRPr sz="1500">
              <a:latin typeface="Inter"/>
              <a:ea typeface="Inter"/>
              <a:cs typeface="Inter"/>
              <a:sym typeface="Inter"/>
            </a:endParaRPr>
          </a:p>
          <a:p>
            <a:pPr indent="-323850" lvl="1" marL="914400" rtl="0" algn="l">
              <a:lnSpc>
                <a:spcPct val="100000"/>
              </a:lnSpc>
              <a:spcBef>
                <a:spcPts val="0"/>
              </a:spcBef>
              <a:spcAft>
                <a:spcPts val="0"/>
              </a:spcAft>
              <a:buSzPts val="1500"/>
              <a:buFont typeface="Inter"/>
              <a:buChar char="○"/>
            </a:pPr>
            <a:r>
              <a:rPr lang="en" sz="1500">
                <a:latin typeface="Inter"/>
                <a:ea typeface="Inter"/>
                <a:cs typeface="Inter"/>
                <a:sym typeface="Inter"/>
              </a:rPr>
              <a:t>Experimental readouts of your observations (i.e., numeric, boolean, etc)</a:t>
            </a:r>
            <a:endParaRPr sz="1500">
              <a:latin typeface="Inter"/>
              <a:ea typeface="Inter"/>
              <a:cs typeface="Inter"/>
              <a:sym typeface="Inter"/>
            </a:endParaRPr>
          </a:p>
          <a:p>
            <a:pPr indent="-323850" lvl="2" marL="1371600" rtl="0" algn="l">
              <a:lnSpc>
                <a:spcPct val="100000"/>
              </a:lnSpc>
              <a:spcBef>
                <a:spcPts val="0"/>
              </a:spcBef>
              <a:spcAft>
                <a:spcPts val="0"/>
              </a:spcAft>
              <a:buSzPts val="1500"/>
              <a:buFont typeface="Inter"/>
              <a:buChar char="■"/>
            </a:pPr>
            <a:r>
              <a:rPr lang="en" sz="1500">
                <a:latin typeface="Inter"/>
                <a:ea typeface="Inter"/>
                <a:cs typeface="Inter"/>
                <a:sym typeface="Inter"/>
              </a:rPr>
              <a:t>Cell viability, size, volume etc.</a:t>
            </a:r>
            <a:endParaRPr sz="1500">
              <a:latin typeface="Inter"/>
              <a:ea typeface="Inter"/>
              <a:cs typeface="Inter"/>
              <a:sym typeface="Inter"/>
            </a:endParaRPr>
          </a:p>
          <a:p>
            <a:pPr indent="-323850" lvl="1" marL="914400" rtl="0" algn="l">
              <a:lnSpc>
                <a:spcPct val="100000"/>
              </a:lnSpc>
              <a:spcBef>
                <a:spcPts val="0"/>
              </a:spcBef>
              <a:spcAft>
                <a:spcPts val="0"/>
              </a:spcAft>
              <a:buSzPts val="1500"/>
              <a:buFont typeface="Inter"/>
              <a:buChar char="○"/>
            </a:pPr>
            <a:r>
              <a:rPr lang="en" sz="1500">
                <a:latin typeface="Inter"/>
                <a:ea typeface="Inter"/>
                <a:cs typeface="Inter"/>
                <a:sym typeface="Inter"/>
              </a:rPr>
              <a:t>Prior knowledge</a:t>
            </a:r>
            <a:endParaRPr sz="1500">
              <a:latin typeface="Inter"/>
              <a:ea typeface="Inter"/>
              <a:cs typeface="Inter"/>
              <a:sym typeface="Inter"/>
            </a:endParaRPr>
          </a:p>
          <a:p>
            <a:pPr indent="-323850" lvl="2" marL="1371600" rtl="0" algn="l">
              <a:lnSpc>
                <a:spcPct val="100000"/>
              </a:lnSpc>
              <a:spcBef>
                <a:spcPts val="0"/>
              </a:spcBef>
              <a:spcAft>
                <a:spcPts val="0"/>
              </a:spcAft>
              <a:buSzPts val="1500"/>
              <a:buFont typeface="Inter"/>
              <a:buChar char="■"/>
            </a:pPr>
            <a:r>
              <a:rPr lang="en" sz="1500">
                <a:latin typeface="Inter"/>
                <a:ea typeface="Inter"/>
                <a:cs typeface="Inter"/>
                <a:sym typeface="Inter"/>
              </a:rPr>
              <a:t>Cell type ontology</a:t>
            </a:r>
            <a:endParaRPr sz="1500">
              <a:latin typeface="Inter"/>
              <a:ea typeface="Inter"/>
              <a:cs typeface="Inter"/>
              <a:sym typeface="Inter"/>
            </a:endParaRPr>
          </a:p>
          <a:p>
            <a:pPr indent="-323850" lvl="1" marL="914400" rtl="0" algn="l">
              <a:lnSpc>
                <a:spcPct val="100000"/>
              </a:lnSpc>
              <a:spcBef>
                <a:spcPts val="0"/>
              </a:spcBef>
              <a:spcAft>
                <a:spcPts val="0"/>
              </a:spcAft>
              <a:buSzPts val="1500"/>
              <a:buFont typeface="Inter"/>
              <a:buChar char="○"/>
            </a:pPr>
            <a:r>
              <a:rPr i="1" lang="en" sz="1500">
                <a:latin typeface="Inter"/>
                <a:ea typeface="Inter"/>
                <a:cs typeface="Inter"/>
                <a:sym typeface="Inter"/>
              </a:rPr>
              <a:t>In-silico</a:t>
            </a:r>
            <a:r>
              <a:rPr lang="en" sz="1500">
                <a:latin typeface="Inter"/>
                <a:ea typeface="Inter"/>
                <a:cs typeface="Inter"/>
                <a:sym typeface="Inter"/>
              </a:rPr>
              <a:t> results</a:t>
            </a:r>
            <a:endParaRPr sz="1500">
              <a:latin typeface="Inter"/>
              <a:ea typeface="Inter"/>
              <a:cs typeface="Inter"/>
              <a:sym typeface="Inter"/>
            </a:endParaRPr>
          </a:p>
          <a:p>
            <a:pPr indent="-323850" lvl="2" marL="1371600" rtl="0" algn="l">
              <a:lnSpc>
                <a:spcPct val="100000"/>
              </a:lnSpc>
              <a:spcBef>
                <a:spcPts val="0"/>
              </a:spcBef>
              <a:spcAft>
                <a:spcPts val="0"/>
              </a:spcAft>
              <a:buSzPts val="1500"/>
              <a:buFont typeface="Inter"/>
              <a:buChar char="■"/>
            </a:pPr>
            <a:r>
              <a:rPr lang="en" sz="1500">
                <a:latin typeface="Inter"/>
                <a:ea typeface="Inter"/>
                <a:cs typeface="Inter"/>
                <a:sym typeface="Inter"/>
              </a:rPr>
              <a:t>Clustering (Cell type labels, niche classification)</a:t>
            </a:r>
            <a:endParaRPr sz="1500">
              <a:latin typeface="Inter"/>
              <a:ea typeface="Inter"/>
              <a:cs typeface="Inter"/>
              <a:sym typeface="Inter"/>
            </a:endParaRPr>
          </a:p>
        </p:txBody>
      </p:sp>
      <p:pic>
        <p:nvPicPr>
          <p:cNvPr descr="schema-cartoon-02.png" id="244" name="Google Shape;244;p27"/>
          <p:cNvPicPr preferRelativeResize="0"/>
          <p:nvPr/>
        </p:nvPicPr>
        <p:blipFill rotWithShape="1">
          <a:blip r:embed="rId3">
            <a:alphaModFix/>
          </a:blip>
          <a:srcRect b="49467" l="56654" r="9172" t="14851"/>
          <a:stretch/>
        </p:blipFill>
        <p:spPr>
          <a:xfrm>
            <a:off x="6922125" y="1620575"/>
            <a:ext cx="1720553" cy="1347673"/>
          </a:xfrm>
          <a:prstGeom prst="rect">
            <a:avLst/>
          </a:prstGeom>
          <a:noFill/>
          <a:ln>
            <a:noFill/>
          </a:ln>
        </p:spPr>
      </p:pic>
      <p:pic>
        <p:nvPicPr>
          <p:cNvPr id="245" name="Google Shape;245;p27"/>
          <p:cNvPicPr preferRelativeResize="0"/>
          <p:nvPr/>
        </p:nvPicPr>
        <p:blipFill>
          <a:blip r:embed="rId4">
            <a:alphaModFix/>
          </a:blip>
          <a:stretch>
            <a:fillRect/>
          </a:stretch>
        </p:blipFill>
        <p:spPr>
          <a:xfrm>
            <a:off x="6922122" y="3235550"/>
            <a:ext cx="2138677" cy="862600"/>
          </a:xfrm>
          <a:prstGeom prst="rect">
            <a:avLst/>
          </a:prstGeom>
          <a:noFill/>
          <a:ln>
            <a:noFill/>
          </a:ln>
        </p:spPr>
      </p:pic>
      <p:sp>
        <p:nvSpPr>
          <p:cNvPr id="246" name="Google Shape;24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p:nvPr/>
        </p:nvSpPr>
        <p:spPr>
          <a:xfrm>
            <a:off x="69450" y="1339450"/>
            <a:ext cx="6409500" cy="31170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8"/>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53" name="Google Shape;253;p28"/>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8"/>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8"/>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sp>
        <p:nvSpPr>
          <p:cNvPr id="256" name="Google Shape;256;p28"/>
          <p:cNvSpPr txBox="1"/>
          <p:nvPr>
            <p:ph idx="4294967295" type="body"/>
          </p:nvPr>
        </p:nvSpPr>
        <p:spPr>
          <a:xfrm>
            <a:off x="161825" y="1481700"/>
            <a:ext cx="6760200" cy="2328300"/>
          </a:xfrm>
          <a:prstGeom prst="rect">
            <a:avLst/>
          </a:prstGeom>
          <a:noFill/>
          <a:ln>
            <a:noFill/>
          </a:ln>
        </p:spPr>
        <p:txBody>
          <a:bodyPr anchorCtr="0" anchor="t" bIns="19050" lIns="19050" spcFirstLastPara="1" rIns="19050" wrap="square" tIns="19050">
            <a:noAutofit/>
          </a:bodyPr>
          <a:lstStyle/>
          <a:p>
            <a:pPr indent="-330200" lvl="0" marL="457200" rtl="0" algn="l">
              <a:lnSpc>
                <a:spcPct val="100000"/>
              </a:lnSpc>
              <a:spcBef>
                <a:spcPts val="0"/>
              </a:spcBef>
              <a:spcAft>
                <a:spcPts val="0"/>
              </a:spcAft>
              <a:buSzPts val="1600"/>
              <a:buFont typeface="Courier New"/>
              <a:buChar char="●"/>
            </a:pPr>
            <a:r>
              <a:rPr lang="en" sz="1600">
                <a:latin typeface="Courier New"/>
                <a:ea typeface="Courier New"/>
                <a:cs typeface="Courier New"/>
                <a:sym typeface="Courier New"/>
              </a:rPr>
              <a:t>var</a:t>
            </a:r>
            <a:r>
              <a:rPr lang="en" sz="1600"/>
              <a:t> is same as </a:t>
            </a:r>
            <a:r>
              <a:rPr lang="en" sz="1600">
                <a:latin typeface="Courier New"/>
                <a:ea typeface="Courier New"/>
                <a:cs typeface="Courier New"/>
                <a:sym typeface="Courier New"/>
              </a:rPr>
              <a:t>obs </a:t>
            </a:r>
            <a:r>
              <a:rPr lang="en" sz="1600"/>
              <a:t>but for feature axis</a:t>
            </a:r>
            <a:endParaRPr sz="1600"/>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Alternative labels (strings)</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different gene names </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Derived statistics (numerics)</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total mRNA count</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number of cells expressing</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Classification result</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Prior knowledge</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Up-or-down regulated in system</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Gene expression network label</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Gene type (ribosomal, mitochondrial etc.)</a:t>
            </a:r>
            <a:endParaRPr sz="1600">
              <a:latin typeface="Inter"/>
              <a:ea typeface="Inter"/>
              <a:cs typeface="Inter"/>
              <a:sym typeface="Inter"/>
            </a:endParaRPr>
          </a:p>
        </p:txBody>
      </p:sp>
      <p:pic>
        <p:nvPicPr>
          <p:cNvPr descr="schema-cartoon-02.png" id="257" name="Google Shape;257;p28"/>
          <p:cNvPicPr preferRelativeResize="0"/>
          <p:nvPr/>
        </p:nvPicPr>
        <p:blipFill rotWithShape="1">
          <a:blip r:embed="rId3">
            <a:alphaModFix/>
          </a:blip>
          <a:srcRect b="49465" l="56654" r="9172" t="1676"/>
          <a:stretch/>
        </p:blipFill>
        <p:spPr>
          <a:xfrm>
            <a:off x="6922125" y="1122951"/>
            <a:ext cx="1720553" cy="1845298"/>
          </a:xfrm>
          <a:prstGeom prst="rect">
            <a:avLst/>
          </a:prstGeom>
          <a:noFill/>
          <a:ln>
            <a:noFill/>
          </a:ln>
        </p:spPr>
      </p:pic>
      <p:pic>
        <p:nvPicPr>
          <p:cNvPr id="258" name="Google Shape;258;p28"/>
          <p:cNvPicPr preferRelativeResize="0"/>
          <p:nvPr/>
        </p:nvPicPr>
        <p:blipFill>
          <a:blip r:embed="rId4">
            <a:alphaModFix/>
          </a:blip>
          <a:stretch>
            <a:fillRect/>
          </a:stretch>
        </p:blipFill>
        <p:spPr>
          <a:xfrm>
            <a:off x="6922122" y="3235550"/>
            <a:ext cx="2138677" cy="862600"/>
          </a:xfrm>
          <a:prstGeom prst="rect">
            <a:avLst/>
          </a:prstGeom>
          <a:noFill/>
          <a:ln>
            <a:noFill/>
          </a:ln>
        </p:spPr>
      </p:pic>
      <p:sp>
        <p:nvSpPr>
          <p:cNvPr id="259" name="Google Shape;25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p:nvPr/>
        </p:nvSpPr>
        <p:spPr>
          <a:xfrm>
            <a:off x="744150" y="1339450"/>
            <a:ext cx="4653600" cy="20736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9"/>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66" name="Google Shape;266;p29"/>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9"/>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9"/>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sp>
        <p:nvSpPr>
          <p:cNvPr id="269" name="Google Shape;269;p29"/>
          <p:cNvSpPr txBox="1"/>
          <p:nvPr>
            <p:ph idx="4294967295" type="body"/>
          </p:nvPr>
        </p:nvSpPr>
        <p:spPr>
          <a:xfrm>
            <a:off x="691000" y="1481700"/>
            <a:ext cx="4653600" cy="2328300"/>
          </a:xfrm>
          <a:prstGeom prst="rect">
            <a:avLst/>
          </a:prstGeom>
          <a:noFill/>
          <a:ln>
            <a:noFill/>
          </a:ln>
        </p:spPr>
        <p:txBody>
          <a:bodyPr anchorCtr="0" anchor="t" bIns="19050" lIns="19050" spcFirstLastPara="1" rIns="19050" wrap="square" tIns="19050">
            <a:noAutofit/>
          </a:bodyPr>
          <a:lstStyle/>
          <a:p>
            <a:pPr indent="-330200" lvl="0" marL="457200" rtl="0" algn="l">
              <a:lnSpc>
                <a:spcPct val="100000"/>
              </a:lnSpc>
              <a:spcBef>
                <a:spcPts val="0"/>
              </a:spcBef>
              <a:spcAft>
                <a:spcPts val="0"/>
              </a:spcAft>
              <a:buSzPts val="1600"/>
              <a:buFont typeface="Inter"/>
              <a:buChar char="●"/>
            </a:pPr>
            <a:r>
              <a:rPr lang="en" sz="1600">
                <a:latin typeface="Courier New"/>
                <a:ea typeface="Courier New"/>
                <a:cs typeface="Courier New"/>
                <a:sym typeface="Courier New"/>
              </a:rPr>
              <a:t>obsm</a:t>
            </a:r>
            <a:r>
              <a:rPr lang="en" sz="1600">
                <a:latin typeface="Inter"/>
                <a:ea typeface="Inter"/>
                <a:cs typeface="Inter"/>
                <a:sym typeface="Inter"/>
              </a:rPr>
              <a:t> element  i.e., stacked ND vectors along </a:t>
            </a:r>
            <a:r>
              <a:rPr lang="en" sz="1600">
                <a:latin typeface="Courier New"/>
                <a:ea typeface="Courier New"/>
                <a:cs typeface="Courier New"/>
                <a:sym typeface="Courier New"/>
              </a:rPr>
              <a:t>obs</a:t>
            </a:r>
            <a:r>
              <a:rPr lang="en" sz="1600"/>
              <a:t> axis</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Dimensionality reduction results </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PCA</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UMAP</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Experimental readout</a:t>
            </a:r>
            <a:endParaRPr sz="1600">
              <a:latin typeface="Inter"/>
              <a:ea typeface="Inter"/>
              <a:cs typeface="Inter"/>
              <a:sym typeface="Inter"/>
            </a:endParaRPr>
          </a:p>
          <a:p>
            <a:pPr indent="-330200" lvl="2" marL="1371600" rtl="0" algn="l">
              <a:lnSpc>
                <a:spcPct val="100000"/>
              </a:lnSpc>
              <a:spcBef>
                <a:spcPts val="0"/>
              </a:spcBef>
              <a:spcAft>
                <a:spcPts val="0"/>
              </a:spcAft>
              <a:buSzPts val="1600"/>
              <a:buFont typeface="Inter"/>
              <a:buChar char="■"/>
            </a:pPr>
            <a:r>
              <a:rPr lang="en" sz="1600">
                <a:latin typeface="Inter"/>
                <a:ea typeface="Inter"/>
                <a:cs typeface="Inter"/>
                <a:sym typeface="Inter"/>
              </a:rPr>
              <a:t>Spatial location</a:t>
            </a:r>
            <a:endParaRPr sz="1600">
              <a:latin typeface="Inter"/>
              <a:ea typeface="Inter"/>
              <a:cs typeface="Inter"/>
              <a:sym typeface="Inter"/>
            </a:endParaRPr>
          </a:p>
        </p:txBody>
      </p:sp>
      <p:pic>
        <p:nvPicPr>
          <p:cNvPr descr="schema-cartoon-02.png" id="270" name="Google Shape;270;p29"/>
          <p:cNvPicPr preferRelativeResize="0"/>
          <p:nvPr/>
        </p:nvPicPr>
        <p:blipFill rotWithShape="1">
          <a:blip r:embed="rId3">
            <a:alphaModFix/>
          </a:blip>
          <a:srcRect b="49465" l="44429" r="9169" t="1676"/>
          <a:stretch/>
        </p:blipFill>
        <p:spPr>
          <a:xfrm>
            <a:off x="6306549" y="1122950"/>
            <a:ext cx="2336126" cy="1845298"/>
          </a:xfrm>
          <a:prstGeom prst="rect">
            <a:avLst/>
          </a:prstGeom>
          <a:noFill/>
          <a:ln>
            <a:noFill/>
          </a:ln>
        </p:spPr>
      </p:pic>
      <p:pic>
        <p:nvPicPr>
          <p:cNvPr id="271" name="Google Shape;271;p29"/>
          <p:cNvPicPr preferRelativeResize="0"/>
          <p:nvPr/>
        </p:nvPicPr>
        <p:blipFill>
          <a:blip r:embed="rId4">
            <a:alphaModFix/>
          </a:blip>
          <a:stretch>
            <a:fillRect/>
          </a:stretch>
        </p:blipFill>
        <p:spPr>
          <a:xfrm>
            <a:off x="109825" y="3801025"/>
            <a:ext cx="891301" cy="891299"/>
          </a:xfrm>
          <a:prstGeom prst="rect">
            <a:avLst/>
          </a:prstGeom>
          <a:noFill/>
          <a:ln>
            <a:noFill/>
          </a:ln>
        </p:spPr>
      </p:pic>
      <p:pic>
        <p:nvPicPr>
          <p:cNvPr id="272" name="Google Shape;272;p29"/>
          <p:cNvPicPr preferRelativeResize="0"/>
          <p:nvPr/>
        </p:nvPicPr>
        <p:blipFill>
          <a:blip r:embed="rId5">
            <a:alphaModFix/>
          </a:blip>
          <a:stretch>
            <a:fillRect/>
          </a:stretch>
        </p:blipFill>
        <p:spPr>
          <a:xfrm>
            <a:off x="1073937" y="3801025"/>
            <a:ext cx="891300" cy="891300"/>
          </a:xfrm>
          <a:prstGeom prst="rect">
            <a:avLst/>
          </a:prstGeom>
          <a:noFill/>
          <a:ln>
            <a:noFill/>
          </a:ln>
        </p:spPr>
      </p:pic>
      <p:pic>
        <p:nvPicPr>
          <p:cNvPr id="273" name="Google Shape;273;p29"/>
          <p:cNvPicPr preferRelativeResize="0"/>
          <p:nvPr/>
        </p:nvPicPr>
        <p:blipFill>
          <a:blip r:embed="rId6">
            <a:alphaModFix/>
          </a:blip>
          <a:stretch>
            <a:fillRect/>
          </a:stretch>
        </p:blipFill>
        <p:spPr>
          <a:xfrm>
            <a:off x="2210379" y="3881250"/>
            <a:ext cx="1812023" cy="730849"/>
          </a:xfrm>
          <a:prstGeom prst="rect">
            <a:avLst/>
          </a:prstGeom>
          <a:noFill/>
          <a:ln>
            <a:noFill/>
          </a:ln>
        </p:spPr>
      </p:pic>
      <p:pic>
        <p:nvPicPr>
          <p:cNvPr id="274" name="Google Shape;274;p29"/>
          <p:cNvPicPr preferRelativeResize="0"/>
          <p:nvPr/>
        </p:nvPicPr>
        <p:blipFill>
          <a:blip r:embed="rId7">
            <a:alphaModFix/>
          </a:blip>
          <a:stretch>
            <a:fillRect/>
          </a:stretch>
        </p:blipFill>
        <p:spPr>
          <a:xfrm>
            <a:off x="4134009" y="3841143"/>
            <a:ext cx="811064" cy="811064"/>
          </a:xfrm>
          <a:prstGeom prst="rect">
            <a:avLst/>
          </a:prstGeom>
          <a:noFill/>
          <a:ln>
            <a:noFill/>
          </a:ln>
        </p:spPr>
      </p:pic>
      <p:sp>
        <p:nvSpPr>
          <p:cNvPr id="275" name="Google Shape;27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0"/>
          <p:cNvSpPr/>
          <p:nvPr/>
        </p:nvSpPr>
        <p:spPr>
          <a:xfrm>
            <a:off x="744150" y="1716475"/>
            <a:ext cx="4603800" cy="11421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30"/>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82" name="Google Shape;282;p30"/>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0"/>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sp>
        <p:nvSpPr>
          <p:cNvPr id="285" name="Google Shape;285;p30"/>
          <p:cNvSpPr txBox="1"/>
          <p:nvPr>
            <p:ph idx="4294967295" type="body"/>
          </p:nvPr>
        </p:nvSpPr>
        <p:spPr>
          <a:xfrm>
            <a:off x="982150" y="1823650"/>
            <a:ext cx="4410000" cy="1035000"/>
          </a:xfrm>
          <a:prstGeom prst="rect">
            <a:avLst/>
          </a:prstGeom>
          <a:noFill/>
          <a:ln>
            <a:noFill/>
          </a:ln>
        </p:spPr>
        <p:txBody>
          <a:bodyPr anchorCtr="0" anchor="t" bIns="19050" lIns="19050" spcFirstLastPara="1" rIns="19050" wrap="square" tIns="19050">
            <a:noAutofit/>
          </a:bodyPr>
          <a:lstStyle/>
          <a:p>
            <a:pPr indent="-330200" lvl="0" marL="457200" rtl="0" algn="l">
              <a:lnSpc>
                <a:spcPct val="100000"/>
              </a:lnSpc>
              <a:spcBef>
                <a:spcPts val="0"/>
              </a:spcBef>
              <a:spcAft>
                <a:spcPts val="0"/>
              </a:spcAft>
              <a:buSzPts val="1600"/>
              <a:buFont typeface="Inter"/>
              <a:buChar char="●"/>
            </a:pPr>
            <a:r>
              <a:rPr lang="en" sz="1600">
                <a:latin typeface="Courier New"/>
                <a:ea typeface="Courier New"/>
                <a:cs typeface="Courier New"/>
                <a:sym typeface="Courier New"/>
              </a:rPr>
              <a:t>varm</a:t>
            </a:r>
            <a:r>
              <a:rPr lang="en" sz="1600">
                <a:latin typeface="Inter"/>
                <a:ea typeface="Inter"/>
                <a:cs typeface="Inter"/>
                <a:sym typeface="Inter"/>
              </a:rPr>
              <a:t> element  i.e., stacked ND vectors along </a:t>
            </a:r>
            <a:r>
              <a:rPr lang="en" sz="1600">
                <a:latin typeface="Courier New"/>
                <a:ea typeface="Courier New"/>
                <a:cs typeface="Courier New"/>
                <a:sym typeface="Courier New"/>
              </a:rPr>
              <a:t>var</a:t>
            </a:r>
            <a:r>
              <a:rPr lang="en" sz="1600"/>
              <a:t> axis</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PCA loadings</a:t>
            </a:r>
            <a:endParaRPr sz="1600">
              <a:latin typeface="Inter"/>
              <a:ea typeface="Inter"/>
              <a:cs typeface="Inter"/>
              <a:sym typeface="Inter"/>
            </a:endParaRPr>
          </a:p>
        </p:txBody>
      </p:sp>
      <p:pic>
        <p:nvPicPr>
          <p:cNvPr descr="schema-cartoon-02.png" id="286" name="Google Shape;286;p30"/>
          <p:cNvPicPr preferRelativeResize="0"/>
          <p:nvPr/>
        </p:nvPicPr>
        <p:blipFill rotWithShape="1">
          <a:blip r:embed="rId3">
            <a:alphaModFix/>
          </a:blip>
          <a:srcRect b="33811" l="44429" r="9169" t="1677"/>
          <a:stretch/>
        </p:blipFill>
        <p:spPr>
          <a:xfrm>
            <a:off x="6306550" y="1122950"/>
            <a:ext cx="2336126" cy="2436401"/>
          </a:xfrm>
          <a:prstGeom prst="rect">
            <a:avLst/>
          </a:prstGeom>
          <a:noFill/>
          <a:ln>
            <a:noFill/>
          </a:ln>
        </p:spPr>
      </p:pic>
      <p:pic>
        <p:nvPicPr>
          <p:cNvPr id="287" name="Google Shape;287;p30"/>
          <p:cNvPicPr preferRelativeResize="0"/>
          <p:nvPr/>
        </p:nvPicPr>
        <p:blipFill>
          <a:blip r:embed="rId4">
            <a:alphaModFix/>
          </a:blip>
          <a:stretch>
            <a:fillRect/>
          </a:stretch>
        </p:blipFill>
        <p:spPr>
          <a:xfrm>
            <a:off x="109825" y="3801025"/>
            <a:ext cx="891301" cy="891299"/>
          </a:xfrm>
          <a:prstGeom prst="rect">
            <a:avLst/>
          </a:prstGeom>
          <a:noFill/>
          <a:ln>
            <a:noFill/>
          </a:ln>
        </p:spPr>
      </p:pic>
      <p:pic>
        <p:nvPicPr>
          <p:cNvPr id="288" name="Google Shape;288;p30"/>
          <p:cNvPicPr preferRelativeResize="0"/>
          <p:nvPr/>
        </p:nvPicPr>
        <p:blipFill>
          <a:blip r:embed="rId5">
            <a:alphaModFix/>
          </a:blip>
          <a:stretch>
            <a:fillRect/>
          </a:stretch>
        </p:blipFill>
        <p:spPr>
          <a:xfrm>
            <a:off x="1073937" y="3801025"/>
            <a:ext cx="891300" cy="891300"/>
          </a:xfrm>
          <a:prstGeom prst="rect">
            <a:avLst/>
          </a:prstGeom>
          <a:noFill/>
          <a:ln>
            <a:noFill/>
          </a:ln>
        </p:spPr>
      </p:pic>
      <p:pic>
        <p:nvPicPr>
          <p:cNvPr id="289" name="Google Shape;289;p30"/>
          <p:cNvPicPr preferRelativeResize="0"/>
          <p:nvPr/>
        </p:nvPicPr>
        <p:blipFill>
          <a:blip r:embed="rId6">
            <a:alphaModFix/>
          </a:blip>
          <a:stretch>
            <a:fillRect/>
          </a:stretch>
        </p:blipFill>
        <p:spPr>
          <a:xfrm>
            <a:off x="2210379" y="3881250"/>
            <a:ext cx="1812023" cy="730849"/>
          </a:xfrm>
          <a:prstGeom prst="rect">
            <a:avLst/>
          </a:prstGeom>
          <a:noFill/>
          <a:ln>
            <a:noFill/>
          </a:ln>
        </p:spPr>
      </p:pic>
      <p:pic>
        <p:nvPicPr>
          <p:cNvPr id="290" name="Google Shape;290;p30"/>
          <p:cNvPicPr preferRelativeResize="0"/>
          <p:nvPr/>
        </p:nvPicPr>
        <p:blipFill>
          <a:blip r:embed="rId7">
            <a:alphaModFix/>
          </a:blip>
          <a:stretch>
            <a:fillRect/>
          </a:stretch>
        </p:blipFill>
        <p:spPr>
          <a:xfrm>
            <a:off x="4134009" y="3841143"/>
            <a:ext cx="811064" cy="811064"/>
          </a:xfrm>
          <a:prstGeom prst="rect">
            <a:avLst/>
          </a:prstGeom>
          <a:noFill/>
          <a:ln>
            <a:noFill/>
          </a:ln>
        </p:spPr>
      </p:pic>
      <p:sp>
        <p:nvSpPr>
          <p:cNvPr id="291" name="Google Shape;29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p:nvPr/>
        </p:nvSpPr>
        <p:spPr>
          <a:xfrm>
            <a:off x="257975" y="1696650"/>
            <a:ext cx="4731000" cy="1815900"/>
          </a:xfrm>
          <a:prstGeom prst="roundRect">
            <a:avLst>
              <a:gd fmla="val 16667" name="adj"/>
            </a:avLst>
          </a:prstGeom>
          <a:solidFill>
            <a:schemeClr val="l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31"/>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298" name="Google Shape;298;p31"/>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1"/>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1"/>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Concrete examples</a:t>
            </a:r>
            <a:endParaRPr sz="1700">
              <a:solidFill>
                <a:srgbClr val="333333"/>
              </a:solidFill>
              <a:latin typeface="Inter"/>
              <a:ea typeface="Inter"/>
              <a:cs typeface="Inter"/>
              <a:sym typeface="Inter"/>
            </a:endParaRPr>
          </a:p>
        </p:txBody>
      </p:sp>
      <p:sp>
        <p:nvSpPr>
          <p:cNvPr id="301" name="Google Shape;301;p31"/>
          <p:cNvSpPr txBox="1"/>
          <p:nvPr>
            <p:ph idx="4294967295" type="body"/>
          </p:nvPr>
        </p:nvSpPr>
        <p:spPr>
          <a:xfrm>
            <a:off x="161950" y="1823650"/>
            <a:ext cx="4731000" cy="778500"/>
          </a:xfrm>
          <a:prstGeom prst="rect">
            <a:avLst/>
          </a:prstGeom>
          <a:noFill/>
          <a:ln>
            <a:noFill/>
          </a:ln>
        </p:spPr>
        <p:txBody>
          <a:bodyPr anchorCtr="0" anchor="t" bIns="19050" lIns="19050" spcFirstLastPara="1" rIns="19050" wrap="square" tIns="19050">
            <a:noAutofit/>
          </a:bodyPr>
          <a:lstStyle/>
          <a:p>
            <a:pPr indent="-330200" lvl="0" marL="457200" rtl="0" algn="l">
              <a:lnSpc>
                <a:spcPct val="100000"/>
              </a:lnSpc>
              <a:spcBef>
                <a:spcPts val="0"/>
              </a:spcBef>
              <a:spcAft>
                <a:spcPts val="0"/>
              </a:spcAft>
              <a:buSzPts val="1600"/>
              <a:buFont typeface="Inter"/>
              <a:buChar char="●"/>
            </a:pPr>
            <a:r>
              <a:rPr lang="en" sz="1600">
                <a:latin typeface="Courier New"/>
                <a:ea typeface="Courier New"/>
                <a:cs typeface="Courier New"/>
                <a:sym typeface="Courier New"/>
              </a:rPr>
              <a:t>xxxp</a:t>
            </a:r>
            <a:r>
              <a:rPr lang="en" sz="1600">
                <a:latin typeface="Inter"/>
                <a:ea typeface="Inter"/>
                <a:cs typeface="Inter"/>
                <a:sym typeface="Inter"/>
              </a:rPr>
              <a:t> elements  i.e., n_obs x n_obs matrices</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Neighborhood graphs</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Self-similarity matrices</a:t>
            </a:r>
            <a:endParaRPr sz="1600">
              <a:latin typeface="Inter"/>
              <a:ea typeface="Inter"/>
              <a:cs typeface="Inter"/>
              <a:sym typeface="Inter"/>
            </a:endParaRPr>
          </a:p>
        </p:txBody>
      </p:sp>
      <p:pic>
        <p:nvPicPr>
          <p:cNvPr descr="schema-cartoon-02.png" id="302" name="Google Shape;302;p31"/>
          <p:cNvPicPr preferRelativeResize="0"/>
          <p:nvPr/>
        </p:nvPicPr>
        <p:blipFill rotWithShape="1">
          <a:blip r:embed="rId3">
            <a:alphaModFix/>
          </a:blip>
          <a:srcRect b="3818" l="17939" r="9170" t="1673"/>
          <a:stretch/>
        </p:blipFill>
        <p:spPr>
          <a:xfrm>
            <a:off x="4973050" y="1122950"/>
            <a:ext cx="3669622" cy="3569377"/>
          </a:xfrm>
          <a:prstGeom prst="rect">
            <a:avLst/>
          </a:prstGeom>
          <a:noFill/>
          <a:ln>
            <a:noFill/>
          </a:ln>
        </p:spPr>
      </p:pic>
      <p:sp>
        <p:nvSpPr>
          <p:cNvPr id="303" name="Google Shape;303;p31"/>
          <p:cNvSpPr txBox="1"/>
          <p:nvPr>
            <p:ph idx="4294967295" type="body"/>
          </p:nvPr>
        </p:nvSpPr>
        <p:spPr>
          <a:xfrm>
            <a:off x="161950" y="2571750"/>
            <a:ext cx="4731000" cy="891300"/>
          </a:xfrm>
          <a:prstGeom prst="rect">
            <a:avLst/>
          </a:prstGeom>
          <a:noFill/>
          <a:ln>
            <a:noFill/>
          </a:ln>
        </p:spPr>
        <p:txBody>
          <a:bodyPr anchorCtr="0" anchor="t" bIns="19050" lIns="19050" spcFirstLastPara="1" rIns="19050" wrap="square" tIns="19050">
            <a:noAutofit/>
          </a:bodyPr>
          <a:lstStyle/>
          <a:p>
            <a:pPr indent="-330200" lvl="0" marL="457200" rtl="0" algn="l">
              <a:lnSpc>
                <a:spcPct val="100000"/>
              </a:lnSpc>
              <a:spcBef>
                <a:spcPts val="0"/>
              </a:spcBef>
              <a:spcAft>
                <a:spcPts val="0"/>
              </a:spcAft>
              <a:buSzPts val="1600"/>
              <a:buFont typeface="Inter"/>
              <a:buChar char="●"/>
            </a:pPr>
            <a:r>
              <a:rPr lang="en" sz="1600">
                <a:latin typeface="Courier New"/>
                <a:ea typeface="Courier New"/>
                <a:cs typeface="Courier New"/>
                <a:sym typeface="Courier New"/>
              </a:rPr>
              <a:t>uns</a:t>
            </a:r>
            <a:r>
              <a:rPr lang="en" sz="1600">
                <a:latin typeface="Inter"/>
                <a:ea typeface="Inter"/>
                <a:cs typeface="Inter"/>
                <a:sym typeface="Inter"/>
              </a:rPr>
              <a:t> element i.e., unstructured data</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Method parameters</a:t>
            </a:r>
            <a:endParaRPr sz="1600">
              <a:latin typeface="Inter"/>
              <a:ea typeface="Inter"/>
              <a:cs typeface="Inter"/>
              <a:sym typeface="Inter"/>
            </a:endParaRPr>
          </a:p>
          <a:p>
            <a:pPr indent="-330200" lvl="1" marL="914400" rtl="0" algn="l">
              <a:lnSpc>
                <a:spcPct val="100000"/>
              </a:lnSpc>
              <a:spcBef>
                <a:spcPts val="0"/>
              </a:spcBef>
              <a:spcAft>
                <a:spcPts val="0"/>
              </a:spcAft>
              <a:buSzPts val="1600"/>
              <a:buFont typeface="Inter"/>
              <a:buChar char="○"/>
            </a:pPr>
            <a:r>
              <a:rPr lang="en" sz="1600">
                <a:latin typeface="Inter"/>
                <a:ea typeface="Inter"/>
                <a:cs typeface="Inter"/>
                <a:sym typeface="Inter"/>
              </a:rPr>
              <a:t>Plot-rendering settings</a:t>
            </a:r>
            <a:endParaRPr sz="1600">
              <a:latin typeface="Inter"/>
              <a:ea typeface="Inter"/>
              <a:cs typeface="Inter"/>
              <a:sym typeface="Inter"/>
            </a:endParaRPr>
          </a:p>
        </p:txBody>
      </p:sp>
      <p:pic>
        <p:nvPicPr>
          <p:cNvPr id="304" name="Google Shape;304;p31"/>
          <p:cNvPicPr preferRelativeResize="0"/>
          <p:nvPr/>
        </p:nvPicPr>
        <p:blipFill>
          <a:blip r:embed="rId4">
            <a:alphaModFix/>
          </a:blip>
          <a:stretch>
            <a:fillRect/>
          </a:stretch>
        </p:blipFill>
        <p:spPr>
          <a:xfrm>
            <a:off x="109825" y="3801025"/>
            <a:ext cx="891301" cy="891299"/>
          </a:xfrm>
          <a:prstGeom prst="rect">
            <a:avLst/>
          </a:prstGeom>
          <a:noFill/>
          <a:ln>
            <a:noFill/>
          </a:ln>
        </p:spPr>
      </p:pic>
      <p:pic>
        <p:nvPicPr>
          <p:cNvPr id="305" name="Google Shape;305;p31"/>
          <p:cNvPicPr preferRelativeResize="0"/>
          <p:nvPr/>
        </p:nvPicPr>
        <p:blipFill>
          <a:blip r:embed="rId5">
            <a:alphaModFix/>
          </a:blip>
          <a:stretch>
            <a:fillRect/>
          </a:stretch>
        </p:blipFill>
        <p:spPr>
          <a:xfrm>
            <a:off x="1073937" y="3801025"/>
            <a:ext cx="891300" cy="891300"/>
          </a:xfrm>
          <a:prstGeom prst="rect">
            <a:avLst/>
          </a:prstGeom>
          <a:noFill/>
          <a:ln>
            <a:noFill/>
          </a:ln>
        </p:spPr>
      </p:pic>
      <p:pic>
        <p:nvPicPr>
          <p:cNvPr id="306" name="Google Shape;306;p31"/>
          <p:cNvPicPr preferRelativeResize="0"/>
          <p:nvPr/>
        </p:nvPicPr>
        <p:blipFill>
          <a:blip r:embed="rId6">
            <a:alphaModFix/>
          </a:blip>
          <a:stretch>
            <a:fillRect/>
          </a:stretch>
        </p:blipFill>
        <p:spPr>
          <a:xfrm>
            <a:off x="2210379" y="3881250"/>
            <a:ext cx="1812023" cy="730849"/>
          </a:xfrm>
          <a:prstGeom prst="rect">
            <a:avLst/>
          </a:prstGeom>
          <a:noFill/>
          <a:ln>
            <a:noFill/>
          </a:ln>
        </p:spPr>
      </p:pic>
      <p:pic>
        <p:nvPicPr>
          <p:cNvPr id="307" name="Google Shape;307;p31"/>
          <p:cNvPicPr preferRelativeResize="0"/>
          <p:nvPr/>
        </p:nvPicPr>
        <p:blipFill>
          <a:blip r:embed="rId7">
            <a:alphaModFix/>
          </a:blip>
          <a:stretch>
            <a:fillRect/>
          </a:stretch>
        </p:blipFill>
        <p:spPr>
          <a:xfrm>
            <a:off x="4134009" y="3841143"/>
            <a:ext cx="811064" cy="811064"/>
          </a:xfrm>
          <a:prstGeom prst="rect">
            <a:avLst/>
          </a:prstGeom>
          <a:noFill/>
          <a:ln>
            <a:noFill/>
          </a:ln>
        </p:spPr>
      </p:pic>
      <p:sp>
        <p:nvSpPr>
          <p:cNvPr id="308" name="Google Shape;30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ph type="title"/>
          </p:nvPr>
        </p:nvSpPr>
        <p:spPr>
          <a:xfrm>
            <a:off x="311700" y="192925"/>
            <a:ext cx="8792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Inter"/>
                <a:ea typeface="Inter"/>
                <a:cs typeface="Inter"/>
                <a:sym typeface="Inter"/>
              </a:rPr>
              <a:t>Data Model</a:t>
            </a:r>
            <a:endParaRPr b="1" sz="3000">
              <a:latin typeface="Inter"/>
              <a:ea typeface="Inter"/>
              <a:cs typeface="Inter"/>
              <a:sym typeface="Inter"/>
            </a:endParaRPr>
          </a:p>
        </p:txBody>
      </p:sp>
      <p:sp>
        <p:nvSpPr>
          <p:cNvPr id="314" name="Google Shape;314;p32"/>
          <p:cNvSpPr/>
          <p:nvPr/>
        </p:nvSpPr>
        <p:spPr>
          <a:xfrm>
            <a:off x="0" y="358975"/>
            <a:ext cx="297900" cy="240600"/>
          </a:xfrm>
          <a:prstGeom prst="rect">
            <a:avLst/>
          </a:prstGeom>
          <a:solidFill>
            <a:srgbClr val="8DB6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2"/>
          <p:cNvSpPr/>
          <p:nvPr/>
        </p:nvSpPr>
        <p:spPr>
          <a:xfrm>
            <a:off x="0" y="827575"/>
            <a:ext cx="297900" cy="116700"/>
          </a:xfrm>
          <a:prstGeom prst="rect">
            <a:avLst/>
          </a:prstGeom>
          <a:solidFill>
            <a:srgbClr val="EF6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2"/>
          <p:cNvSpPr txBox="1"/>
          <p:nvPr>
            <p:ph type="title"/>
          </p:nvPr>
        </p:nvSpPr>
        <p:spPr>
          <a:xfrm>
            <a:off x="311700" y="599575"/>
            <a:ext cx="8520600" cy="57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n" sz="1700">
                <a:solidFill>
                  <a:srgbClr val="333333"/>
                </a:solidFill>
                <a:latin typeface="Inter"/>
                <a:ea typeface="Inter"/>
                <a:cs typeface="Inter"/>
                <a:sym typeface="Inter"/>
              </a:rPr>
              <a:t>Overview of use-cases</a:t>
            </a:r>
            <a:endParaRPr sz="1700">
              <a:solidFill>
                <a:srgbClr val="333333"/>
              </a:solidFill>
              <a:latin typeface="Inter"/>
              <a:ea typeface="Inter"/>
              <a:cs typeface="Inter"/>
              <a:sym typeface="Inter"/>
            </a:endParaRPr>
          </a:p>
        </p:txBody>
      </p:sp>
      <p:sp>
        <p:nvSpPr>
          <p:cNvPr id="317" name="Google Shape;317;p32"/>
          <p:cNvSpPr txBox="1"/>
          <p:nvPr/>
        </p:nvSpPr>
        <p:spPr>
          <a:xfrm>
            <a:off x="4667255" y="971960"/>
            <a:ext cx="7077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lang="en" sz="900">
                <a:solidFill>
                  <a:srgbClr val="5E5E5E"/>
                </a:solidFill>
                <a:latin typeface="Helvetica Neue"/>
                <a:ea typeface="Helvetica Neue"/>
                <a:cs typeface="Helvetica Neue"/>
                <a:sym typeface="Helvetica Neue"/>
              </a:rPr>
              <a:t>Linear Model</a:t>
            </a:r>
            <a:endParaRPr sz="500"/>
          </a:p>
        </p:txBody>
      </p:sp>
      <p:sp>
        <p:nvSpPr>
          <p:cNvPr id="318" name="Google Shape;318;p32"/>
          <p:cNvSpPr txBox="1"/>
          <p:nvPr/>
        </p:nvSpPr>
        <p:spPr>
          <a:xfrm>
            <a:off x="7207088" y="971960"/>
            <a:ext cx="2736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n" sz="900" u="none" cap="none" strike="noStrike">
                <a:solidFill>
                  <a:srgbClr val="5E5E5E"/>
                </a:solidFill>
                <a:latin typeface="Helvetica Neue"/>
                <a:ea typeface="Helvetica Neue"/>
                <a:cs typeface="Helvetica Neue"/>
                <a:sym typeface="Helvetica Neue"/>
              </a:rPr>
              <a:t>PCA</a:t>
            </a:r>
            <a:endParaRPr sz="500"/>
          </a:p>
        </p:txBody>
      </p:sp>
      <p:sp>
        <p:nvSpPr>
          <p:cNvPr id="319" name="Google Shape;319;p32"/>
          <p:cNvSpPr txBox="1"/>
          <p:nvPr/>
        </p:nvSpPr>
        <p:spPr>
          <a:xfrm>
            <a:off x="4592006" y="2849146"/>
            <a:ext cx="9975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n" sz="900" u="none" cap="none" strike="noStrike">
                <a:solidFill>
                  <a:srgbClr val="5E5E5E"/>
                </a:solidFill>
                <a:latin typeface="Helvetica Neue"/>
                <a:ea typeface="Helvetica Neue"/>
                <a:cs typeface="Helvetica Neue"/>
                <a:sym typeface="Helvetica Neue"/>
              </a:rPr>
              <a:t>Nearest Neighbors</a:t>
            </a:r>
            <a:endParaRPr sz="500"/>
          </a:p>
        </p:txBody>
      </p:sp>
      <p:sp>
        <p:nvSpPr>
          <p:cNvPr id="320" name="Google Shape;320;p32"/>
          <p:cNvSpPr txBox="1"/>
          <p:nvPr/>
        </p:nvSpPr>
        <p:spPr>
          <a:xfrm>
            <a:off x="7047182" y="2849146"/>
            <a:ext cx="593400" cy="177000"/>
          </a:xfrm>
          <a:prstGeom prst="rect">
            <a:avLst/>
          </a:prstGeom>
          <a:noFill/>
          <a:ln>
            <a:noFill/>
          </a:ln>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5E5E5E"/>
              </a:buClr>
              <a:buSzPts val="900"/>
              <a:buFont typeface="Helvetica Neue"/>
              <a:buNone/>
            </a:pPr>
            <a:r>
              <a:rPr b="0" i="0" lang="en" sz="900" u="none" cap="none" strike="noStrike">
                <a:solidFill>
                  <a:srgbClr val="5E5E5E"/>
                </a:solidFill>
                <a:latin typeface="Helvetica Neue"/>
                <a:ea typeface="Helvetica Neue"/>
                <a:cs typeface="Helvetica Neue"/>
                <a:sym typeface="Helvetica Neue"/>
              </a:rPr>
              <a:t>Subsetting</a:t>
            </a:r>
            <a:endParaRPr sz="500"/>
          </a:p>
        </p:txBody>
      </p:sp>
      <p:pic>
        <p:nvPicPr>
          <p:cNvPr descr="fig1_overview.pdf" id="321" name="Google Shape;321;p32"/>
          <p:cNvPicPr preferRelativeResize="0"/>
          <p:nvPr/>
        </p:nvPicPr>
        <p:blipFill rotWithShape="1">
          <a:blip r:embed="rId3">
            <a:alphaModFix/>
          </a:blip>
          <a:srcRect b="0" l="0" r="0" t="0"/>
          <a:stretch/>
        </p:blipFill>
        <p:spPr>
          <a:xfrm>
            <a:off x="941749" y="1261868"/>
            <a:ext cx="7260505" cy="3347569"/>
          </a:xfrm>
          <a:prstGeom prst="rect">
            <a:avLst/>
          </a:prstGeom>
          <a:noFill/>
          <a:ln>
            <a:noFill/>
          </a:ln>
        </p:spPr>
      </p:pic>
      <p:sp>
        <p:nvSpPr>
          <p:cNvPr id="322" name="Google Shape;32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Processing single-cell RNA-sequencing data</a:t>
            </a:r>
            <a:endParaRPr/>
          </a:p>
        </p:txBody>
      </p:sp>
      <p:sp>
        <p:nvSpPr>
          <p:cNvPr id="329" name="Google Shape;329;p33"/>
          <p:cNvSpPr/>
          <p:nvPr/>
        </p:nvSpPr>
        <p:spPr>
          <a:xfrm>
            <a:off x="797828" y="914351"/>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scRNA-seq data matrix</a:t>
            </a:r>
            <a:endParaRPr sz="1100"/>
          </a:p>
        </p:txBody>
      </p:sp>
      <p:cxnSp>
        <p:nvCxnSpPr>
          <p:cNvPr id="330" name="Google Shape;330;p33"/>
          <p:cNvCxnSpPr/>
          <p:nvPr/>
        </p:nvCxnSpPr>
        <p:spPr>
          <a:xfrm>
            <a:off x="2576621" y="1257250"/>
            <a:ext cx="760800" cy="0"/>
          </a:xfrm>
          <a:prstGeom prst="straightConnector1">
            <a:avLst/>
          </a:prstGeom>
          <a:noFill/>
          <a:ln cap="flat" cmpd="sng" w="7150">
            <a:solidFill>
              <a:schemeClr val="accent1"/>
            </a:solidFill>
            <a:prstDash val="solid"/>
            <a:miter lim="800000"/>
            <a:headEnd len="sm" w="sm" type="none"/>
            <a:tailEnd len="med" w="med" type="triangle"/>
          </a:ln>
        </p:spPr>
      </p:cxnSp>
      <p:sp>
        <p:nvSpPr>
          <p:cNvPr id="331" name="Google Shape;331;p33"/>
          <p:cNvSpPr/>
          <p:nvPr/>
        </p:nvSpPr>
        <p:spPr>
          <a:xfrm>
            <a:off x="3433871" y="914351"/>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Pre-process and QC</a:t>
            </a:r>
            <a:endParaRPr sz="1100"/>
          </a:p>
        </p:txBody>
      </p:sp>
      <p:cxnSp>
        <p:nvCxnSpPr>
          <p:cNvPr id="332" name="Google Shape;332;p33"/>
          <p:cNvCxnSpPr/>
          <p:nvPr/>
        </p:nvCxnSpPr>
        <p:spPr>
          <a:xfrm rot="10800000">
            <a:off x="3935339" y="2057447"/>
            <a:ext cx="350100" cy="600"/>
          </a:xfrm>
          <a:prstGeom prst="straightConnector1">
            <a:avLst/>
          </a:prstGeom>
          <a:noFill/>
          <a:ln cap="flat" cmpd="sng" w="7150">
            <a:solidFill>
              <a:schemeClr val="accent1"/>
            </a:solidFill>
            <a:prstDash val="solid"/>
            <a:miter lim="800000"/>
            <a:headEnd len="sm" w="sm" type="none"/>
            <a:tailEnd len="med" w="med" type="triangle"/>
          </a:ln>
        </p:spPr>
      </p:cxnSp>
      <p:cxnSp>
        <p:nvCxnSpPr>
          <p:cNvPr id="333" name="Google Shape;333;p33"/>
          <p:cNvCxnSpPr/>
          <p:nvPr/>
        </p:nvCxnSpPr>
        <p:spPr>
          <a:xfrm rot="10800000">
            <a:off x="3925191" y="2572675"/>
            <a:ext cx="343200" cy="0"/>
          </a:xfrm>
          <a:prstGeom prst="straightConnector1">
            <a:avLst/>
          </a:prstGeom>
          <a:noFill/>
          <a:ln cap="flat" cmpd="sng" w="7150">
            <a:solidFill>
              <a:schemeClr val="accent1"/>
            </a:solidFill>
            <a:prstDash val="solid"/>
            <a:miter lim="800000"/>
            <a:headEnd len="sm" w="sm" type="none"/>
            <a:tailEnd len="med" w="med" type="triangle"/>
          </a:ln>
        </p:spPr>
      </p:cxnSp>
      <p:cxnSp>
        <p:nvCxnSpPr>
          <p:cNvPr id="334" name="Google Shape;334;p33"/>
          <p:cNvCxnSpPr/>
          <p:nvPr/>
        </p:nvCxnSpPr>
        <p:spPr>
          <a:xfrm>
            <a:off x="4275047" y="1685875"/>
            <a:ext cx="10500" cy="1936500"/>
          </a:xfrm>
          <a:prstGeom prst="straightConnector1">
            <a:avLst/>
          </a:prstGeom>
          <a:noFill/>
          <a:ln cap="flat" cmpd="sng" w="7150">
            <a:solidFill>
              <a:schemeClr val="accent1"/>
            </a:solidFill>
            <a:prstDash val="solid"/>
            <a:miter lim="800000"/>
            <a:headEnd len="sm" w="sm" type="none"/>
            <a:tailEnd len="sm" w="sm" type="none"/>
          </a:ln>
        </p:spPr>
      </p:cxnSp>
      <p:sp>
        <p:nvSpPr>
          <p:cNvPr id="335" name="Google Shape;335;p33"/>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cxnSp>
        <p:nvCxnSpPr>
          <p:cNvPr id="336" name="Google Shape;336;p33"/>
          <p:cNvCxnSpPr/>
          <p:nvPr/>
        </p:nvCxnSpPr>
        <p:spPr>
          <a:xfrm rot="10800000">
            <a:off x="3924947" y="3082178"/>
            <a:ext cx="350100" cy="3300"/>
          </a:xfrm>
          <a:prstGeom prst="straightConnector1">
            <a:avLst/>
          </a:prstGeom>
          <a:noFill/>
          <a:ln cap="flat" cmpd="sng" w="7150">
            <a:solidFill>
              <a:schemeClr val="accent1"/>
            </a:solidFill>
            <a:prstDash val="solid"/>
            <a:miter lim="800000"/>
            <a:headEnd len="sm" w="sm" type="none"/>
            <a:tailEnd len="med" w="med" type="triangle"/>
          </a:ln>
        </p:spPr>
      </p:cxnSp>
      <p:cxnSp>
        <p:nvCxnSpPr>
          <p:cNvPr id="337" name="Google Shape;337;p33"/>
          <p:cNvCxnSpPr/>
          <p:nvPr/>
        </p:nvCxnSpPr>
        <p:spPr>
          <a:xfrm flipH="1">
            <a:off x="3924947" y="3622154"/>
            <a:ext cx="350100" cy="3300"/>
          </a:xfrm>
          <a:prstGeom prst="straightConnector1">
            <a:avLst/>
          </a:prstGeom>
          <a:noFill/>
          <a:ln cap="flat" cmpd="sng" w="7150">
            <a:solidFill>
              <a:schemeClr val="accent1"/>
            </a:solidFill>
            <a:prstDash val="solid"/>
            <a:miter lim="800000"/>
            <a:headEnd len="sm" w="sm" type="none"/>
            <a:tailEnd len="med" w="med" type="triangle"/>
          </a:ln>
        </p:spPr>
      </p:cxnSp>
      <p:sp>
        <p:nvSpPr>
          <p:cNvPr id="338" name="Google Shape;338;p33"/>
          <p:cNvSpPr txBox="1"/>
          <p:nvPr/>
        </p:nvSpPr>
        <p:spPr>
          <a:xfrm>
            <a:off x="1272965" y="2375872"/>
            <a:ext cx="2581500" cy="5001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400">
                <a:solidFill>
                  <a:srgbClr val="00B050"/>
                </a:solidFill>
                <a:latin typeface="Calibri"/>
                <a:ea typeface="Calibri"/>
                <a:cs typeface="Calibri"/>
                <a:sym typeface="Calibri"/>
              </a:rPr>
              <a:t>Library size distribution; Number of cells each gene is expressed in</a:t>
            </a:r>
            <a:endParaRPr sz="1100"/>
          </a:p>
        </p:txBody>
      </p:sp>
      <p:sp>
        <p:nvSpPr>
          <p:cNvPr id="339" name="Google Shape;339;p33"/>
          <p:cNvSpPr txBox="1"/>
          <p:nvPr/>
        </p:nvSpPr>
        <p:spPr>
          <a:xfrm>
            <a:off x="1272964" y="2931424"/>
            <a:ext cx="2581500" cy="5001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400">
                <a:solidFill>
                  <a:srgbClr val="00B050"/>
                </a:solidFill>
                <a:latin typeface="Calibri"/>
                <a:ea typeface="Calibri"/>
                <a:cs typeface="Calibri"/>
                <a:sym typeface="Calibri"/>
              </a:rPr>
              <a:t>Mitochondria or ribosomal expression</a:t>
            </a:r>
            <a:endParaRPr sz="1100"/>
          </a:p>
        </p:txBody>
      </p:sp>
      <p:sp>
        <p:nvSpPr>
          <p:cNvPr id="340" name="Google Shape;340;p33"/>
          <p:cNvSpPr txBox="1"/>
          <p:nvPr/>
        </p:nvSpPr>
        <p:spPr>
          <a:xfrm>
            <a:off x="457201" y="3487097"/>
            <a:ext cx="3397200" cy="2847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400">
                <a:solidFill>
                  <a:srgbClr val="00B050"/>
                </a:solidFill>
                <a:latin typeface="Calibri"/>
                <a:ea typeface="Calibri"/>
                <a:cs typeface="Calibri"/>
                <a:sym typeface="Calibri"/>
              </a:rPr>
              <a:t>Number of uniquely expressed genes per cell</a:t>
            </a:r>
            <a:endParaRPr sz="1100"/>
          </a:p>
        </p:txBody>
      </p:sp>
      <p:sp>
        <p:nvSpPr>
          <p:cNvPr id="341" name="Google Shape;341;p33"/>
          <p:cNvSpPr txBox="1"/>
          <p:nvPr/>
        </p:nvSpPr>
        <p:spPr>
          <a:xfrm>
            <a:off x="147174" y="1841875"/>
            <a:ext cx="3707400" cy="5001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1400">
                <a:solidFill>
                  <a:schemeClr val="dk1"/>
                </a:solidFill>
                <a:latin typeface="Calibri"/>
                <a:ea typeface="Calibri"/>
                <a:cs typeface="Calibri"/>
                <a:sym typeface="Calibri"/>
              </a:rPr>
              <a:t>Identifying Empty droplets (ambient RNA) </a:t>
            </a:r>
            <a:endParaRPr sz="1400">
              <a:solidFill>
                <a:schemeClr val="dk1"/>
              </a:solidFill>
              <a:latin typeface="Calibri"/>
              <a:ea typeface="Calibri"/>
              <a:cs typeface="Calibri"/>
              <a:sym typeface="Calibri"/>
            </a:endParaRPr>
          </a:p>
          <a:p>
            <a:pPr indent="0" lvl="0" marL="0" marR="0" rtl="0" algn="r">
              <a:spcBef>
                <a:spcPts val="0"/>
              </a:spcBef>
              <a:spcAft>
                <a:spcPts val="0"/>
              </a:spcAft>
              <a:buNone/>
            </a:pPr>
            <a:r>
              <a:rPr lang="en" sz="1400">
                <a:solidFill>
                  <a:schemeClr val="dk1"/>
                </a:solidFill>
                <a:latin typeface="Calibri"/>
                <a:ea typeface="Calibri"/>
                <a:cs typeface="Calibri"/>
                <a:sym typeface="Calibri"/>
              </a:rPr>
              <a:t>or doublets (multiple cells, one barcode)</a:t>
            </a:r>
            <a:endParaRPr sz="1400">
              <a:solidFill>
                <a:schemeClr val="dk1"/>
              </a:solidFill>
              <a:latin typeface="Calibri"/>
              <a:ea typeface="Calibri"/>
              <a:cs typeface="Calibri"/>
              <a:sym typeface="Calibri"/>
            </a:endParaRPr>
          </a:p>
        </p:txBody>
      </p:sp>
      <p:cxnSp>
        <p:nvCxnSpPr>
          <p:cNvPr id="342" name="Google Shape;342;p33"/>
          <p:cNvCxnSpPr/>
          <p:nvPr/>
        </p:nvCxnSpPr>
        <p:spPr>
          <a:xfrm>
            <a:off x="5423730" y="1257250"/>
            <a:ext cx="760800" cy="0"/>
          </a:xfrm>
          <a:prstGeom prst="straightConnector1">
            <a:avLst/>
          </a:prstGeom>
          <a:noFill/>
          <a:ln cap="flat" cmpd="sng" w="7150">
            <a:solidFill>
              <a:schemeClr val="accent1"/>
            </a:solidFill>
            <a:prstDash val="solid"/>
            <a:miter lim="800000"/>
            <a:headEnd len="sm" w="sm" type="none"/>
            <a:tailEnd len="med" w="med" type="triangle"/>
          </a:ln>
        </p:spPr>
      </p:cxnSp>
      <p:sp>
        <p:nvSpPr>
          <p:cNvPr id="343" name="Google Shape;343;p33"/>
          <p:cNvSpPr/>
          <p:nvPr/>
        </p:nvSpPr>
        <p:spPr>
          <a:xfrm>
            <a:off x="6334234" y="914351"/>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Data Normalization</a:t>
            </a:r>
            <a:endParaRPr sz="1100"/>
          </a:p>
        </p:txBody>
      </p:sp>
      <p:cxnSp>
        <p:nvCxnSpPr>
          <p:cNvPr id="344" name="Google Shape;344;p33"/>
          <p:cNvCxnSpPr/>
          <p:nvPr/>
        </p:nvCxnSpPr>
        <p:spPr>
          <a:xfrm>
            <a:off x="7096666" y="1807968"/>
            <a:ext cx="0" cy="567900"/>
          </a:xfrm>
          <a:prstGeom prst="straightConnector1">
            <a:avLst/>
          </a:prstGeom>
          <a:noFill/>
          <a:ln cap="flat" cmpd="sng" w="7150">
            <a:solidFill>
              <a:schemeClr val="accent1"/>
            </a:solidFill>
            <a:prstDash val="solid"/>
            <a:miter lim="800000"/>
            <a:headEnd len="sm" w="sm" type="none"/>
            <a:tailEnd len="med" w="med" type="triangle"/>
          </a:ln>
        </p:spPr>
      </p:cxnSp>
      <p:sp>
        <p:nvSpPr>
          <p:cNvPr id="345" name="Google Shape;345;p33"/>
          <p:cNvSpPr/>
          <p:nvPr/>
        </p:nvSpPr>
        <p:spPr>
          <a:xfrm>
            <a:off x="6334234" y="2571750"/>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Downstream analysis</a:t>
            </a:r>
            <a:endParaRPr sz="1100"/>
          </a:p>
        </p:txBody>
      </p:sp>
      <p:cxnSp>
        <p:nvCxnSpPr>
          <p:cNvPr id="346" name="Google Shape;346;p33"/>
          <p:cNvCxnSpPr/>
          <p:nvPr/>
        </p:nvCxnSpPr>
        <p:spPr>
          <a:xfrm flipH="1" rot="10800000">
            <a:off x="4268391" y="2054185"/>
            <a:ext cx="420600" cy="600"/>
          </a:xfrm>
          <a:prstGeom prst="straightConnector1">
            <a:avLst/>
          </a:prstGeom>
          <a:noFill/>
          <a:ln cap="flat" cmpd="sng" w="7150">
            <a:solidFill>
              <a:schemeClr val="accent1"/>
            </a:solidFill>
            <a:prstDash val="solid"/>
            <a:miter lim="800000"/>
            <a:headEnd len="sm" w="sm" type="none"/>
            <a:tailEnd len="med" w="med" type="triangle"/>
          </a:ln>
        </p:spPr>
      </p:cxnSp>
      <p:sp>
        <p:nvSpPr>
          <p:cNvPr id="347" name="Google Shape;347;p33"/>
          <p:cNvSpPr txBox="1"/>
          <p:nvPr/>
        </p:nvSpPr>
        <p:spPr>
          <a:xfrm>
            <a:off x="4686242" y="1805575"/>
            <a:ext cx="1498200" cy="577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a:solidFill>
                  <a:schemeClr val="dk1"/>
                </a:solidFill>
                <a:latin typeface="Calibri"/>
                <a:ea typeface="Calibri"/>
                <a:cs typeface="Calibri"/>
                <a:sym typeface="Calibri"/>
              </a:rPr>
              <a:t>New version of CellRanger implements EmptyDrops (Lun et al.)</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4"/>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Every analysis starts by loading packages and data</a:t>
            </a:r>
            <a:endParaRPr/>
          </a:p>
        </p:txBody>
      </p:sp>
      <p:sp>
        <p:nvSpPr>
          <p:cNvPr id="353" name="Google Shape;353;p34"/>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354" name="Google Shape;354;p34"/>
          <p:cNvPicPr preferRelativeResize="0"/>
          <p:nvPr/>
        </p:nvPicPr>
        <p:blipFill rotWithShape="1">
          <a:blip r:embed="rId3">
            <a:alphaModFix/>
          </a:blip>
          <a:srcRect b="0" l="0" r="0" t="0"/>
          <a:stretch/>
        </p:blipFill>
        <p:spPr>
          <a:xfrm>
            <a:off x="43388" y="681525"/>
            <a:ext cx="8764781" cy="3846187"/>
          </a:xfrm>
          <a:prstGeom prst="rect">
            <a:avLst/>
          </a:prstGeom>
          <a:noFill/>
          <a:ln>
            <a:noFill/>
          </a:ln>
        </p:spPr>
      </p:pic>
      <p:cxnSp>
        <p:nvCxnSpPr>
          <p:cNvPr id="355" name="Google Shape;355;p34"/>
          <p:cNvCxnSpPr/>
          <p:nvPr/>
        </p:nvCxnSpPr>
        <p:spPr>
          <a:xfrm flipH="1">
            <a:off x="3678485" y="4016510"/>
            <a:ext cx="747300" cy="171300"/>
          </a:xfrm>
          <a:prstGeom prst="straightConnector1">
            <a:avLst/>
          </a:prstGeom>
          <a:noFill/>
          <a:ln cap="flat" cmpd="sng" w="7150">
            <a:solidFill>
              <a:schemeClr val="accent1"/>
            </a:solidFill>
            <a:prstDash val="solid"/>
            <a:miter lim="800000"/>
            <a:headEnd len="sm" w="sm" type="none"/>
            <a:tailEnd len="med" w="med" type="triangle"/>
          </a:ln>
        </p:spPr>
      </p:cxnSp>
      <p:cxnSp>
        <p:nvCxnSpPr>
          <p:cNvPr id="356" name="Google Shape;356;p34"/>
          <p:cNvCxnSpPr/>
          <p:nvPr/>
        </p:nvCxnSpPr>
        <p:spPr>
          <a:xfrm rot="10800000">
            <a:off x="4425803" y="4255259"/>
            <a:ext cx="1319100" cy="0"/>
          </a:xfrm>
          <a:prstGeom prst="straightConnector1">
            <a:avLst/>
          </a:prstGeom>
          <a:noFill/>
          <a:ln cap="flat" cmpd="sng" w="7150">
            <a:solidFill>
              <a:schemeClr val="accent1"/>
            </a:solidFill>
            <a:prstDash val="solid"/>
            <a:miter lim="800000"/>
            <a:headEnd len="sm" w="sm" type="none"/>
            <a:tailEnd len="med" w="med" type="triangle"/>
          </a:ln>
        </p:spPr>
      </p:cxnSp>
      <p:sp>
        <p:nvSpPr>
          <p:cNvPr id="357" name="Google Shape;357;p34"/>
          <p:cNvSpPr txBox="1"/>
          <p:nvPr/>
        </p:nvSpPr>
        <p:spPr>
          <a:xfrm>
            <a:off x="4461788" y="3844314"/>
            <a:ext cx="1819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Number of cells</a:t>
            </a:r>
            <a:endParaRPr sz="1100"/>
          </a:p>
        </p:txBody>
      </p:sp>
      <p:sp>
        <p:nvSpPr>
          <p:cNvPr id="358" name="Google Shape;358;p34"/>
          <p:cNvSpPr txBox="1"/>
          <p:nvPr/>
        </p:nvSpPr>
        <p:spPr>
          <a:xfrm>
            <a:off x="5830247" y="4058798"/>
            <a:ext cx="10866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Number of genes</a:t>
            </a:r>
            <a:endParaRPr sz="1100"/>
          </a:p>
        </p:txBody>
      </p:sp>
      <p:sp>
        <p:nvSpPr>
          <p:cNvPr id="359" name="Google Shape;359;p34"/>
          <p:cNvSpPr txBox="1"/>
          <p:nvPr/>
        </p:nvSpPr>
        <p:spPr>
          <a:xfrm>
            <a:off x="407888" y="4591444"/>
            <a:ext cx="7413600" cy="284700"/>
          </a:xfrm>
          <a:prstGeom prst="rect">
            <a:avLst/>
          </a:prstGeom>
          <a:noFill/>
          <a:ln cap="flat" cmpd="sng" w="7150">
            <a:solidFill>
              <a:schemeClr val="dk1"/>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0000"/>
                </a:solidFill>
                <a:latin typeface="Calibri"/>
                <a:ea typeface="Calibri"/>
                <a:cs typeface="Calibri"/>
                <a:sym typeface="Calibri"/>
              </a:rPr>
              <a:t>Other attributes like obsp, obsm, varm etc will be added as the analysis progresses.</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Pre-processing and QC of the data</a:t>
            </a:r>
            <a:endParaRPr/>
          </a:p>
        </p:txBody>
      </p:sp>
      <p:sp>
        <p:nvSpPr>
          <p:cNvPr id="365" name="Google Shape;365;p35"/>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366" name="Google Shape;366;p35"/>
          <p:cNvPicPr preferRelativeResize="0"/>
          <p:nvPr/>
        </p:nvPicPr>
        <p:blipFill rotWithShape="1">
          <a:blip r:embed="rId3">
            <a:alphaModFix/>
          </a:blip>
          <a:srcRect b="0" l="0" r="0" t="0"/>
          <a:stretch/>
        </p:blipFill>
        <p:spPr>
          <a:xfrm>
            <a:off x="221456" y="1994788"/>
            <a:ext cx="8811977" cy="1835140"/>
          </a:xfrm>
          <a:prstGeom prst="rect">
            <a:avLst/>
          </a:prstGeom>
          <a:noFill/>
          <a:ln cap="flat" cmpd="sng" w="7150">
            <a:solidFill>
              <a:srgbClr val="FF0000"/>
            </a:solidFill>
            <a:prstDash val="solid"/>
            <a:round/>
            <a:headEnd len="sm" w="sm" type="none"/>
            <a:tailEnd len="sm" w="sm" type="none"/>
          </a:ln>
        </p:spPr>
      </p:pic>
      <p:sp>
        <p:nvSpPr>
          <p:cNvPr id="367" name="Google Shape;367;p35"/>
          <p:cNvSpPr txBox="1"/>
          <p:nvPr/>
        </p:nvSpPr>
        <p:spPr>
          <a:xfrm>
            <a:off x="221456" y="1013534"/>
            <a:ext cx="8440800" cy="592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700">
                <a:solidFill>
                  <a:schemeClr val="dk1"/>
                </a:solidFill>
                <a:latin typeface="Calibri"/>
                <a:ea typeface="Calibri"/>
                <a:cs typeface="Calibri"/>
                <a:sym typeface="Calibri"/>
              </a:rPr>
              <a:t>Automatic QC metrics from scanpy. For more details, see:</a:t>
            </a:r>
            <a:endParaRPr sz="1100"/>
          </a:p>
          <a:p>
            <a:pPr indent="0" lvl="0" marL="0" marR="0" rtl="0" algn="l">
              <a:spcBef>
                <a:spcPts val="0"/>
              </a:spcBef>
              <a:spcAft>
                <a:spcPts val="0"/>
              </a:spcAft>
              <a:buNone/>
            </a:pPr>
            <a:r>
              <a:rPr lang="en" sz="1700" u="sng">
                <a:solidFill>
                  <a:schemeClr val="dk1"/>
                </a:solidFill>
                <a:latin typeface="Calibri"/>
                <a:ea typeface="Calibri"/>
                <a:cs typeface="Calibri"/>
                <a:sym typeface="Calibri"/>
                <a:hlinkClick r:id="rId4">
                  <a:extLst>
                    <a:ext uri="{A12FA001-AC4F-418D-AE19-62706E023703}">
                      <ahyp:hlinkClr val="tx"/>
                    </a:ext>
                  </a:extLst>
                </a:hlinkClick>
              </a:rPr>
              <a:t>https://scanpy.readthedocs.io/en/stable/generated/scanpy.pp.calculate_qc_metrics.html</a:t>
            </a:r>
            <a:r>
              <a:rPr lang="en" sz="1700">
                <a:solidFill>
                  <a:schemeClr val="dk1"/>
                </a:solidFill>
                <a:latin typeface="Calibri"/>
                <a:ea typeface="Calibri"/>
                <a:cs typeface="Calibri"/>
                <a:sym typeface="Calibri"/>
              </a:rPr>
              <a:t> </a:t>
            </a:r>
            <a:endParaRPr sz="1100"/>
          </a:p>
        </p:txBody>
      </p:sp>
      <p:sp>
        <p:nvSpPr>
          <p:cNvPr id="368" name="Google Shape;368;p35"/>
          <p:cNvSpPr/>
          <p:nvPr/>
        </p:nvSpPr>
        <p:spPr>
          <a:xfrm>
            <a:off x="2900364" y="3228963"/>
            <a:ext cx="4586100" cy="142200"/>
          </a:xfrm>
          <a:prstGeom prst="rect">
            <a:avLst/>
          </a:prstGeom>
          <a:solidFill>
            <a:schemeClr val="accent6">
              <a:alpha val="54120"/>
            </a:schemeClr>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69" name="Google Shape;369;p35"/>
          <p:cNvSpPr/>
          <p:nvPr/>
        </p:nvSpPr>
        <p:spPr>
          <a:xfrm>
            <a:off x="3480305" y="3502163"/>
            <a:ext cx="1383600" cy="149100"/>
          </a:xfrm>
          <a:prstGeom prst="rect">
            <a:avLst/>
          </a:prstGeom>
          <a:solidFill>
            <a:schemeClr val="accent6">
              <a:alpha val="54120"/>
            </a:schemeClr>
          </a:solidFill>
          <a:ln cap="flat" cmpd="sng" w="952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6"/>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Pre-processing and QC of the data</a:t>
            </a:r>
            <a:endParaRPr/>
          </a:p>
        </p:txBody>
      </p:sp>
      <p:sp>
        <p:nvSpPr>
          <p:cNvPr id="376" name="Google Shape;376;p36"/>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36"/>
          <p:cNvSpPr txBox="1"/>
          <p:nvPr/>
        </p:nvSpPr>
        <p:spPr>
          <a:xfrm>
            <a:off x="323383" y="3345436"/>
            <a:ext cx="8718600" cy="1546800"/>
          </a:xfrm>
          <a:prstGeom prst="rect">
            <a:avLst/>
          </a:prstGeom>
          <a:noFill/>
          <a:ln cap="flat" cmpd="sng" w="26200">
            <a:solidFill>
              <a:srgbClr val="7030A0"/>
            </a:solidFill>
            <a:prstDash val="solid"/>
            <a:round/>
            <a:headEnd len="sm" w="sm" type="none"/>
            <a:tailEnd len="sm" w="sm" type="none"/>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200"/>
              <a:buFont typeface="Arial"/>
              <a:buChar char="•"/>
            </a:pPr>
            <a:r>
              <a:rPr lang="en" sz="1200">
                <a:solidFill>
                  <a:schemeClr val="dk1"/>
                </a:solidFill>
                <a:latin typeface="Calibri"/>
                <a:ea typeface="Calibri"/>
                <a:cs typeface="Calibri"/>
                <a:sym typeface="Calibri"/>
              </a:rPr>
              <a:t>The scatter plot on the right however suggests that there are some cells with low number of genes expressed but have a decent library size.</a:t>
            </a:r>
            <a:endParaRPr sz="1100"/>
          </a:p>
          <a:p>
            <a:pPr indent="-215900" lvl="0" marL="215900" marR="0" rtl="0" algn="l">
              <a:spcBef>
                <a:spcPts val="0"/>
              </a:spcBef>
              <a:spcAft>
                <a:spcPts val="0"/>
              </a:spcAft>
              <a:buClr>
                <a:schemeClr val="dk1"/>
              </a:buClr>
              <a:buSzPts val="1200"/>
              <a:buFont typeface="Arial"/>
              <a:buChar char="•"/>
            </a:pPr>
            <a:r>
              <a:rPr lang="en" sz="1200">
                <a:solidFill>
                  <a:schemeClr val="dk1"/>
                </a:solidFill>
                <a:latin typeface="Calibri"/>
                <a:ea typeface="Calibri"/>
                <a:cs typeface="Calibri"/>
                <a:sym typeface="Calibri"/>
              </a:rPr>
              <a:t>These cells are likely low quality and should likely be removed. We have two options:</a:t>
            </a:r>
            <a:endParaRPr sz="1100"/>
          </a:p>
          <a:p>
            <a:pPr indent="-254000" lvl="1" marL="596900" marR="0" rtl="0" algn="l">
              <a:spcBef>
                <a:spcPts val="0"/>
              </a:spcBef>
              <a:spcAft>
                <a:spcPts val="0"/>
              </a:spcAft>
              <a:buClr>
                <a:schemeClr val="dk1"/>
              </a:buClr>
              <a:buSzPts val="1200"/>
              <a:buFont typeface="Calibri"/>
              <a:buAutoNum type="arabicPeriod"/>
            </a:pPr>
            <a:r>
              <a:rPr b="0" i="0" lang="en" sz="1200" u="none" cap="none" strike="noStrike">
                <a:solidFill>
                  <a:schemeClr val="dk1"/>
                </a:solidFill>
                <a:latin typeface="Calibri"/>
                <a:ea typeface="Calibri"/>
                <a:cs typeface="Calibri"/>
                <a:sym typeface="Calibri"/>
              </a:rPr>
              <a:t>Remove them now: </a:t>
            </a:r>
            <a:r>
              <a:rPr b="0" i="0" lang="en" sz="900" u="none" cap="none" strike="noStrike">
                <a:solidFill>
                  <a:schemeClr val="dk1"/>
                </a:solidFill>
                <a:latin typeface="Arial"/>
                <a:ea typeface="Arial"/>
                <a:cs typeface="Arial"/>
                <a:sym typeface="Arial"/>
              </a:rPr>
              <a:t>[sc.pp.filter_cells(data, min_counts=None, min_genes=None, max_counts=None, max_genes=None, </a:t>
            </a:r>
            <a:br>
              <a:rPr b="0" i="0" lang="en" sz="900" u="none" cap="none" strike="noStrike">
                <a:solidFill>
                  <a:schemeClr val="dk1"/>
                </a:solidFill>
                <a:latin typeface="Arial"/>
                <a:ea typeface="Arial"/>
                <a:cs typeface="Arial"/>
                <a:sym typeface="Arial"/>
              </a:rPr>
            </a:br>
            <a:r>
              <a:rPr b="0" i="0" lang="en" sz="900" u="none" cap="none" strike="noStrike">
                <a:solidFill>
                  <a:schemeClr val="dk1"/>
                </a:solidFill>
                <a:latin typeface="Arial"/>
                <a:ea typeface="Arial"/>
                <a:cs typeface="Arial"/>
                <a:sym typeface="Arial"/>
              </a:rPr>
              <a:t>inplace=True, copy=False)] </a:t>
            </a:r>
            <a:br>
              <a:rPr b="0" i="0" lang="en" sz="900" u="none" cap="none" strike="noStrike">
                <a:solidFill>
                  <a:schemeClr val="dk1"/>
                </a:solidFill>
                <a:latin typeface="Arial"/>
                <a:ea typeface="Arial"/>
                <a:cs typeface="Arial"/>
                <a:sym typeface="Arial"/>
              </a:rPr>
            </a:br>
            <a:br>
              <a:rPr b="0" i="0" lang="en" sz="900" u="none" cap="none" strike="noStrike">
                <a:solidFill>
                  <a:schemeClr val="dk1"/>
                </a:solidFill>
                <a:latin typeface="Arial"/>
                <a:ea typeface="Arial"/>
                <a:cs typeface="Arial"/>
                <a:sym typeface="Arial"/>
              </a:rPr>
            </a:br>
            <a:r>
              <a:rPr b="0" i="0" lang="en" sz="900" u="none" cap="none" strike="noStrike">
                <a:solidFill>
                  <a:srgbClr val="C55A11"/>
                </a:solidFill>
                <a:latin typeface="Arial"/>
                <a:ea typeface="Arial"/>
                <a:cs typeface="Arial"/>
                <a:sym typeface="Arial"/>
              </a:rPr>
              <a:t>sc.pp.filter_cells(adata, min_genes = np.exp(6))</a:t>
            </a:r>
            <a:endParaRPr sz="1100"/>
          </a:p>
          <a:p>
            <a:pPr indent="-190500" lvl="1" marL="596900" marR="0" rtl="0" algn="l">
              <a:spcBef>
                <a:spcPts val="0"/>
              </a:spcBef>
              <a:spcAft>
                <a:spcPts val="0"/>
              </a:spcAft>
              <a:buClr>
                <a:schemeClr val="dk1"/>
              </a:buClr>
              <a:buSzPts val="900"/>
              <a:buFont typeface="Calibri"/>
              <a:buNone/>
            </a:pPr>
            <a:r>
              <a:t/>
            </a:r>
            <a:endParaRPr b="0" i="0" sz="900" u="none" cap="none" strike="noStrike">
              <a:solidFill>
                <a:schemeClr val="dk1"/>
              </a:solidFill>
              <a:latin typeface="Arial"/>
              <a:ea typeface="Arial"/>
              <a:cs typeface="Arial"/>
              <a:sym typeface="Arial"/>
            </a:endParaRPr>
          </a:p>
          <a:p>
            <a:pPr indent="-254000" lvl="1" marL="596900" marR="0" rtl="0" algn="l">
              <a:spcBef>
                <a:spcPts val="0"/>
              </a:spcBef>
              <a:spcAft>
                <a:spcPts val="0"/>
              </a:spcAft>
              <a:buClr>
                <a:srgbClr val="FF88EE"/>
              </a:buClr>
              <a:buSzPts val="1200"/>
              <a:buFont typeface="Calibri"/>
              <a:buAutoNum type="arabicPeriod"/>
            </a:pPr>
            <a:r>
              <a:rPr b="0" i="0" lang="en" sz="1200" u="none" cap="none" strike="noStrike">
                <a:solidFill>
                  <a:srgbClr val="FF88EE"/>
                </a:solidFill>
                <a:latin typeface="Calibri"/>
                <a:ea typeface="Calibri"/>
                <a:cs typeface="Calibri"/>
                <a:sym typeface="Calibri"/>
              </a:rPr>
              <a:t>Remove them after some downstream analysis</a:t>
            </a:r>
            <a:endParaRPr sz="1100"/>
          </a:p>
        </p:txBody>
      </p:sp>
      <p:pic>
        <p:nvPicPr>
          <p:cNvPr id="378" name="Google Shape;378;p36"/>
          <p:cNvPicPr preferRelativeResize="0"/>
          <p:nvPr/>
        </p:nvPicPr>
        <p:blipFill rotWithShape="1">
          <a:blip r:embed="rId3">
            <a:alphaModFix/>
          </a:blip>
          <a:srcRect b="0" l="0" r="0" t="0"/>
          <a:stretch/>
        </p:blipFill>
        <p:spPr>
          <a:xfrm>
            <a:off x="410" y="712951"/>
            <a:ext cx="9143181" cy="2606277"/>
          </a:xfrm>
          <a:prstGeom prst="rect">
            <a:avLst/>
          </a:prstGeom>
          <a:noFill/>
          <a:ln>
            <a:noFill/>
          </a:ln>
        </p:spPr>
      </p:pic>
      <p:sp>
        <p:nvSpPr>
          <p:cNvPr id="379" name="Google Shape;379;p36"/>
          <p:cNvSpPr/>
          <p:nvPr/>
        </p:nvSpPr>
        <p:spPr>
          <a:xfrm>
            <a:off x="6534895" y="2183861"/>
            <a:ext cx="1419000" cy="801900"/>
          </a:xfrm>
          <a:prstGeom prst="rect">
            <a:avLst/>
          </a:prstGeom>
          <a:solidFill>
            <a:srgbClr val="FF0000">
              <a:alpha val="4392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37"/>
          <p:cNvPicPr preferRelativeResize="0"/>
          <p:nvPr/>
        </p:nvPicPr>
        <p:blipFill rotWithShape="1">
          <a:blip r:embed="rId3">
            <a:alphaModFix/>
          </a:blip>
          <a:srcRect b="78450" l="0" r="46475" t="0"/>
          <a:stretch/>
        </p:blipFill>
        <p:spPr>
          <a:xfrm>
            <a:off x="4262021" y="2511560"/>
            <a:ext cx="4863986" cy="350576"/>
          </a:xfrm>
          <a:prstGeom prst="rect">
            <a:avLst/>
          </a:prstGeom>
          <a:noFill/>
          <a:ln>
            <a:noFill/>
          </a:ln>
        </p:spPr>
      </p:pic>
      <p:sp>
        <p:nvSpPr>
          <p:cNvPr id="385" name="Google Shape;385;p37"/>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Pre-processing – mitochondrial content</a:t>
            </a:r>
            <a:endParaRPr/>
          </a:p>
        </p:txBody>
      </p:sp>
      <p:sp>
        <p:nvSpPr>
          <p:cNvPr id="386" name="Google Shape;386;p37"/>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37"/>
          <p:cNvSpPr/>
          <p:nvPr/>
        </p:nvSpPr>
        <p:spPr>
          <a:xfrm>
            <a:off x="229954" y="810567"/>
            <a:ext cx="8520000" cy="484800"/>
          </a:xfrm>
          <a:prstGeom prst="rect">
            <a:avLst/>
          </a:prstGeom>
          <a:noFill/>
          <a:ln>
            <a:noFill/>
          </a:ln>
        </p:spPr>
        <p:txBody>
          <a:bodyPr anchorCtr="0" anchor="t" bIns="34275" lIns="68575" spcFirstLastPara="1" rIns="68575" wrap="square" tIns="34275">
            <a:noAutofit/>
          </a:bodyPr>
          <a:lstStyle/>
          <a:p>
            <a:pPr indent="-215900" lvl="0" marL="215900" marR="0" rtl="0" algn="l">
              <a:spcBef>
                <a:spcPts val="0"/>
              </a:spcBef>
              <a:spcAft>
                <a:spcPts val="0"/>
              </a:spcAft>
              <a:buClr>
                <a:srgbClr val="000000"/>
              </a:buClr>
              <a:buSzPts val="1400"/>
              <a:buFont typeface="Calibri"/>
              <a:buChar char="-"/>
            </a:pPr>
            <a:r>
              <a:rPr lang="en" sz="1400">
                <a:solidFill>
                  <a:srgbClr val="000000"/>
                </a:solidFill>
                <a:latin typeface="Calibri"/>
                <a:ea typeface="Calibri"/>
                <a:cs typeface="Calibri"/>
                <a:sym typeface="Calibri"/>
              </a:rPr>
              <a:t>The presence of high mitochondrial gene expression can indicate cells undergoing apoptosis. </a:t>
            </a:r>
            <a:endParaRPr sz="1100"/>
          </a:p>
          <a:p>
            <a:pPr indent="-215900" lvl="0" marL="215900" marR="0" rtl="0" algn="l">
              <a:spcBef>
                <a:spcPts val="0"/>
              </a:spcBef>
              <a:spcAft>
                <a:spcPts val="0"/>
              </a:spcAft>
              <a:buClr>
                <a:srgbClr val="000000"/>
              </a:buClr>
              <a:buSzPts val="1400"/>
              <a:buFont typeface="Calibri"/>
              <a:buChar char="-"/>
            </a:pPr>
            <a:r>
              <a:rPr lang="en" sz="1400">
                <a:solidFill>
                  <a:srgbClr val="000000"/>
                </a:solidFill>
                <a:latin typeface="Calibri"/>
                <a:ea typeface="Calibri"/>
                <a:cs typeface="Calibri"/>
                <a:sym typeface="Calibri"/>
              </a:rPr>
              <a:t>A typical step in scRNA-seq analysis is to remove cells with high mitochondrial RNA expression.</a:t>
            </a:r>
            <a:endParaRPr sz="1100"/>
          </a:p>
        </p:txBody>
      </p:sp>
      <p:pic>
        <p:nvPicPr>
          <p:cNvPr id="388" name="Google Shape;388;p37"/>
          <p:cNvPicPr preferRelativeResize="0"/>
          <p:nvPr/>
        </p:nvPicPr>
        <p:blipFill rotWithShape="1">
          <a:blip r:embed="rId4">
            <a:alphaModFix/>
          </a:blip>
          <a:srcRect b="0" l="0" r="0" t="0"/>
          <a:stretch/>
        </p:blipFill>
        <p:spPr>
          <a:xfrm>
            <a:off x="311587" y="1295306"/>
            <a:ext cx="4689975" cy="3494738"/>
          </a:xfrm>
          <a:prstGeom prst="rect">
            <a:avLst/>
          </a:prstGeom>
          <a:noFill/>
          <a:ln>
            <a:noFill/>
          </a:ln>
        </p:spPr>
      </p:pic>
      <p:sp>
        <p:nvSpPr>
          <p:cNvPr id="389" name="Google Shape;389;p37"/>
          <p:cNvSpPr/>
          <p:nvPr/>
        </p:nvSpPr>
        <p:spPr>
          <a:xfrm>
            <a:off x="3682218" y="3734972"/>
            <a:ext cx="1202700" cy="791400"/>
          </a:xfrm>
          <a:prstGeom prst="rect">
            <a:avLst/>
          </a:prstGeom>
          <a:noFill/>
          <a:ln cap="flat" cmpd="sng" w="952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390" name="Google Shape;390;p37"/>
          <p:cNvGrpSpPr/>
          <p:nvPr/>
        </p:nvGrpSpPr>
        <p:grpSpPr>
          <a:xfrm>
            <a:off x="5146238" y="2973225"/>
            <a:ext cx="4069256" cy="2143688"/>
            <a:chOff x="6861650" y="3964300"/>
            <a:chExt cx="5425675" cy="2858250"/>
          </a:xfrm>
        </p:grpSpPr>
        <p:sp>
          <p:nvSpPr>
            <p:cNvPr id="391" name="Google Shape;391;p37"/>
            <p:cNvSpPr txBox="1"/>
            <p:nvPr/>
          </p:nvSpPr>
          <p:spPr>
            <a:xfrm>
              <a:off x="6861650" y="3964300"/>
              <a:ext cx="5232300" cy="239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Question: Should we be doing this from the beginning itself?</a:t>
              </a:r>
              <a:endParaRPr sz="1100"/>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 sz="1400">
                  <a:solidFill>
                    <a:schemeClr val="dk1"/>
                  </a:solidFill>
                  <a:latin typeface="Calibri"/>
                  <a:ea typeface="Calibri"/>
                  <a:cs typeface="Calibri"/>
                  <a:sym typeface="Calibri"/>
                </a:rPr>
                <a:t>=&gt; In majority cases it may be important to remove them from any analysis as they can corrupt co-variance in the data. However, if you want to study cells under apoptosis then you should not do this. </a:t>
              </a:r>
              <a:endParaRPr sz="1100"/>
            </a:p>
          </p:txBody>
        </p:sp>
        <p:sp>
          <p:nvSpPr>
            <p:cNvPr id="392" name="Google Shape;392;p37"/>
            <p:cNvSpPr txBox="1"/>
            <p:nvPr/>
          </p:nvSpPr>
          <p:spPr>
            <a:xfrm>
              <a:off x="7242825" y="6035050"/>
              <a:ext cx="5044500" cy="787500"/>
            </a:xfrm>
            <a:prstGeom prst="rect">
              <a:avLst/>
            </a:prstGeom>
            <a:noFill/>
            <a:ln>
              <a:noFill/>
            </a:ln>
          </p:spPr>
          <p:txBody>
            <a:bodyPr anchorCtr="0" anchor="t" bIns="68575" lIns="68575" spcFirstLastPara="1" rIns="68575" wrap="square" tIns="68575">
              <a:noAutofit/>
            </a:bodyPr>
            <a:lstStyle/>
            <a:p>
              <a:pPr indent="0" lvl="0" marL="0" marR="63500" rtl="0" algn="l">
                <a:lnSpc>
                  <a:spcPct val="100000"/>
                </a:lnSpc>
                <a:spcBef>
                  <a:spcPts val="0"/>
                </a:spcBef>
                <a:spcAft>
                  <a:spcPts val="0"/>
                </a:spcAft>
                <a:buClr>
                  <a:schemeClr val="dk1"/>
                </a:buClr>
                <a:buSzPts val="800"/>
                <a:buFont typeface="Arial"/>
                <a:buNone/>
              </a:pPr>
              <a:r>
                <a:rPr lang="en" sz="600">
                  <a:solidFill>
                    <a:schemeClr val="dk1"/>
                  </a:solidFill>
                </a:rPr>
                <a:t>Yates, J., Kraft, A. &amp; Boeva, V. Filtering cells with high mitochondrial content depletes viable metabolically altered malignant cell populations in cancer single-cell studies. </a:t>
              </a:r>
              <a:r>
                <a:rPr i="1" lang="en" sz="600">
                  <a:solidFill>
                    <a:schemeClr val="dk1"/>
                  </a:solidFill>
                </a:rPr>
                <a:t>Genome Biology</a:t>
              </a:r>
              <a:r>
                <a:rPr lang="en" sz="600">
                  <a:solidFill>
                    <a:schemeClr val="dk1"/>
                  </a:solidFill>
                </a:rPr>
                <a:t> </a:t>
              </a:r>
              <a:r>
                <a:rPr b="1" lang="en" sz="600">
                  <a:solidFill>
                    <a:schemeClr val="dk1"/>
                  </a:solidFill>
                </a:rPr>
                <a:t>26</a:t>
              </a:r>
              <a:r>
                <a:rPr lang="en" sz="600">
                  <a:solidFill>
                    <a:schemeClr val="dk1"/>
                  </a:solidFill>
                </a:rPr>
                <a:t>, 91 (2025).</a:t>
              </a:r>
              <a:endParaRPr sz="600">
                <a:solidFill>
                  <a:schemeClr val="dk1"/>
                </a:solidFill>
              </a:endParaRPr>
            </a:p>
            <a:p>
              <a:pPr indent="0" lvl="0" marL="0" rtl="0" algn="l">
                <a:lnSpc>
                  <a:spcPct val="100000"/>
                </a:lnSpc>
                <a:spcBef>
                  <a:spcPts val="0"/>
                </a:spcBef>
                <a:spcAft>
                  <a:spcPts val="0"/>
                </a:spcAft>
                <a:buNone/>
              </a:pPr>
              <a:r>
                <a:t/>
              </a:r>
              <a:endParaRPr sz="600">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38"/>
          <p:cNvPicPr preferRelativeResize="0"/>
          <p:nvPr/>
        </p:nvPicPr>
        <p:blipFill rotWithShape="1">
          <a:blip r:embed="rId3">
            <a:alphaModFix/>
          </a:blip>
          <a:srcRect b="0" l="0" r="0" t="0"/>
          <a:stretch/>
        </p:blipFill>
        <p:spPr>
          <a:xfrm>
            <a:off x="0" y="981669"/>
            <a:ext cx="9144000" cy="2544365"/>
          </a:xfrm>
          <a:prstGeom prst="rect">
            <a:avLst/>
          </a:prstGeom>
          <a:noFill/>
          <a:ln>
            <a:noFill/>
          </a:ln>
        </p:spPr>
      </p:pic>
      <p:sp>
        <p:nvSpPr>
          <p:cNvPr id="399" name="Google Shape;399;p38"/>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Pre-processing and QC of the data</a:t>
            </a:r>
            <a:endParaRPr/>
          </a:p>
        </p:txBody>
      </p:sp>
      <p:sp>
        <p:nvSpPr>
          <p:cNvPr id="400" name="Google Shape;400;p38"/>
          <p:cNvSpPr txBox="1"/>
          <p:nvPr/>
        </p:nvSpPr>
        <p:spPr>
          <a:xfrm>
            <a:off x="616618" y="597166"/>
            <a:ext cx="7778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700">
                <a:solidFill>
                  <a:schemeClr val="dk1"/>
                </a:solidFill>
                <a:latin typeface="Calibri"/>
                <a:ea typeface="Calibri"/>
                <a:cs typeface="Calibri"/>
                <a:sym typeface="Calibri"/>
              </a:rPr>
              <a:t>Check the distribution of number of cells each gene is expressed in</a:t>
            </a:r>
            <a:endParaRPr sz="1100"/>
          </a:p>
        </p:txBody>
      </p:sp>
      <p:sp>
        <p:nvSpPr>
          <p:cNvPr id="401" name="Google Shape;401;p38"/>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38"/>
          <p:cNvSpPr txBox="1"/>
          <p:nvPr/>
        </p:nvSpPr>
        <p:spPr>
          <a:xfrm>
            <a:off x="214532" y="3716732"/>
            <a:ext cx="8715000" cy="931200"/>
          </a:xfrm>
          <a:prstGeom prst="rect">
            <a:avLst/>
          </a:prstGeom>
          <a:noFill/>
          <a:ln cap="flat" cmpd="sng" w="19050">
            <a:solidFill>
              <a:srgbClr val="FF0000"/>
            </a:solidFill>
            <a:prstDash val="solid"/>
            <a:round/>
            <a:headEnd len="sm" w="sm" type="none"/>
            <a:tailEnd len="sm" w="sm" type="none"/>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Based on the distribution, we see many genes expressed in 0 or low number of cells. Questions to ask ourselves:</a:t>
            </a:r>
            <a:endParaRPr sz="1100"/>
          </a:p>
          <a:p>
            <a:pPr indent="-215900" lvl="0" marL="215900" marR="0" rtl="0" algn="l">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Can I remove genes expressed in very few cells? Generally, yes but context is always important. E.g.: data with different conditions where a gene may be perturbed compared to control.</a:t>
            </a:r>
            <a:endParaRPr sz="1100"/>
          </a:p>
          <a:p>
            <a:pPr indent="-215900" lvl="0" marL="215900" marR="0" rtl="0" algn="l">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In current scenario, we can remove cells expressed in less than a handful of cells (red line above)</a:t>
            </a:r>
            <a:endParaRPr sz="1100"/>
          </a:p>
        </p:txBody>
      </p:sp>
      <p:cxnSp>
        <p:nvCxnSpPr>
          <p:cNvPr id="403" name="Google Shape;403;p38"/>
          <p:cNvCxnSpPr/>
          <p:nvPr/>
        </p:nvCxnSpPr>
        <p:spPr>
          <a:xfrm rot="10800000">
            <a:off x="7543800" y="1297791"/>
            <a:ext cx="0" cy="2004600"/>
          </a:xfrm>
          <a:prstGeom prst="straightConnector1">
            <a:avLst/>
          </a:prstGeom>
          <a:noFill/>
          <a:ln cap="flat" cmpd="sng" w="14300">
            <a:solidFill>
              <a:srgbClr val="FF00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9"/>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Pre-processing and QC of the data</a:t>
            </a:r>
            <a:endParaRPr/>
          </a:p>
        </p:txBody>
      </p:sp>
      <p:sp>
        <p:nvSpPr>
          <p:cNvPr id="409" name="Google Shape;409;p39"/>
          <p:cNvSpPr txBox="1"/>
          <p:nvPr/>
        </p:nvSpPr>
        <p:spPr>
          <a:xfrm>
            <a:off x="4044461" y="3238036"/>
            <a:ext cx="3717600" cy="500100"/>
          </a:xfrm>
          <a:prstGeom prst="rect">
            <a:avLst/>
          </a:prstGeom>
          <a:solidFill>
            <a:srgbClr val="FFD966"/>
          </a:solid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400">
                <a:solidFill>
                  <a:schemeClr val="dk1"/>
                </a:solidFill>
                <a:latin typeface="Calibri"/>
                <a:ea typeface="Calibri"/>
                <a:cs typeface="Calibri"/>
                <a:sym typeface="Calibri"/>
              </a:rPr>
              <a:t>Number of genes reduced from ~33,000 to 13,730</a:t>
            </a:r>
            <a:endParaRPr sz="1100"/>
          </a:p>
        </p:txBody>
      </p:sp>
      <p:sp>
        <p:nvSpPr>
          <p:cNvPr id="410" name="Google Shape;410;p39"/>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411" name="Google Shape;411;p39"/>
          <p:cNvPicPr preferRelativeResize="0"/>
          <p:nvPr/>
        </p:nvPicPr>
        <p:blipFill rotWithShape="1">
          <a:blip r:embed="rId3">
            <a:alphaModFix/>
          </a:blip>
          <a:srcRect b="0" l="0" r="0" t="0"/>
          <a:stretch/>
        </p:blipFill>
        <p:spPr>
          <a:xfrm>
            <a:off x="719779" y="1181966"/>
            <a:ext cx="7396919" cy="1460016"/>
          </a:xfrm>
          <a:prstGeom prst="rect">
            <a:avLst/>
          </a:prstGeom>
          <a:noFill/>
          <a:ln>
            <a:noFill/>
          </a:ln>
        </p:spPr>
      </p:pic>
      <p:sp>
        <p:nvSpPr>
          <p:cNvPr id="412" name="Google Shape;412;p39"/>
          <p:cNvSpPr/>
          <p:nvPr/>
        </p:nvSpPr>
        <p:spPr>
          <a:xfrm>
            <a:off x="3084305" y="1716477"/>
            <a:ext cx="960000" cy="253200"/>
          </a:xfrm>
          <a:prstGeom prst="rect">
            <a:avLst/>
          </a:prstGeom>
          <a:solidFill>
            <a:srgbClr val="FFD966">
              <a:alpha val="498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413" name="Google Shape;413;p39"/>
          <p:cNvCxnSpPr/>
          <p:nvPr/>
        </p:nvCxnSpPr>
        <p:spPr>
          <a:xfrm>
            <a:off x="4044461" y="1969696"/>
            <a:ext cx="1009500" cy="1268400"/>
          </a:xfrm>
          <a:prstGeom prst="straightConnector1">
            <a:avLst/>
          </a:prstGeom>
          <a:noFill/>
          <a:ln cap="flat" cmpd="sng" w="7150">
            <a:solidFill>
              <a:schemeClr val="accent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0"/>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 QC - Summary</a:t>
            </a:r>
            <a:endParaRPr/>
          </a:p>
        </p:txBody>
      </p:sp>
      <p:sp>
        <p:nvSpPr>
          <p:cNvPr id="419" name="Google Shape;419;p40"/>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40"/>
          <p:cNvSpPr txBox="1"/>
          <p:nvPr/>
        </p:nvSpPr>
        <p:spPr>
          <a:xfrm>
            <a:off x="214532" y="840340"/>
            <a:ext cx="8715000" cy="2947500"/>
          </a:xfrm>
          <a:prstGeom prst="rect">
            <a:avLst/>
          </a:prstGeom>
          <a:noFill/>
          <a:ln>
            <a:noFill/>
          </a:ln>
        </p:spPr>
        <p:txBody>
          <a:bodyPr anchorCtr="0" anchor="t" bIns="34275" lIns="68575" spcFirstLastPara="1" rIns="68575" wrap="square" tIns="34275">
            <a:spAutoFit/>
          </a:bodyPr>
          <a:lstStyle/>
          <a:p>
            <a:pPr indent="-222250" lvl="0" marL="215900" marR="0" rtl="0" algn="l">
              <a:spcBef>
                <a:spcPts val="0"/>
              </a:spcBef>
              <a:spcAft>
                <a:spcPts val="0"/>
              </a:spcAft>
              <a:buClr>
                <a:schemeClr val="dk1"/>
              </a:buClr>
              <a:buSzPts val="1700"/>
              <a:buFont typeface="Arial"/>
              <a:buChar char="•"/>
            </a:pPr>
            <a:r>
              <a:rPr lang="en" sz="1700">
                <a:solidFill>
                  <a:schemeClr val="dk1"/>
                </a:solidFill>
                <a:latin typeface="Calibri"/>
                <a:ea typeface="Calibri"/>
                <a:cs typeface="Calibri"/>
                <a:sym typeface="Calibri"/>
              </a:rPr>
              <a:t>Data QC does not always imply we want to forcefully clean data</a:t>
            </a:r>
            <a:endParaRPr sz="1100"/>
          </a:p>
          <a:p>
            <a:pPr indent="-222250" lvl="1" marL="5588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We want to see if there are red flags</a:t>
            </a:r>
            <a:endParaRPr sz="1100"/>
          </a:p>
          <a:p>
            <a:pPr indent="-222250" lvl="1" marL="5588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If the flags are obvious, we can remove them. Else, we keep the flags in mind while we analyze the data downstream and clean data later using additional (biological) reasoning</a:t>
            </a:r>
            <a:br>
              <a:rPr b="0" i="0" lang="en" sz="1700" u="none" cap="none" strike="noStrike">
                <a:solidFill>
                  <a:schemeClr val="dk1"/>
                </a:solidFill>
                <a:latin typeface="Calibri"/>
                <a:ea typeface="Calibri"/>
                <a:cs typeface="Calibri"/>
                <a:sym typeface="Calibri"/>
              </a:rPr>
            </a:br>
            <a:endParaRPr b="0" i="0" sz="1700" u="none" cap="none" strike="noStrike">
              <a:solidFill>
                <a:schemeClr val="dk1"/>
              </a:solidFill>
              <a:latin typeface="Calibri"/>
              <a:ea typeface="Calibri"/>
              <a:cs typeface="Calibri"/>
              <a:sym typeface="Calibri"/>
            </a:endParaRPr>
          </a:p>
          <a:p>
            <a:pPr indent="-222250" lvl="0" marL="215900" marR="0" rtl="0" algn="l">
              <a:spcBef>
                <a:spcPts val="0"/>
              </a:spcBef>
              <a:spcAft>
                <a:spcPts val="0"/>
              </a:spcAft>
              <a:buClr>
                <a:schemeClr val="dk1"/>
              </a:buClr>
              <a:buSzPts val="1700"/>
              <a:buFont typeface="Arial"/>
              <a:buChar char="•"/>
            </a:pPr>
            <a:r>
              <a:rPr lang="en" sz="1700">
                <a:solidFill>
                  <a:schemeClr val="dk1"/>
                </a:solidFill>
                <a:latin typeface="Calibri"/>
                <a:ea typeface="Calibri"/>
                <a:cs typeface="Calibri"/>
                <a:sym typeface="Calibri"/>
              </a:rPr>
              <a:t>By doing basic QC we get a “feel” for the data</a:t>
            </a:r>
            <a:endParaRPr sz="1100"/>
          </a:p>
          <a:p>
            <a:pPr indent="-114300" lvl="0" marL="215900" marR="0" rtl="0" algn="l">
              <a:spcBef>
                <a:spcPts val="0"/>
              </a:spcBef>
              <a:spcAft>
                <a:spcPts val="0"/>
              </a:spcAft>
              <a:buClr>
                <a:schemeClr val="dk1"/>
              </a:buClr>
              <a:buSzPts val="1700"/>
              <a:buFont typeface="Arial"/>
              <a:buNone/>
            </a:pPr>
            <a:r>
              <a:t/>
            </a:r>
            <a:endParaRPr sz="1700">
              <a:solidFill>
                <a:schemeClr val="dk1"/>
              </a:solidFill>
              <a:latin typeface="Calibri"/>
              <a:ea typeface="Calibri"/>
              <a:cs typeface="Calibri"/>
              <a:sym typeface="Calibri"/>
            </a:endParaRPr>
          </a:p>
          <a:p>
            <a:pPr indent="-222250" lvl="0" marL="215900" marR="0" rtl="0" algn="l">
              <a:spcBef>
                <a:spcPts val="0"/>
              </a:spcBef>
              <a:spcAft>
                <a:spcPts val="0"/>
              </a:spcAft>
              <a:buClr>
                <a:schemeClr val="dk1"/>
              </a:buClr>
              <a:buSzPts val="1700"/>
              <a:buFont typeface="Arial"/>
              <a:buChar char="•"/>
            </a:pPr>
            <a:r>
              <a:rPr lang="en" sz="1700">
                <a:solidFill>
                  <a:schemeClr val="dk1"/>
                </a:solidFill>
                <a:latin typeface="Calibri"/>
                <a:ea typeface="Calibri"/>
                <a:cs typeface="Calibri"/>
                <a:sym typeface="Calibri"/>
              </a:rPr>
              <a:t>Additional QC metrics:</a:t>
            </a:r>
            <a:endParaRPr sz="1100"/>
          </a:p>
          <a:p>
            <a:pPr indent="-222250" lvl="1" marL="5588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Study ribosomal content like we did for mitochondrial content</a:t>
            </a:r>
            <a:endParaRPr sz="1100"/>
          </a:p>
          <a:p>
            <a:pPr indent="-222250" lvl="1" marL="5588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Use advanced tools such as CellBender to correct gene expression counts</a:t>
            </a:r>
            <a:endParaRPr sz="1100"/>
          </a:p>
          <a:p>
            <a:pPr indent="-114300" lvl="1" marL="5588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1"/>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83333"/>
              <a:buFont typeface="Calibri"/>
              <a:buNone/>
            </a:pPr>
            <a:r>
              <a:rPr lang="en">
                <a:latin typeface="Arial"/>
                <a:ea typeface="Arial"/>
                <a:cs typeface="Arial"/>
                <a:sym typeface="Arial"/>
              </a:rPr>
              <a:t>Post data pre-processing:</a:t>
            </a:r>
            <a:br>
              <a:rPr lang="en">
                <a:latin typeface="Arial"/>
                <a:ea typeface="Arial"/>
                <a:cs typeface="Arial"/>
                <a:sym typeface="Arial"/>
              </a:rPr>
            </a:br>
            <a:br>
              <a:rPr lang="en">
                <a:latin typeface="Arial"/>
                <a:ea typeface="Arial"/>
                <a:cs typeface="Arial"/>
                <a:sym typeface="Arial"/>
              </a:rPr>
            </a:br>
            <a:r>
              <a:rPr lang="en" sz="1800">
                <a:latin typeface="Arial"/>
                <a:ea typeface="Arial"/>
                <a:cs typeface="Arial"/>
                <a:sym typeface="Arial"/>
              </a:rPr>
              <a:t>- </a:t>
            </a:r>
            <a:r>
              <a:rPr lang="en" sz="1800">
                <a:solidFill>
                  <a:srgbClr val="FF0000"/>
                </a:solidFill>
                <a:latin typeface="Arial"/>
                <a:ea typeface="Arial"/>
                <a:cs typeface="Arial"/>
                <a:sym typeface="Arial"/>
              </a:rPr>
              <a:t>Data normalization</a:t>
            </a:r>
            <a:br>
              <a:rPr lang="en" sz="1800">
                <a:solidFill>
                  <a:srgbClr val="FF0000"/>
                </a:solidFill>
                <a:latin typeface="Arial"/>
                <a:ea typeface="Arial"/>
                <a:cs typeface="Arial"/>
                <a:sym typeface="Arial"/>
              </a:rPr>
            </a:br>
            <a:r>
              <a:rPr lang="en" sz="1800">
                <a:latin typeface="Arial"/>
                <a:ea typeface="Arial"/>
                <a:cs typeface="Arial"/>
                <a:sym typeface="Arial"/>
              </a:rPr>
              <a:t>- Highly Variable Genes</a:t>
            </a:r>
            <a:br>
              <a:rPr lang="en" sz="1800">
                <a:latin typeface="Arial"/>
                <a:ea typeface="Arial"/>
                <a:cs typeface="Arial"/>
                <a:sym typeface="Arial"/>
              </a:rPr>
            </a:br>
            <a:r>
              <a:rPr lang="en" sz="1800">
                <a:latin typeface="Arial"/>
                <a:ea typeface="Arial"/>
                <a:cs typeface="Arial"/>
                <a:sym typeface="Arial"/>
              </a:rPr>
              <a:t>- PCA</a:t>
            </a:r>
            <a:br>
              <a:rPr lang="en" sz="1800">
                <a:latin typeface="Arial"/>
                <a:ea typeface="Arial"/>
                <a:cs typeface="Arial"/>
                <a:sym typeface="Arial"/>
              </a:rPr>
            </a:br>
            <a:r>
              <a:rPr lang="en" sz="1800">
                <a:latin typeface="Arial"/>
                <a:ea typeface="Arial"/>
                <a:cs typeface="Arial"/>
                <a:sym typeface="Arial"/>
              </a:rPr>
              <a:t>- Nearest Neighbor Graph</a:t>
            </a:r>
            <a:br>
              <a:rPr lang="en" sz="1800">
                <a:latin typeface="Arial"/>
                <a:ea typeface="Arial"/>
                <a:cs typeface="Arial"/>
                <a:sym typeface="Arial"/>
              </a:rPr>
            </a:br>
            <a:r>
              <a:rPr lang="en" sz="1800">
                <a:latin typeface="Arial"/>
                <a:ea typeface="Arial"/>
                <a:cs typeface="Arial"/>
                <a:sym typeface="Arial"/>
              </a:rPr>
              <a:t>- Visualization</a:t>
            </a:r>
            <a:br>
              <a:rPr lang="en" sz="1800">
                <a:latin typeface="Arial"/>
                <a:ea typeface="Arial"/>
                <a:cs typeface="Arial"/>
                <a:sym typeface="Arial"/>
              </a:rPr>
            </a:br>
            <a:r>
              <a:rPr lang="en" sz="1800">
                <a:latin typeface="Arial"/>
                <a:ea typeface="Arial"/>
                <a:cs typeface="Arial"/>
                <a:sym typeface="Arial"/>
              </a:rPr>
              <a:t>- Clustering </a:t>
            </a:r>
            <a:endParaRPr sz="1800">
              <a:latin typeface="Arial"/>
              <a:ea typeface="Arial"/>
              <a:cs typeface="Arial"/>
              <a:sym typeface="Arial"/>
            </a:endParaRPr>
          </a:p>
        </p:txBody>
      </p:sp>
      <p:sp>
        <p:nvSpPr>
          <p:cNvPr id="427" name="Google Shape;427;p41"/>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2"/>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 normalization</a:t>
            </a:r>
            <a:endParaRPr/>
          </a:p>
        </p:txBody>
      </p:sp>
      <p:sp>
        <p:nvSpPr>
          <p:cNvPr id="433" name="Google Shape;433;p42"/>
          <p:cNvSpPr txBox="1"/>
          <p:nvPr>
            <p:ph idx="1" type="body"/>
          </p:nvPr>
        </p:nvSpPr>
        <p:spPr>
          <a:xfrm>
            <a:off x="471488" y="1026914"/>
            <a:ext cx="5915100" cy="2447700"/>
          </a:xfrm>
          <a:prstGeom prst="rect">
            <a:avLst/>
          </a:prstGeom>
          <a:noFill/>
          <a:ln>
            <a:noFill/>
          </a:ln>
        </p:spPr>
        <p:txBody>
          <a:bodyPr anchorCtr="0" anchor="t" bIns="34275" lIns="68575" spcFirstLastPara="1" rIns="68575" wrap="square" tIns="34275">
            <a:normAutofit fontScale="62500" lnSpcReduction="10000"/>
          </a:bodyPr>
          <a:lstStyle/>
          <a:p>
            <a:pPr indent="-121443" lvl="0" marL="177800" rtl="0" algn="l">
              <a:lnSpc>
                <a:spcPct val="90000"/>
              </a:lnSpc>
              <a:spcBef>
                <a:spcPts val="0"/>
              </a:spcBef>
              <a:spcAft>
                <a:spcPts val="0"/>
              </a:spcAft>
              <a:buClr>
                <a:schemeClr val="dk1"/>
              </a:buClr>
              <a:buSzPct val="116666"/>
              <a:buChar char="●"/>
            </a:pPr>
            <a:r>
              <a:rPr lang="en"/>
              <a:t>Library size normalization:</a:t>
            </a:r>
            <a:endParaRPr/>
          </a:p>
          <a:p>
            <a:pPr indent="-134937" lvl="1" marL="520700" rtl="0" algn="l">
              <a:lnSpc>
                <a:spcPct val="90000"/>
              </a:lnSpc>
              <a:spcBef>
                <a:spcPts val="400"/>
              </a:spcBef>
              <a:spcAft>
                <a:spcPts val="0"/>
              </a:spcAft>
              <a:buClr>
                <a:schemeClr val="dk1"/>
              </a:buClr>
              <a:buSzPct val="128571"/>
              <a:buChar char="○"/>
            </a:pPr>
            <a:r>
              <a:rPr lang="en"/>
              <a:t>To correct for total mRNA count (biases due to sequencing depth) that may be driving cell-cell heterogeneity</a:t>
            </a:r>
            <a:endParaRPr/>
          </a:p>
          <a:p>
            <a:pPr indent="-134937" lvl="1" marL="520700" rtl="0" algn="l">
              <a:lnSpc>
                <a:spcPct val="90000"/>
              </a:lnSpc>
              <a:spcBef>
                <a:spcPts val="400"/>
              </a:spcBef>
              <a:spcAft>
                <a:spcPts val="0"/>
              </a:spcAft>
              <a:buClr>
                <a:schemeClr val="dk1"/>
              </a:buClr>
              <a:buSzPct val="128571"/>
              <a:buChar char="○"/>
            </a:pPr>
            <a:r>
              <a:rPr lang="en"/>
              <a:t>Often the variance in cells seems to be driven largely by sequencing depth differences, which is not necessarily biologically relevant.</a:t>
            </a:r>
            <a:endParaRPr/>
          </a:p>
          <a:p>
            <a:pPr indent="-134937" lvl="1" marL="520700" rtl="0" algn="l">
              <a:lnSpc>
                <a:spcPct val="90000"/>
              </a:lnSpc>
              <a:spcBef>
                <a:spcPts val="400"/>
              </a:spcBef>
              <a:spcAft>
                <a:spcPts val="0"/>
              </a:spcAft>
              <a:buClr>
                <a:schemeClr val="dk1"/>
              </a:buClr>
              <a:buSzPct val="128571"/>
              <a:buChar char="○"/>
            </a:pPr>
            <a:r>
              <a:rPr lang="en"/>
              <a:t>Most common method: Median library size normalization + log transformation</a:t>
            </a:r>
            <a:endParaRPr/>
          </a:p>
          <a:p>
            <a:pPr indent="-135731" lvl="2" marL="863600" rtl="0" algn="l">
              <a:lnSpc>
                <a:spcPct val="90000"/>
              </a:lnSpc>
              <a:spcBef>
                <a:spcPts val="400"/>
              </a:spcBef>
              <a:spcAft>
                <a:spcPts val="0"/>
              </a:spcAft>
              <a:buClr>
                <a:schemeClr val="dk1"/>
              </a:buClr>
              <a:buSzPct val="107142"/>
              <a:buChar char="■"/>
            </a:pPr>
            <a:r>
              <a:rPr lang="en"/>
              <a:t>Inspired by TPM normalization in bulk data analysis</a:t>
            </a:r>
            <a:endParaRPr/>
          </a:p>
          <a:p>
            <a:pPr indent="-135731" lvl="2" marL="863600" rtl="0" algn="l">
              <a:lnSpc>
                <a:spcPct val="90000"/>
              </a:lnSpc>
              <a:spcBef>
                <a:spcPts val="400"/>
              </a:spcBef>
              <a:spcAft>
                <a:spcPts val="0"/>
              </a:spcAft>
              <a:buClr>
                <a:schemeClr val="dk1"/>
              </a:buClr>
              <a:buSzPct val="107142"/>
              <a:buChar char="■"/>
            </a:pPr>
            <a:r>
              <a:rPr lang="en"/>
              <a:t>Assumes all cells should have the same total mRNA count, not always a good assumption</a:t>
            </a:r>
            <a:endParaRPr/>
          </a:p>
          <a:p>
            <a:pPr indent="-134937" lvl="1" marL="520700" rtl="0" algn="l">
              <a:lnSpc>
                <a:spcPct val="90000"/>
              </a:lnSpc>
              <a:spcBef>
                <a:spcPts val="400"/>
              </a:spcBef>
              <a:spcAft>
                <a:spcPts val="0"/>
              </a:spcAft>
              <a:buClr>
                <a:schemeClr val="dk1"/>
              </a:buClr>
              <a:buSzPct val="128571"/>
              <a:buChar char="○"/>
            </a:pPr>
            <a:r>
              <a:rPr lang="en"/>
              <a:t>Other statistically principled tools:</a:t>
            </a:r>
            <a:endParaRPr/>
          </a:p>
          <a:p>
            <a:pPr indent="-135731" lvl="2" marL="863600" rtl="0" algn="l">
              <a:lnSpc>
                <a:spcPct val="90000"/>
              </a:lnSpc>
              <a:spcBef>
                <a:spcPts val="400"/>
              </a:spcBef>
              <a:spcAft>
                <a:spcPts val="0"/>
              </a:spcAft>
              <a:buClr>
                <a:schemeClr val="dk1"/>
              </a:buClr>
              <a:buSzPct val="107142"/>
              <a:buChar char="■"/>
            </a:pPr>
            <a:r>
              <a:rPr lang="en"/>
              <a:t>Scran (</a:t>
            </a:r>
            <a:r>
              <a:rPr lang="en" u="sng">
                <a:solidFill>
                  <a:schemeClr val="hlink"/>
                </a:solidFill>
                <a:hlinkClick r:id="rId3"/>
              </a:rPr>
              <a:t>https://genomebiology.biomedcentral.com/articles/10.1186/s13059-016-0947-7</a:t>
            </a:r>
            <a:r>
              <a:rPr lang="en"/>
              <a:t>)</a:t>
            </a:r>
            <a:endParaRPr/>
          </a:p>
          <a:p>
            <a:pPr indent="-135731" lvl="2" marL="863600" rtl="0" algn="l">
              <a:lnSpc>
                <a:spcPct val="90000"/>
              </a:lnSpc>
              <a:spcBef>
                <a:spcPts val="400"/>
              </a:spcBef>
              <a:spcAft>
                <a:spcPts val="0"/>
              </a:spcAft>
              <a:buClr>
                <a:schemeClr val="dk1"/>
              </a:buClr>
              <a:buSzPct val="107142"/>
              <a:buChar char="■"/>
            </a:pPr>
            <a:r>
              <a:rPr lang="en"/>
              <a:t>Sctransform (</a:t>
            </a:r>
            <a:r>
              <a:rPr lang="en" u="sng">
                <a:solidFill>
                  <a:schemeClr val="hlink"/>
                </a:solidFill>
                <a:hlinkClick r:id="rId4"/>
              </a:rPr>
              <a:t>https://genomebiology.biomedcentral.com/articles/10.1186/s13059-019-1874-1</a:t>
            </a:r>
            <a:r>
              <a:rPr lang="en"/>
              <a:t>)</a:t>
            </a:r>
            <a:endParaRPr/>
          </a:p>
          <a:p>
            <a:pPr indent="0" lvl="0" marL="0" rtl="0" algn="l">
              <a:lnSpc>
                <a:spcPct val="90000"/>
              </a:lnSpc>
              <a:spcBef>
                <a:spcPts val="800"/>
              </a:spcBef>
              <a:spcAft>
                <a:spcPts val="0"/>
              </a:spcAft>
              <a:buClr>
                <a:schemeClr val="dk1"/>
              </a:buClr>
              <a:buSzPct val="116666"/>
              <a:buNone/>
            </a:pPr>
            <a:r>
              <a:t/>
            </a:r>
            <a:endParaRPr/>
          </a:p>
          <a:p>
            <a:pPr indent="-76200" lvl="2" marL="863600" rtl="0" algn="l">
              <a:lnSpc>
                <a:spcPct val="90000"/>
              </a:lnSpc>
              <a:spcBef>
                <a:spcPts val="400"/>
              </a:spcBef>
              <a:spcAft>
                <a:spcPts val="0"/>
              </a:spcAft>
              <a:buClr>
                <a:schemeClr val="dk1"/>
              </a:buClr>
              <a:buSzPct val="107142"/>
              <a:buFont typeface="Noto Sans Symbols"/>
              <a:buNone/>
            </a:pPr>
            <a:r>
              <a:t/>
            </a:r>
            <a:endParaRPr/>
          </a:p>
          <a:p>
            <a:pPr indent="-76200" lvl="2" marL="863600" rtl="0" algn="l">
              <a:lnSpc>
                <a:spcPct val="90000"/>
              </a:lnSpc>
              <a:spcBef>
                <a:spcPts val="400"/>
              </a:spcBef>
              <a:spcAft>
                <a:spcPts val="1200"/>
              </a:spcAft>
              <a:buClr>
                <a:schemeClr val="dk1"/>
              </a:buClr>
              <a:buSzPct val="107142"/>
              <a:buFont typeface="Noto Sans Symbols"/>
              <a:buNone/>
            </a:pPr>
            <a:r>
              <a:t/>
            </a:r>
            <a:endParaRPr/>
          </a:p>
        </p:txBody>
      </p:sp>
      <p:sp>
        <p:nvSpPr>
          <p:cNvPr id="434" name="Google Shape;434;p42"/>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3"/>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 normalization</a:t>
            </a:r>
            <a:endParaRPr/>
          </a:p>
        </p:txBody>
      </p:sp>
      <p:sp>
        <p:nvSpPr>
          <p:cNvPr id="440" name="Google Shape;440;p43"/>
          <p:cNvSpPr txBox="1"/>
          <p:nvPr>
            <p:ph idx="1" type="body"/>
          </p:nvPr>
        </p:nvSpPr>
        <p:spPr>
          <a:xfrm>
            <a:off x="471488" y="1026914"/>
            <a:ext cx="5915100" cy="2447700"/>
          </a:xfrm>
          <a:prstGeom prst="rect">
            <a:avLst/>
          </a:prstGeom>
          <a:noFill/>
          <a:ln>
            <a:noFill/>
          </a:ln>
        </p:spPr>
        <p:txBody>
          <a:bodyPr anchorCtr="0" anchor="t" bIns="34275" lIns="68575" spcFirstLastPara="1" rIns="68575" wrap="square" tIns="34275">
            <a:normAutofit fontScale="62500" lnSpcReduction="10000"/>
          </a:bodyPr>
          <a:lstStyle/>
          <a:p>
            <a:pPr indent="-121443" lvl="0" marL="177800" rtl="0" algn="l">
              <a:lnSpc>
                <a:spcPct val="90000"/>
              </a:lnSpc>
              <a:spcBef>
                <a:spcPts val="0"/>
              </a:spcBef>
              <a:spcAft>
                <a:spcPts val="0"/>
              </a:spcAft>
              <a:buClr>
                <a:schemeClr val="dk1"/>
              </a:buClr>
              <a:buSzPct val="116666"/>
              <a:buChar char="●"/>
            </a:pPr>
            <a:r>
              <a:rPr lang="en"/>
              <a:t>Library size normalization:</a:t>
            </a:r>
            <a:endParaRPr/>
          </a:p>
          <a:p>
            <a:pPr indent="-134937" lvl="1" marL="520700" rtl="0" algn="l">
              <a:lnSpc>
                <a:spcPct val="90000"/>
              </a:lnSpc>
              <a:spcBef>
                <a:spcPts val="400"/>
              </a:spcBef>
              <a:spcAft>
                <a:spcPts val="0"/>
              </a:spcAft>
              <a:buClr>
                <a:schemeClr val="dk1"/>
              </a:buClr>
              <a:buSzPct val="128571"/>
              <a:buChar char="○"/>
            </a:pPr>
            <a:r>
              <a:rPr lang="en"/>
              <a:t>To correct for total mRNA count (biases due to sequencing depth) that may be driving cell-cell heterogeneity</a:t>
            </a:r>
            <a:endParaRPr/>
          </a:p>
          <a:p>
            <a:pPr indent="-134937" lvl="1" marL="520700" rtl="0" algn="l">
              <a:lnSpc>
                <a:spcPct val="90000"/>
              </a:lnSpc>
              <a:spcBef>
                <a:spcPts val="400"/>
              </a:spcBef>
              <a:spcAft>
                <a:spcPts val="0"/>
              </a:spcAft>
              <a:buClr>
                <a:schemeClr val="dk1"/>
              </a:buClr>
              <a:buSzPct val="128571"/>
              <a:buChar char="○"/>
            </a:pPr>
            <a:r>
              <a:rPr lang="en"/>
              <a:t>Often the variance in cells seems to be driven largely by sequencing depth differences, which is not necessarily biologically relevant.</a:t>
            </a:r>
            <a:endParaRPr/>
          </a:p>
          <a:p>
            <a:pPr indent="-134937" lvl="1" marL="520700" rtl="0" algn="l">
              <a:lnSpc>
                <a:spcPct val="90000"/>
              </a:lnSpc>
              <a:spcBef>
                <a:spcPts val="400"/>
              </a:spcBef>
              <a:spcAft>
                <a:spcPts val="0"/>
              </a:spcAft>
              <a:buClr>
                <a:schemeClr val="dk1"/>
              </a:buClr>
              <a:buSzPct val="128571"/>
              <a:buChar char="○"/>
            </a:pPr>
            <a:r>
              <a:rPr lang="en"/>
              <a:t>Most common method: Median library size normalization + log transformation</a:t>
            </a:r>
            <a:endParaRPr/>
          </a:p>
          <a:p>
            <a:pPr indent="-135731" lvl="2" marL="863600" rtl="0" algn="l">
              <a:lnSpc>
                <a:spcPct val="90000"/>
              </a:lnSpc>
              <a:spcBef>
                <a:spcPts val="400"/>
              </a:spcBef>
              <a:spcAft>
                <a:spcPts val="0"/>
              </a:spcAft>
              <a:buClr>
                <a:schemeClr val="dk1"/>
              </a:buClr>
              <a:buSzPct val="107142"/>
              <a:buChar char="■"/>
            </a:pPr>
            <a:r>
              <a:rPr lang="en"/>
              <a:t>Inspired by TPM normalization in bulk data analysis</a:t>
            </a:r>
            <a:endParaRPr/>
          </a:p>
          <a:p>
            <a:pPr indent="-135731" lvl="2" marL="863600" rtl="0" algn="l">
              <a:lnSpc>
                <a:spcPct val="90000"/>
              </a:lnSpc>
              <a:spcBef>
                <a:spcPts val="400"/>
              </a:spcBef>
              <a:spcAft>
                <a:spcPts val="0"/>
              </a:spcAft>
              <a:buClr>
                <a:schemeClr val="dk1"/>
              </a:buClr>
              <a:buSzPct val="107142"/>
              <a:buChar char="■"/>
            </a:pPr>
            <a:r>
              <a:rPr lang="en"/>
              <a:t>Assumes all cells should have the same total mRNA count, not always a good assumption</a:t>
            </a:r>
            <a:endParaRPr/>
          </a:p>
          <a:p>
            <a:pPr indent="-134937" lvl="1" marL="520700" rtl="0" algn="l">
              <a:lnSpc>
                <a:spcPct val="90000"/>
              </a:lnSpc>
              <a:spcBef>
                <a:spcPts val="400"/>
              </a:spcBef>
              <a:spcAft>
                <a:spcPts val="0"/>
              </a:spcAft>
              <a:buClr>
                <a:schemeClr val="dk1"/>
              </a:buClr>
              <a:buSzPct val="128571"/>
              <a:buChar char="○"/>
            </a:pPr>
            <a:r>
              <a:rPr lang="en"/>
              <a:t>Other statistically principled tools:</a:t>
            </a:r>
            <a:endParaRPr/>
          </a:p>
          <a:p>
            <a:pPr indent="-135731" lvl="2" marL="863600" rtl="0" algn="l">
              <a:lnSpc>
                <a:spcPct val="90000"/>
              </a:lnSpc>
              <a:spcBef>
                <a:spcPts val="400"/>
              </a:spcBef>
              <a:spcAft>
                <a:spcPts val="0"/>
              </a:spcAft>
              <a:buClr>
                <a:schemeClr val="dk1"/>
              </a:buClr>
              <a:buSzPct val="107142"/>
              <a:buChar char="■"/>
            </a:pPr>
            <a:r>
              <a:rPr lang="en"/>
              <a:t>Scran (</a:t>
            </a:r>
            <a:r>
              <a:rPr lang="en" u="sng">
                <a:solidFill>
                  <a:schemeClr val="hlink"/>
                </a:solidFill>
                <a:hlinkClick r:id="rId3"/>
              </a:rPr>
              <a:t>https://genomebiology.biomedcentral.com/articles/10.1186/s13059-016-0947-7</a:t>
            </a:r>
            <a:r>
              <a:rPr lang="en"/>
              <a:t>)</a:t>
            </a:r>
            <a:endParaRPr/>
          </a:p>
          <a:p>
            <a:pPr indent="-135731" lvl="2" marL="863600" rtl="0" algn="l">
              <a:lnSpc>
                <a:spcPct val="90000"/>
              </a:lnSpc>
              <a:spcBef>
                <a:spcPts val="400"/>
              </a:spcBef>
              <a:spcAft>
                <a:spcPts val="0"/>
              </a:spcAft>
              <a:buClr>
                <a:schemeClr val="dk1"/>
              </a:buClr>
              <a:buSzPct val="107142"/>
              <a:buChar char="■"/>
            </a:pPr>
            <a:r>
              <a:rPr lang="en"/>
              <a:t>Sctransform (</a:t>
            </a:r>
            <a:r>
              <a:rPr lang="en" u="sng">
                <a:solidFill>
                  <a:schemeClr val="hlink"/>
                </a:solidFill>
                <a:hlinkClick r:id="rId4"/>
              </a:rPr>
              <a:t>https://genomebiology.biomedcentral.com/articles/10.1186/s13059-019-1874-1</a:t>
            </a:r>
            <a:r>
              <a:rPr lang="en"/>
              <a:t>)</a:t>
            </a:r>
            <a:endParaRPr/>
          </a:p>
          <a:p>
            <a:pPr indent="0" lvl="0" marL="0" rtl="0" algn="l">
              <a:lnSpc>
                <a:spcPct val="90000"/>
              </a:lnSpc>
              <a:spcBef>
                <a:spcPts val="800"/>
              </a:spcBef>
              <a:spcAft>
                <a:spcPts val="0"/>
              </a:spcAft>
              <a:buClr>
                <a:schemeClr val="dk1"/>
              </a:buClr>
              <a:buSzPct val="116666"/>
              <a:buNone/>
            </a:pPr>
            <a:r>
              <a:t/>
            </a:r>
            <a:endParaRPr/>
          </a:p>
          <a:p>
            <a:pPr indent="-76200" lvl="2" marL="863600" rtl="0" algn="l">
              <a:lnSpc>
                <a:spcPct val="90000"/>
              </a:lnSpc>
              <a:spcBef>
                <a:spcPts val="400"/>
              </a:spcBef>
              <a:spcAft>
                <a:spcPts val="0"/>
              </a:spcAft>
              <a:buClr>
                <a:schemeClr val="dk1"/>
              </a:buClr>
              <a:buSzPct val="107142"/>
              <a:buFont typeface="Noto Sans Symbols"/>
              <a:buNone/>
            </a:pPr>
            <a:r>
              <a:t/>
            </a:r>
            <a:endParaRPr/>
          </a:p>
          <a:p>
            <a:pPr indent="-76200" lvl="2" marL="863600" rtl="0" algn="l">
              <a:lnSpc>
                <a:spcPct val="90000"/>
              </a:lnSpc>
              <a:spcBef>
                <a:spcPts val="400"/>
              </a:spcBef>
              <a:spcAft>
                <a:spcPts val="1200"/>
              </a:spcAft>
              <a:buClr>
                <a:schemeClr val="dk1"/>
              </a:buClr>
              <a:buSzPct val="107142"/>
              <a:buFont typeface="Noto Sans Symbols"/>
              <a:buNone/>
            </a:pPr>
            <a:r>
              <a:t/>
            </a:r>
            <a:endParaRPr/>
          </a:p>
        </p:txBody>
      </p:sp>
      <p:sp>
        <p:nvSpPr>
          <p:cNvPr id="441" name="Google Shape;441;p43"/>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grpSp>
        <p:nvGrpSpPr>
          <p:cNvPr id="442" name="Google Shape;442;p43"/>
          <p:cNvGrpSpPr/>
          <p:nvPr/>
        </p:nvGrpSpPr>
        <p:grpSpPr>
          <a:xfrm>
            <a:off x="2191072" y="682109"/>
            <a:ext cx="4857749" cy="4251960"/>
            <a:chOff x="1801586" y="1073150"/>
            <a:chExt cx="6476999" cy="5669281"/>
          </a:xfrm>
        </p:grpSpPr>
        <p:pic>
          <p:nvPicPr>
            <p:cNvPr id="443" name="Google Shape;443;p43"/>
            <p:cNvPicPr preferRelativeResize="0"/>
            <p:nvPr/>
          </p:nvPicPr>
          <p:blipFill rotWithShape="1">
            <a:blip r:embed="rId5">
              <a:alphaModFix/>
            </a:blip>
            <a:srcRect b="0" l="0" r="0" t="0"/>
            <a:stretch/>
          </p:blipFill>
          <p:spPr>
            <a:xfrm>
              <a:off x="1801586" y="1073150"/>
              <a:ext cx="6476999" cy="5669281"/>
            </a:xfrm>
            <a:prstGeom prst="rect">
              <a:avLst/>
            </a:prstGeom>
            <a:noFill/>
            <a:ln cap="flat" cmpd="sng" w="7150">
              <a:solidFill>
                <a:schemeClr val="dk1"/>
              </a:solidFill>
              <a:prstDash val="solid"/>
              <a:round/>
              <a:headEnd len="sm" w="sm" type="none"/>
              <a:tailEnd len="sm" w="sm" type="none"/>
            </a:ln>
          </p:spPr>
        </p:pic>
        <p:sp>
          <p:nvSpPr>
            <p:cNvPr id="444" name="Google Shape;444;p43"/>
            <p:cNvSpPr/>
            <p:nvPr/>
          </p:nvSpPr>
          <p:spPr>
            <a:xfrm>
              <a:off x="1866903" y="5424488"/>
              <a:ext cx="5921700" cy="764100"/>
            </a:xfrm>
            <a:prstGeom prst="rect">
              <a:avLst/>
            </a:prstGeom>
            <a:solidFill>
              <a:srgbClr val="5B9BD5">
                <a:alpha val="298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4"/>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Calibri"/>
              <a:buNone/>
            </a:pPr>
            <a:r>
              <a:rPr lang="en" sz="2200"/>
              <a:t>Data normalization – Method 1 (Median library size + log transformation)</a:t>
            </a:r>
            <a:endParaRPr sz="2200"/>
          </a:p>
        </p:txBody>
      </p:sp>
      <p:sp>
        <p:nvSpPr>
          <p:cNvPr id="450" name="Google Shape;450;p44"/>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451" name="Google Shape;451;p44"/>
          <p:cNvPicPr preferRelativeResize="0"/>
          <p:nvPr/>
        </p:nvPicPr>
        <p:blipFill rotWithShape="1">
          <a:blip r:embed="rId3">
            <a:alphaModFix/>
          </a:blip>
          <a:srcRect b="0" l="0" r="0" t="0"/>
          <a:stretch/>
        </p:blipFill>
        <p:spPr>
          <a:xfrm>
            <a:off x="152107" y="1386328"/>
            <a:ext cx="8758740" cy="2105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Code development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 vs Github</a:t>
            </a:r>
            <a:endParaRPr/>
          </a:p>
        </p:txBody>
      </p:sp>
      <p:sp>
        <p:nvSpPr>
          <p:cNvPr id="462" name="Google Shape;462;p4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a:solidFill>
                  <a:schemeClr val="dk1"/>
                </a:solidFill>
              </a:rPr>
              <a:t>Command-line </a:t>
            </a:r>
            <a:r>
              <a:rPr b="1" lang="en">
                <a:solidFill>
                  <a:schemeClr val="dk1"/>
                </a:solidFill>
              </a:rPr>
              <a:t>software</a:t>
            </a:r>
            <a:r>
              <a:rPr lang="en">
                <a:solidFill>
                  <a:schemeClr val="dk1"/>
                </a:solidFill>
              </a:rPr>
              <a:t> that is installed </a:t>
            </a:r>
            <a:r>
              <a:rPr b="1" lang="en">
                <a:solidFill>
                  <a:schemeClr val="dk1"/>
                </a:solidFill>
              </a:rPr>
              <a:t>locally</a:t>
            </a:r>
            <a:r>
              <a:rPr lang="en">
                <a:solidFill>
                  <a:schemeClr val="dk1"/>
                </a:solidFill>
              </a:rPr>
              <a:t> and maintained by Linux</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Manages various versions of edits made to files within a Git repository</a:t>
            </a:r>
            <a:endParaRPr>
              <a:solidFill>
                <a:schemeClr val="dk1"/>
              </a:solidFill>
            </a:endParaRPr>
          </a:p>
          <a:p>
            <a:pPr indent="0" lvl="0" marL="0" rtl="0" algn="l">
              <a:spcBef>
                <a:spcPts val="1200"/>
              </a:spcBef>
              <a:spcAft>
                <a:spcPts val="0"/>
              </a:spcAft>
              <a:buNone/>
            </a:pPr>
            <a:r>
              <a:t/>
            </a:r>
            <a:endParaRPr>
              <a:solidFill>
                <a:schemeClr val="dk1"/>
              </a:solidFill>
            </a:endParaRPr>
          </a:p>
          <a:p>
            <a:pPr indent="-317500" lvl="0" marL="457200" rtl="0" algn="l">
              <a:spcBef>
                <a:spcPts val="1200"/>
              </a:spcBef>
              <a:spcAft>
                <a:spcPts val="0"/>
              </a:spcAft>
              <a:buClr>
                <a:schemeClr val="dk1"/>
              </a:buClr>
              <a:buSzPts val="1400"/>
              <a:buChar char="●"/>
            </a:pPr>
            <a:r>
              <a:rPr lang="en">
                <a:solidFill>
                  <a:schemeClr val="dk1"/>
                </a:solidFill>
              </a:rPr>
              <a:t>Install locally</a:t>
            </a:r>
            <a:endParaRPr>
              <a:solidFill>
                <a:schemeClr val="dk1"/>
              </a:solidFill>
            </a:endParaRPr>
          </a:p>
          <a:p>
            <a:pPr indent="-304800" lvl="1" marL="914400" rtl="0" algn="l">
              <a:spcBef>
                <a:spcPts val="0"/>
              </a:spcBef>
              <a:spcAft>
                <a:spcPts val="0"/>
              </a:spcAft>
              <a:buClr>
                <a:schemeClr val="dk1"/>
              </a:buClr>
              <a:buSzPts val="1200"/>
              <a:buChar char="○"/>
            </a:pPr>
            <a:r>
              <a:rPr lang="en">
                <a:solidFill>
                  <a:schemeClr val="dk1"/>
                </a:solidFill>
              </a:rPr>
              <a:t>git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463" name="Google Shape;463;p46"/>
          <p:cNvSpPr txBox="1"/>
          <p:nvPr>
            <p:ph idx="2" type="body"/>
          </p:nvPr>
        </p:nvSpPr>
        <p:spPr>
          <a:xfrm>
            <a:off x="4832400" y="1152475"/>
            <a:ext cx="3999900" cy="2487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b="1" lang="en">
                <a:solidFill>
                  <a:schemeClr val="dk1"/>
                </a:solidFill>
              </a:rPr>
              <a:t>Service</a:t>
            </a:r>
            <a:r>
              <a:rPr lang="en">
                <a:solidFill>
                  <a:schemeClr val="dk1"/>
                </a:solidFill>
              </a:rPr>
              <a:t> hosted on the </a:t>
            </a:r>
            <a:r>
              <a:rPr b="1" lang="en">
                <a:solidFill>
                  <a:schemeClr val="dk1"/>
                </a:solidFill>
              </a:rPr>
              <a:t>web</a:t>
            </a:r>
            <a:r>
              <a:rPr lang="en">
                <a:solidFill>
                  <a:schemeClr val="dk1"/>
                </a:solidFill>
              </a:rPr>
              <a:t> and </a:t>
            </a:r>
            <a:r>
              <a:rPr lang="en">
                <a:solidFill>
                  <a:schemeClr val="dk1"/>
                </a:solidFill>
              </a:rPr>
              <a:t>maintained by Microsoft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Space to upload a copy of the Git repository</a:t>
            </a:r>
            <a:endParaRPr>
              <a:solidFill>
                <a:schemeClr val="dk1"/>
              </a:solidFill>
            </a:endParaRPr>
          </a:p>
          <a:p>
            <a:pPr indent="0" lvl="0" marL="0" rtl="0" algn="l">
              <a:spcBef>
                <a:spcPts val="1200"/>
              </a:spcBef>
              <a:spcAft>
                <a:spcPts val="0"/>
              </a:spcAft>
              <a:buNone/>
            </a:pPr>
            <a:r>
              <a:t/>
            </a:r>
            <a:endParaRPr>
              <a:solidFill>
                <a:schemeClr val="dk1"/>
              </a:solidFill>
            </a:endParaRPr>
          </a:p>
          <a:p>
            <a:pPr indent="-317500" lvl="0" marL="457200" rtl="0" algn="l">
              <a:spcBef>
                <a:spcPts val="1200"/>
              </a:spcBef>
              <a:spcAft>
                <a:spcPts val="0"/>
              </a:spcAft>
              <a:buClr>
                <a:schemeClr val="dk1"/>
              </a:buClr>
              <a:buSzPts val="1400"/>
              <a:buChar char="●"/>
            </a:pPr>
            <a:r>
              <a:rPr lang="en" u="sng">
                <a:solidFill>
                  <a:schemeClr val="dk1"/>
                </a:solidFill>
                <a:hlinkClick r:id="rId3">
                  <a:extLst>
                    <a:ext uri="{A12FA001-AC4F-418D-AE19-62706E023703}">
                      <ahyp:hlinkClr val="tx"/>
                    </a:ext>
                  </a:extLst>
                </a:hlinkClick>
              </a:rPr>
              <a:t>https://github.com/</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Free for public repositories</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Private repositories free for students</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concepts in Git</a:t>
            </a:r>
            <a:endParaRPr/>
          </a:p>
        </p:txBody>
      </p:sp>
      <p:sp>
        <p:nvSpPr>
          <p:cNvPr id="469" name="Google Shape;469;p47"/>
          <p:cNvSpPr txBox="1"/>
          <p:nvPr>
            <p:ph idx="1" type="body"/>
          </p:nvPr>
        </p:nvSpPr>
        <p:spPr>
          <a:xfrm>
            <a:off x="311700" y="1152475"/>
            <a:ext cx="22932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sz="1600">
                <a:solidFill>
                  <a:schemeClr val="dk1"/>
                </a:solidFill>
              </a:rPr>
              <a:t>Repositories</a:t>
            </a:r>
            <a:endParaRPr b="1" sz="1600">
              <a:solidFill>
                <a:schemeClr val="dk1"/>
              </a:solidFill>
            </a:endParaRPr>
          </a:p>
          <a:p>
            <a:pPr indent="-304165" lvl="0" marL="457200" rtl="0" algn="l">
              <a:spcBef>
                <a:spcPts val="1200"/>
              </a:spcBef>
              <a:spcAft>
                <a:spcPts val="0"/>
              </a:spcAft>
              <a:buClr>
                <a:schemeClr val="dk1"/>
              </a:buClr>
              <a:buSzPct val="100000"/>
              <a:buChar char="●"/>
            </a:pPr>
            <a:r>
              <a:rPr lang="en">
                <a:solidFill>
                  <a:schemeClr val="dk1"/>
                </a:solidFill>
              </a:rPr>
              <a:t>Short “repo” </a:t>
            </a:r>
            <a:endParaRPr>
              <a:solidFill>
                <a:schemeClr val="dk1"/>
              </a:solidFill>
            </a:endParaRPr>
          </a:p>
          <a:p>
            <a:pPr indent="-304165" lvl="0" marL="457200" rtl="0" algn="l">
              <a:spcBef>
                <a:spcPts val="0"/>
              </a:spcBef>
              <a:spcAft>
                <a:spcPts val="0"/>
              </a:spcAft>
              <a:buClr>
                <a:schemeClr val="dk1"/>
              </a:buClr>
              <a:buSzPct val="100000"/>
              <a:buChar char="●"/>
            </a:pPr>
            <a:r>
              <a:rPr lang="en">
                <a:solidFill>
                  <a:schemeClr val="dk1"/>
                </a:solidFill>
              </a:rPr>
              <a:t>Collection of all files and history of all files</a:t>
            </a:r>
            <a:endParaRPr>
              <a:solidFill>
                <a:schemeClr val="dk1"/>
              </a:solidFill>
            </a:endParaRPr>
          </a:p>
          <a:p>
            <a:pPr indent="0" lvl="0" marL="0" rtl="0" algn="l">
              <a:spcBef>
                <a:spcPts val="1200"/>
              </a:spcBef>
              <a:spcAft>
                <a:spcPts val="0"/>
              </a:spcAft>
              <a:buNone/>
            </a:pPr>
            <a:r>
              <a:rPr lang="en">
                <a:solidFill>
                  <a:schemeClr val="dk1"/>
                </a:solidFill>
              </a:rPr>
              <a:t>Important commands:</a:t>
            </a:r>
            <a:endParaRPr>
              <a:solidFill>
                <a:schemeClr val="dk1"/>
              </a:solidFill>
            </a:endParaRPr>
          </a:p>
          <a:p>
            <a:pPr indent="-304165" lvl="0" marL="457200" rtl="0" algn="l">
              <a:spcBef>
                <a:spcPts val="1200"/>
              </a:spcBef>
              <a:spcAft>
                <a:spcPts val="0"/>
              </a:spcAft>
              <a:buClr>
                <a:schemeClr val="dk1"/>
              </a:buClr>
              <a:buSzPct val="100000"/>
              <a:buChar char="●"/>
            </a:pPr>
            <a:r>
              <a:rPr lang="en">
                <a:solidFill>
                  <a:schemeClr val="dk1"/>
                </a:solidFill>
              </a:rPr>
              <a:t>git clone repo_url</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470" name="Google Shape;470;p47"/>
          <p:cNvSpPr txBox="1"/>
          <p:nvPr>
            <p:ph idx="1" type="body"/>
          </p:nvPr>
        </p:nvSpPr>
        <p:spPr>
          <a:xfrm>
            <a:off x="2714125" y="1152475"/>
            <a:ext cx="333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Commit</a:t>
            </a:r>
            <a:endParaRPr b="1">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sz="1200">
                <a:solidFill>
                  <a:schemeClr val="dk1"/>
                </a:solidFill>
              </a:rPr>
              <a:t>Update your repo</a:t>
            </a:r>
            <a:r>
              <a:rPr lang="en" sz="1200">
                <a:solidFill>
                  <a:schemeClr val="dk1"/>
                </a:solidFill>
              </a:rPr>
              <a:t>:</a:t>
            </a:r>
            <a:endParaRPr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git </a:t>
            </a:r>
            <a:r>
              <a:rPr b="1" lang="en" sz="1200">
                <a:solidFill>
                  <a:schemeClr val="dk1"/>
                </a:solidFill>
              </a:rPr>
              <a:t>add</a:t>
            </a:r>
            <a:r>
              <a:rPr lang="en" sz="1200">
                <a:solidFill>
                  <a:schemeClr val="dk1"/>
                </a:solidFill>
              </a:rPr>
              <a:t>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git </a:t>
            </a:r>
            <a:r>
              <a:rPr b="1" lang="en" sz="1200">
                <a:solidFill>
                  <a:schemeClr val="dk1"/>
                </a:solidFill>
              </a:rPr>
              <a:t>commit</a:t>
            </a:r>
            <a:r>
              <a:rPr lang="en" sz="1200">
                <a:solidFill>
                  <a:schemeClr val="dk1"/>
                </a:solidFill>
              </a:rPr>
              <a:t> -m ‘your-message-to-your-future-self’</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git </a:t>
            </a:r>
            <a:r>
              <a:rPr b="1" lang="en" sz="1200">
                <a:solidFill>
                  <a:schemeClr val="dk1"/>
                </a:solidFill>
              </a:rPr>
              <a:t>push</a:t>
            </a:r>
            <a:endParaRPr b="1" sz="1200">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471" name="Google Shape;471;p47"/>
          <p:cNvSpPr txBox="1"/>
          <p:nvPr>
            <p:ph idx="1" type="body"/>
          </p:nvPr>
        </p:nvSpPr>
        <p:spPr>
          <a:xfrm>
            <a:off x="6195300" y="1248950"/>
            <a:ext cx="2637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Branches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48"/>
          <p:cNvPicPr preferRelativeResize="0"/>
          <p:nvPr/>
        </p:nvPicPr>
        <p:blipFill>
          <a:blip r:embed="rId3">
            <a:alphaModFix/>
          </a:blip>
          <a:stretch>
            <a:fillRect/>
          </a:stretch>
        </p:blipFill>
        <p:spPr>
          <a:xfrm>
            <a:off x="779850" y="108450"/>
            <a:ext cx="7302625" cy="4838702"/>
          </a:xfrm>
          <a:prstGeom prst="rect">
            <a:avLst/>
          </a:prstGeom>
          <a:noFill/>
          <a:ln>
            <a:noFill/>
          </a:ln>
        </p:spPr>
      </p:pic>
      <p:sp>
        <p:nvSpPr>
          <p:cNvPr id="477" name="Google Shape;477;p48"/>
          <p:cNvSpPr/>
          <p:nvPr/>
        </p:nvSpPr>
        <p:spPr>
          <a:xfrm>
            <a:off x="810600" y="150875"/>
            <a:ext cx="1710300" cy="431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48"/>
          <p:cNvSpPr txBox="1"/>
          <p:nvPr/>
        </p:nvSpPr>
        <p:spPr>
          <a:xfrm>
            <a:off x="-119900" y="130875"/>
            <a:ext cx="978600" cy="3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Repo name</a:t>
            </a:r>
            <a:endParaRPr sz="11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Tips and tricks</a:t>
            </a:r>
            <a:endParaRPr/>
          </a:p>
        </p:txBody>
      </p:sp>
      <p:sp>
        <p:nvSpPr>
          <p:cNvPr id="484" name="Google Shape;48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Check if a package is being maintained before using it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If you are stuck: check out the issues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Likely there was already someone having the same issue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Or, you can raise your own issue and get help from the developers</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sharing</a:t>
            </a:r>
            <a:endParaRPr/>
          </a:p>
        </p:txBody>
      </p:sp>
      <p:sp>
        <p:nvSpPr>
          <p:cNvPr id="490" name="Google Shape;490;p50"/>
          <p:cNvSpPr txBox="1"/>
          <p:nvPr/>
        </p:nvSpPr>
        <p:spPr>
          <a:xfrm>
            <a:off x="243100" y="4583000"/>
            <a:ext cx="61626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Slide credits to Lukas Heumos and LaminDB team</a:t>
            </a:r>
            <a:endParaRPr sz="12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Single-cell data platforms</a:t>
            </a:r>
            <a:endParaRPr/>
          </a:p>
        </p:txBody>
      </p:sp>
      <p:sp>
        <p:nvSpPr>
          <p:cNvPr id="496" name="Google Shape;496;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rPr>
              <a:t>For example:</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c</a:t>
            </a:r>
            <a:r>
              <a:rPr lang="en" sz="1400">
                <a:solidFill>
                  <a:schemeClr val="dk1"/>
                </a:solidFill>
              </a:rPr>
              <a:t>ellxgene: </a:t>
            </a:r>
            <a:r>
              <a:rPr lang="en" sz="1400" u="sng">
                <a:solidFill>
                  <a:schemeClr val="dk1"/>
                </a:solidFill>
                <a:hlinkClick r:id="rId3">
                  <a:extLst>
                    <a:ext uri="{A12FA001-AC4F-418D-AE19-62706E023703}">
                      <ahyp:hlinkClr val="tx"/>
                    </a:ext>
                  </a:extLst>
                </a:hlinkClick>
              </a:rPr>
              <a:t>https://cellxgene.cziscience.com/datasets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Synapse: </a:t>
            </a:r>
            <a:r>
              <a:rPr lang="en" sz="1400" u="sng">
                <a:solidFill>
                  <a:schemeClr val="dk1"/>
                </a:solidFill>
                <a:hlinkClick r:id="rId4">
                  <a:extLst>
                    <a:ext uri="{A12FA001-AC4F-418D-AE19-62706E023703}">
                      <ahyp:hlinkClr val="tx"/>
                    </a:ext>
                  </a:extLst>
                </a:hlinkClick>
              </a:rPr>
              <a:t>https://www.synapse.org/</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GEO: </a:t>
            </a:r>
            <a:r>
              <a:rPr lang="en" sz="1400" u="sng">
                <a:solidFill>
                  <a:schemeClr val="dk1"/>
                </a:solidFill>
                <a:hlinkClick r:id="rId5">
                  <a:extLst>
                    <a:ext uri="{A12FA001-AC4F-418D-AE19-62706E023703}">
                      <ahyp:hlinkClr val="tx"/>
                    </a:ext>
                  </a:extLst>
                </a:hlinkClick>
              </a:rPr>
              <a:t>https://www.ncbi.nlm.nih.gov/geo/</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SEA-AD AWS: </a:t>
            </a:r>
            <a:r>
              <a:rPr lang="en" sz="1400" u="sng">
                <a:solidFill>
                  <a:schemeClr val="dk1"/>
                </a:solidFill>
                <a:hlinkClick r:id="rId6">
                  <a:extLst>
                    <a:ext uri="{A12FA001-AC4F-418D-AE19-62706E023703}">
                      <ahyp:hlinkClr val="tx"/>
                    </a:ext>
                  </a:extLst>
                </a:hlinkClick>
              </a:rPr>
              <a:t>https://registry.opendata.aws/allen-sea-ad-atlas/</a:t>
            </a:r>
            <a:endParaRPr sz="14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 Human BioMolecular Atlas Program (HuBMAP): </a:t>
            </a:r>
            <a:r>
              <a:rPr lang="en" sz="1100" u="sng">
                <a:solidFill>
                  <a:schemeClr val="hlink"/>
                </a:solidFill>
                <a:hlinkClick r:id="rId7"/>
              </a:rPr>
              <a:t>https://commonfund.nih.gov/HuBMAP</a:t>
            </a:r>
            <a:endParaRPr sz="1200">
              <a:solidFill>
                <a:schemeClr val="dk1"/>
              </a:solidFill>
            </a:endParaRPr>
          </a:p>
          <a:p>
            <a:pPr indent="0" lvl="0" marL="0" rtl="0" algn="l">
              <a:spcBef>
                <a:spcPts val="1200"/>
              </a:spcBef>
              <a:spcAft>
                <a:spcPts val="0"/>
              </a:spcAft>
              <a:buNone/>
            </a:pPr>
            <a:r>
              <a:rPr lang="en" sz="1400">
                <a:solidFill>
                  <a:schemeClr val="dk1"/>
                </a:solidFill>
              </a:rPr>
              <a:t>Problem: All different data formats (Python vs R), access requirements etc</a:t>
            </a:r>
            <a:endParaRPr sz="1400">
              <a:solidFill>
                <a:schemeClr val="dk1"/>
              </a:solidFill>
            </a:endParaRPr>
          </a:p>
          <a:p>
            <a:pPr indent="0" lvl="0" marL="0" rtl="0" algn="l">
              <a:spcBef>
                <a:spcPts val="1200"/>
              </a:spcBef>
              <a:spcAft>
                <a:spcPts val="0"/>
              </a:spcAft>
              <a:buNone/>
            </a:pPr>
            <a:r>
              <a:rPr lang="en" sz="1400">
                <a:solidFill>
                  <a:schemeClr val="dk1"/>
                </a:solidFill>
              </a:rPr>
              <a:t>In this context we use LaminDB: </a:t>
            </a:r>
            <a:endParaRPr sz="1400">
              <a:solidFill>
                <a:schemeClr val="dk1"/>
              </a:solidFill>
            </a:endParaRPr>
          </a:p>
          <a:p>
            <a:pPr indent="-317500" lvl="0" marL="457200" rtl="0" algn="l">
              <a:spcBef>
                <a:spcPts val="1200"/>
              </a:spcBef>
              <a:spcAft>
                <a:spcPts val="0"/>
              </a:spcAft>
              <a:buClr>
                <a:schemeClr val="dk1"/>
              </a:buClr>
              <a:buSzPts val="1400"/>
              <a:buChar char="●"/>
            </a:pPr>
            <a:r>
              <a:rPr lang="en" sz="1400">
                <a:solidFill>
                  <a:schemeClr val="dk1"/>
                </a:solidFill>
              </a:rPr>
              <a:t>own instance: </a:t>
            </a:r>
            <a:r>
              <a:rPr i="1" lang="en" sz="1400">
                <a:solidFill>
                  <a:schemeClr val="dk1"/>
                </a:solidFill>
              </a:rPr>
              <a:t>theislab/ad_jaekel</a:t>
            </a:r>
            <a:endParaRPr i="1"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all </a:t>
            </a:r>
            <a:r>
              <a:rPr lang="en" sz="1400">
                <a:solidFill>
                  <a:schemeClr val="dk1"/>
                </a:solidFill>
              </a:rPr>
              <a:t>formatted AD data</a:t>
            </a:r>
            <a:endParaRPr sz="14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2"/>
          <p:cNvSpPr txBox="1"/>
          <p:nvPr>
            <p:ph type="title"/>
          </p:nvPr>
        </p:nvSpPr>
        <p:spPr>
          <a:xfrm>
            <a:off x="398225" y="242950"/>
            <a:ext cx="8173200" cy="4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Signing up</a:t>
            </a:r>
            <a:endParaRPr/>
          </a:p>
        </p:txBody>
      </p:sp>
      <p:pic>
        <p:nvPicPr>
          <p:cNvPr id="502" name="Google Shape;502;p52"/>
          <p:cNvPicPr preferRelativeResize="0"/>
          <p:nvPr/>
        </p:nvPicPr>
        <p:blipFill>
          <a:blip r:embed="rId3">
            <a:alphaModFix/>
          </a:blip>
          <a:stretch>
            <a:fillRect/>
          </a:stretch>
        </p:blipFill>
        <p:spPr>
          <a:xfrm>
            <a:off x="152400" y="875650"/>
            <a:ext cx="8839204" cy="820043"/>
          </a:xfrm>
          <a:prstGeom prst="rect">
            <a:avLst/>
          </a:prstGeom>
          <a:noFill/>
          <a:ln>
            <a:noFill/>
          </a:ln>
        </p:spPr>
      </p:pic>
      <p:pic>
        <p:nvPicPr>
          <p:cNvPr id="503" name="Google Shape;503;p52"/>
          <p:cNvPicPr preferRelativeResize="0"/>
          <p:nvPr/>
        </p:nvPicPr>
        <p:blipFill>
          <a:blip r:embed="rId4">
            <a:alphaModFix/>
          </a:blip>
          <a:stretch>
            <a:fillRect/>
          </a:stretch>
        </p:blipFill>
        <p:spPr>
          <a:xfrm>
            <a:off x="220075" y="2102173"/>
            <a:ext cx="2525101" cy="2101700"/>
          </a:xfrm>
          <a:prstGeom prst="rect">
            <a:avLst/>
          </a:prstGeom>
          <a:noFill/>
          <a:ln>
            <a:noFill/>
          </a:ln>
        </p:spPr>
      </p:pic>
      <p:pic>
        <p:nvPicPr>
          <p:cNvPr id="504" name="Google Shape;504;p52"/>
          <p:cNvPicPr preferRelativeResize="0"/>
          <p:nvPr/>
        </p:nvPicPr>
        <p:blipFill>
          <a:blip r:embed="rId5">
            <a:alphaModFix/>
          </a:blip>
          <a:stretch>
            <a:fillRect/>
          </a:stretch>
        </p:blipFill>
        <p:spPr>
          <a:xfrm>
            <a:off x="5859625" y="2241625"/>
            <a:ext cx="3131975" cy="1729934"/>
          </a:xfrm>
          <a:prstGeom prst="rect">
            <a:avLst/>
          </a:prstGeom>
          <a:noFill/>
          <a:ln>
            <a:noFill/>
          </a:ln>
        </p:spPr>
      </p:pic>
      <p:pic>
        <p:nvPicPr>
          <p:cNvPr id="505" name="Google Shape;505;p52"/>
          <p:cNvPicPr preferRelativeResize="0"/>
          <p:nvPr/>
        </p:nvPicPr>
        <p:blipFill>
          <a:blip r:embed="rId6">
            <a:alphaModFix/>
          </a:blip>
          <a:stretch>
            <a:fillRect/>
          </a:stretch>
        </p:blipFill>
        <p:spPr>
          <a:xfrm>
            <a:off x="2929551" y="1987968"/>
            <a:ext cx="2809649" cy="25068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3"/>
          <p:cNvSpPr txBox="1"/>
          <p:nvPr>
            <p:ph type="title"/>
          </p:nvPr>
        </p:nvSpPr>
        <p:spPr>
          <a:xfrm>
            <a:off x="398225" y="242950"/>
            <a:ext cx="8173200" cy="4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Setting up LaminDB</a:t>
            </a:r>
            <a:endParaRPr/>
          </a:p>
        </p:txBody>
      </p:sp>
      <p:sp>
        <p:nvSpPr>
          <p:cNvPr id="511" name="Google Shape;511;p53"/>
          <p:cNvSpPr txBox="1"/>
          <p:nvPr>
            <p:ph idx="1" type="body"/>
          </p:nvPr>
        </p:nvSpPr>
        <p:spPr>
          <a:xfrm>
            <a:off x="398225" y="922025"/>
            <a:ext cx="8433300" cy="4175700"/>
          </a:xfrm>
          <a:prstGeom prst="rect">
            <a:avLst/>
          </a:prstGeom>
        </p:spPr>
        <p:txBody>
          <a:bodyPr anchorCtr="0" anchor="t" bIns="91425" lIns="91425" spcFirstLastPara="1" rIns="91425" wrap="square" tIns="91425">
            <a:noAutofit/>
          </a:bodyPr>
          <a:lstStyle/>
          <a:p>
            <a:pPr indent="-330200" lvl="0" marL="457200" rtl="0" algn="l">
              <a:lnSpc>
                <a:spcPct val="80000"/>
              </a:lnSpc>
              <a:spcBef>
                <a:spcPts val="2200"/>
              </a:spcBef>
              <a:spcAft>
                <a:spcPts val="0"/>
              </a:spcAft>
              <a:buSzPts val="1600"/>
              <a:buAutoNum type="arabicPeriod"/>
            </a:pPr>
            <a:r>
              <a:rPr lang="en" sz="1600"/>
              <a:t>Install lamindb via </a:t>
            </a:r>
            <a:r>
              <a:rPr lang="en" sz="1600">
                <a:solidFill>
                  <a:srgbClr val="009468"/>
                </a:solidFill>
                <a:latin typeface="Inconsolata"/>
                <a:ea typeface="Inconsolata"/>
                <a:cs typeface="Inconsolata"/>
                <a:sym typeface="Inconsolata"/>
              </a:rPr>
              <a:t>pip install “lamindb[jupyter,bionty]”</a:t>
            </a:r>
            <a:endParaRPr sz="1600"/>
          </a:p>
          <a:p>
            <a:pPr indent="-330200" lvl="0" marL="457200" rtl="0" algn="l">
              <a:lnSpc>
                <a:spcPct val="80000"/>
              </a:lnSpc>
              <a:spcBef>
                <a:spcPts val="2200"/>
              </a:spcBef>
              <a:spcAft>
                <a:spcPts val="0"/>
              </a:spcAft>
              <a:buSzPts val="1600"/>
              <a:buAutoNum type="arabicPeriod"/>
            </a:pPr>
            <a:r>
              <a:rPr lang="en" sz="1600"/>
              <a:t>Log in with </a:t>
            </a:r>
            <a:r>
              <a:rPr lang="en" sz="1600">
                <a:solidFill>
                  <a:srgbClr val="009468"/>
                </a:solidFill>
                <a:latin typeface="Inconsolata"/>
                <a:ea typeface="Inconsolata"/>
                <a:cs typeface="Inconsolata"/>
                <a:sym typeface="Inconsolata"/>
              </a:rPr>
              <a:t>lamin login</a:t>
            </a:r>
            <a:endParaRPr sz="1600">
              <a:solidFill>
                <a:srgbClr val="009468"/>
              </a:solidFill>
              <a:latin typeface="Inconsolata"/>
              <a:ea typeface="Inconsolata"/>
              <a:cs typeface="Inconsolata"/>
              <a:sym typeface="Inconsolata"/>
            </a:endParaRPr>
          </a:p>
          <a:p>
            <a:pPr indent="-330200" lvl="1" marL="914400" rtl="0" algn="l">
              <a:lnSpc>
                <a:spcPct val="80000"/>
              </a:lnSpc>
              <a:spcBef>
                <a:spcPts val="2200"/>
              </a:spcBef>
              <a:spcAft>
                <a:spcPts val="0"/>
              </a:spcAft>
              <a:buSzPts val="1600"/>
              <a:buAutoNum type="alphaLcPeriod"/>
            </a:pPr>
            <a:r>
              <a:rPr lang="en" sz="1600"/>
              <a:t>First time user, sign up at </a:t>
            </a:r>
            <a:r>
              <a:rPr lang="en" sz="1600" u="sng">
                <a:solidFill>
                  <a:schemeClr val="hlink"/>
                </a:solidFill>
                <a:hlinkClick r:id="rId3"/>
              </a:rPr>
              <a:t>https://lamin.ai</a:t>
            </a:r>
            <a:endParaRPr sz="1600"/>
          </a:p>
          <a:p>
            <a:pPr indent="-330200" lvl="0" marL="457200" rtl="0" algn="l">
              <a:lnSpc>
                <a:spcPct val="80000"/>
              </a:lnSpc>
              <a:spcBef>
                <a:spcPts val="2200"/>
              </a:spcBef>
              <a:spcAft>
                <a:spcPts val="0"/>
              </a:spcAft>
              <a:buSzPts val="1600"/>
              <a:buAutoNum type="arabicPeriod"/>
            </a:pPr>
            <a:r>
              <a:rPr lang="en" sz="1600"/>
              <a:t>Connect to an instance with </a:t>
            </a:r>
            <a:r>
              <a:rPr lang="en" sz="1600">
                <a:solidFill>
                  <a:srgbClr val="009468"/>
                </a:solidFill>
                <a:latin typeface="Inconsolata"/>
                <a:ea typeface="Inconsolata"/>
                <a:cs typeface="Inconsolata"/>
                <a:sym typeface="Inconsolata"/>
              </a:rPr>
              <a:t>lamin connect account/instance</a:t>
            </a:r>
            <a:endParaRPr sz="1600">
              <a:solidFill>
                <a:srgbClr val="009468"/>
              </a:solidFill>
              <a:latin typeface="Inconsolata"/>
              <a:ea typeface="Inconsolata"/>
              <a:cs typeface="Inconsolata"/>
              <a:sym typeface="Inconsolata"/>
            </a:endParaRPr>
          </a:p>
          <a:p>
            <a:pPr indent="-330200" lvl="1" marL="914400" rtl="0" algn="l">
              <a:lnSpc>
                <a:spcPct val="50000"/>
              </a:lnSpc>
              <a:spcBef>
                <a:spcPts val="1000"/>
              </a:spcBef>
              <a:spcAft>
                <a:spcPts val="0"/>
              </a:spcAft>
              <a:buSzPts val="1600"/>
              <a:buAutoNum type="alphaLcPeriod"/>
            </a:pPr>
            <a:r>
              <a:rPr lang="en" sz="1600">
                <a:solidFill>
                  <a:srgbClr val="009468"/>
                </a:solidFill>
                <a:latin typeface="Inconsolata"/>
                <a:ea typeface="Inconsolata"/>
                <a:cs typeface="Inconsolata"/>
                <a:sym typeface="Inconsolata"/>
              </a:rPr>
              <a:t>lamin connect laminlabs/cellxgene</a:t>
            </a:r>
            <a:endParaRPr sz="1600">
              <a:solidFill>
                <a:srgbClr val="009468"/>
              </a:solidFill>
              <a:latin typeface="Inconsolata"/>
              <a:ea typeface="Inconsolata"/>
              <a:cs typeface="Inconsolata"/>
              <a:sym typeface="Inconsolata"/>
            </a:endParaRPr>
          </a:p>
          <a:p>
            <a:pPr indent="0" lvl="0" marL="914400" rtl="0" algn="l">
              <a:lnSpc>
                <a:spcPct val="50000"/>
              </a:lnSpc>
              <a:spcBef>
                <a:spcPts val="1000"/>
              </a:spcBef>
              <a:spcAft>
                <a:spcPts val="0"/>
              </a:spcAft>
              <a:buNone/>
            </a:pPr>
            <a:r>
              <a:t/>
            </a:r>
            <a:endParaRPr sz="1600">
              <a:solidFill>
                <a:srgbClr val="009468"/>
              </a:solidFill>
              <a:latin typeface="Inconsolata"/>
              <a:ea typeface="Inconsolata"/>
              <a:cs typeface="Inconsolata"/>
              <a:sym typeface="Inconsolata"/>
            </a:endParaRPr>
          </a:p>
          <a:p>
            <a:pPr indent="-330200" lvl="1" marL="914400" rtl="0" algn="l">
              <a:lnSpc>
                <a:spcPct val="50000"/>
              </a:lnSpc>
              <a:spcBef>
                <a:spcPts val="1000"/>
              </a:spcBef>
              <a:spcAft>
                <a:spcPts val="0"/>
              </a:spcAft>
              <a:buSzPts val="1600"/>
              <a:buAutoNum type="alphaLcPeriod"/>
            </a:pPr>
            <a:r>
              <a:rPr lang="en" sz="1600">
                <a:solidFill>
                  <a:srgbClr val="009468"/>
                </a:solidFill>
                <a:latin typeface="Inconsolata"/>
                <a:ea typeface="Inconsolata"/>
                <a:cs typeface="Inconsolata"/>
                <a:sym typeface="Inconsolata"/>
              </a:rPr>
              <a:t>lamin connect theislab/ad_jaekel</a:t>
            </a:r>
            <a:endParaRPr sz="1600">
              <a:solidFill>
                <a:srgbClr val="009468"/>
              </a:solidFill>
              <a:latin typeface="Inconsolata"/>
              <a:ea typeface="Inconsolata"/>
              <a:cs typeface="Inconsolata"/>
              <a:sym typeface="Inconsolata"/>
            </a:endParaRPr>
          </a:p>
          <a:p>
            <a:pPr indent="0" lvl="0" marL="0" rtl="0" algn="l">
              <a:lnSpc>
                <a:spcPct val="50000"/>
              </a:lnSpc>
              <a:spcBef>
                <a:spcPts val="1000"/>
              </a:spcBef>
              <a:spcAft>
                <a:spcPts val="1000"/>
              </a:spcAft>
              <a:buNone/>
            </a:pPr>
            <a:r>
              <a:t/>
            </a:r>
            <a:endParaRPr sz="1600">
              <a:solidFill>
                <a:srgbClr val="009468"/>
              </a:solidFill>
              <a:latin typeface="Inconsolata"/>
              <a:ea typeface="Inconsolata"/>
              <a:cs typeface="Inconsolata"/>
              <a:sym typeface="Inconsolata"/>
            </a:endParaRPr>
          </a:p>
        </p:txBody>
      </p:sp>
      <p:sp>
        <p:nvSpPr>
          <p:cNvPr id="512" name="Google Shape;512;p53"/>
          <p:cNvSpPr txBox="1"/>
          <p:nvPr/>
        </p:nvSpPr>
        <p:spPr>
          <a:xfrm>
            <a:off x="127950" y="4586725"/>
            <a:ext cx="1717800" cy="283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2200"/>
              </a:spcBef>
              <a:spcAft>
                <a:spcPts val="1000"/>
              </a:spcAft>
              <a:buNone/>
            </a:pPr>
            <a:r>
              <a:rPr lang="en" sz="800" u="sng">
                <a:solidFill>
                  <a:schemeClr val="dk2"/>
                </a:solidFill>
                <a:latin typeface="Helvetica Neue"/>
                <a:ea typeface="Helvetica Neue"/>
                <a:cs typeface="Helvetica Neue"/>
                <a:sym typeface="Helvetica Neue"/>
                <a:hlinkClick r:id="rId4">
                  <a:extLst>
                    <a:ext uri="{A12FA001-AC4F-418D-AE19-62706E023703}">
                      <ahyp:hlinkClr val="tx"/>
                    </a:ext>
                  </a:extLst>
                </a:hlinkClick>
              </a:rPr>
              <a:t>https://docs.lamin.ai/setup</a:t>
            </a:r>
            <a:endParaRPr sz="800">
              <a:solidFill>
                <a:schemeClr val="dk2"/>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4"/>
          <p:cNvSpPr txBox="1"/>
          <p:nvPr>
            <p:ph type="title"/>
          </p:nvPr>
        </p:nvSpPr>
        <p:spPr>
          <a:xfrm>
            <a:off x="398225" y="242950"/>
            <a:ext cx="8173200" cy="4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Leverage external LaminDB instances</a:t>
            </a:r>
            <a:endParaRPr/>
          </a:p>
        </p:txBody>
      </p:sp>
      <p:pic>
        <p:nvPicPr>
          <p:cNvPr id="518" name="Google Shape;518;p54"/>
          <p:cNvPicPr preferRelativeResize="0"/>
          <p:nvPr/>
        </p:nvPicPr>
        <p:blipFill>
          <a:blip r:embed="rId3">
            <a:alphaModFix/>
          </a:blip>
          <a:stretch>
            <a:fillRect/>
          </a:stretch>
        </p:blipFill>
        <p:spPr>
          <a:xfrm>
            <a:off x="1228324" y="871763"/>
            <a:ext cx="3386377" cy="3947726"/>
          </a:xfrm>
          <a:prstGeom prst="rect">
            <a:avLst/>
          </a:prstGeom>
          <a:noFill/>
          <a:ln>
            <a:noFill/>
          </a:ln>
        </p:spPr>
      </p:pic>
      <p:sp>
        <p:nvSpPr>
          <p:cNvPr id="519" name="Google Shape;519;p54"/>
          <p:cNvSpPr txBox="1"/>
          <p:nvPr/>
        </p:nvSpPr>
        <p:spPr>
          <a:xfrm>
            <a:off x="7675800" y="4819500"/>
            <a:ext cx="147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dk2"/>
                </a:solidFill>
                <a:hlinkClick r:id="rId4">
                  <a:extLst>
                    <a:ext uri="{A12FA001-AC4F-418D-AE19-62706E023703}">
                      <ahyp:hlinkClr val="tx"/>
                    </a:ext>
                  </a:extLst>
                </a:hlinkClick>
              </a:rPr>
              <a:t>https://lamin.ai/explore</a:t>
            </a:r>
            <a:endParaRPr sz="1000">
              <a:solidFill>
                <a:schemeClr val="dk2"/>
              </a:solidFill>
            </a:endParaRPr>
          </a:p>
        </p:txBody>
      </p:sp>
      <p:sp>
        <p:nvSpPr>
          <p:cNvPr id="520" name="Google Shape;520;p54"/>
          <p:cNvSpPr txBox="1"/>
          <p:nvPr/>
        </p:nvSpPr>
        <p:spPr>
          <a:xfrm>
            <a:off x="5054875" y="2053200"/>
            <a:ext cx="3680700" cy="11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Instance is basically a folder </a:t>
            </a:r>
            <a:r>
              <a:rPr lang="en" sz="1200">
                <a:solidFill>
                  <a:schemeClr val="dk2"/>
                </a:solidFill>
              </a:rPr>
              <a:t>where</a:t>
            </a:r>
            <a:r>
              <a:rPr lang="en" sz="1200">
                <a:solidFill>
                  <a:schemeClr val="dk2"/>
                </a:solidFill>
              </a:rPr>
              <a:t> you can find data objects</a:t>
            </a:r>
            <a:endParaRPr sz="12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5"/>
          <p:cNvSpPr txBox="1"/>
          <p:nvPr>
            <p:ph type="title"/>
          </p:nvPr>
        </p:nvSpPr>
        <p:spPr>
          <a:xfrm>
            <a:off x="398225" y="242950"/>
            <a:ext cx="8173200" cy="4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Artifacts are datasets</a:t>
            </a:r>
            <a:endParaRPr/>
          </a:p>
        </p:txBody>
      </p:sp>
      <p:sp>
        <p:nvSpPr>
          <p:cNvPr id="526" name="Google Shape;526;p55"/>
          <p:cNvSpPr txBox="1"/>
          <p:nvPr/>
        </p:nvSpPr>
        <p:spPr>
          <a:xfrm>
            <a:off x="7675800" y="4819500"/>
            <a:ext cx="147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dk2"/>
                </a:solidFill>
                <a:hlinkClick r:id="rId3">
                  <a:extLst>
                    <a:ext uri="{A12FA001-AC4F-418D-AE19-62706E023703}">
                      <ahyp:hlinkClr val="tx"/>
                    </a:ext>
                  </a:extLst>
                </a:hlinkClick>
              </a:rPr>
              <a:t>https://lamin.ai/explore</a:t>
            </a:r>
            <a:endParaRPr sz="1000">
              <a:solidFill>
                <a:schemeClr val="dk2"/>
              </a:solidFill>
            </a:endParaRPr>
          </a:p>
        </p:txBody>
      </p:sp>
      <p:pic>
        <p:nvPicPr>
          <p:cNvPr id="527" name="Google Shape;527;p55"/>
          <p:cNvPicPr preferRelativeResize="0"/>
          <p:nvPr/>
        </p:nvPicPr>
        <p:blipFill>
          <a:blip r:embed="rId4">
            <a:alphaModFix/>
          </a:blip>
          <a:stretch>
            <a:fillRect/>
          </a:stretch>
        </p:blipFill>
        <p:spPr>
          <a:xfrm>
            <a:off x="2007888" y="887650"/>
            <a:ext cx="5128213" cy="4115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6"/>
          <p:cNvSpPr txBox="1"/>
          <p:nvPr>
            <p:ph type="title"/>
          </p:nvPr>
        </p:nvSpPr>
        <p:spPr>
          <a:xfrm>
            <a:off x="347650" y="15913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Let’s code  </a:t>
            </a:r>
            <a:r>
              <a:rPr lang="en"/>
              <a:t>👩‍💻</a:t>
            </a:r>
            <a:endParaRPr/>
          </a:p>
        </p:txBody>
      </p:sp>
      <p:sp>
        <p:nvSpPr>
          <p:cNvPr id="533" name="Google Shape;533;p56"/>
          <p:cNvSpPr txBox="1"/>
          <p:nvPr/>
        </p:nvSpPr>
        <p:spPr>
          <a:xfrm>
            <a:off x="347650" y="2924450"/>
            <a:ext cx="8723700" cy="1670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AutoNum type="arabicPeriod"/>
            </a:pPr>
            <a:r>
              <a:rPr lang="en" sz="1800">
                <a:solidFill>
                  <a:schemeClr val="dk1"/>
                </a:solidFill>
              </a:rPr>
              <a:t>Open VM</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git clone </a:t>
            </a:r>
            <a:r>
              <a:rPr lang="en" sz="1800" u="sng">
                <a:solidFill>
                  <a:schemeClr val="hlink"/>
                </a:solidFill>
                <a:hlinkClick r:id="rId3"/>
              </a:rPr>
              <a:t>https://github.com/FrancescaDr/jaekel_single_cell_tutorial.git</a:t>
            </a:r>
            <a:endParaRPr sz="1800">
              <a:solidFill>
                <a:schemeClr val="dk1"/>
              </a:solidFill>
            </a:endParaRPr>
          </a:p>
          <a:p>
            <a:pPr indent="-342900" lvl="0" marL="457200" rtl="0" algn="l">
              <a:spcBef>
                <a:spcPts val="0"/>
              </a:spcBef>
              <a:spcAft>
                <a:spcPts val="0"/>
              </a:spcAft>
              <a:buClr>
                <a:schemeClr val="dk1"/>
              </a:buClr>
              <a:buSzPts val="1800"/>
              <a:buAutoNum type="arabicPeriod"/>
            </a:pPr>
            <a:r>
              <a:rPr lang="en" sz="1800">
                <a:solidFill>
                  <a:schemeClr val="dk1"/>
                </a:solidFill>
              </a:rPr>
              <a:t>Run notebook 1: QC and normalization</a:t>
            </a:r>
            <a:endParaRPr sz="18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7"/>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Post data pre-processing:</a:t>
            </a:r>
            <a:br>
              <a:rPr lang="en"/>
            </a:br>
            <a:br>
              <a:rPr lang="en"/>
            </a:br>
            <a:r>
              <a:rPr lang="en"/>
              <a:t>- Data normalization </a:t>
            </a:r>
            <a:br>
              <a:rPr lang="en"/>
            </a:br>
            <a:r>
              <a:rPr lang="en"/>
              <a:t>- </a:t>
            </a:r>
            <a:r>
              <a:rPr lang="en">
                <a:solidFill>
                  <a:srgbClr val="FF0000"/>
                </a:solidFill>
              </a:rPr>
              <a:t>Highly Variable Genes</a:t>
            </a:r>
            <a:br>
              <a:rPr lang="en">
                <a:solidFill>
                  <a:srgbClr val="FF0000"/>
                </a:solidFill>
              </a:rPr>
            </a:br>
            <a:r>
              <a:rPr lang="en"/>
              <a:t>- PCA</a:t>
            </a:r>
            <a:br>
              <a:rPr lang="en"/>
            </a:br>
            <a:r>
              <a:rPr lang="en"/>
              <a:t>- Nearest Neighbor Graph</a:t>
            </a:r>
            <a:br>
              <a:rPr lang="en"/>
            </a:br>
            <a:r>
              <a:rPr lang="en"/>
              <a:t>- Visualization </a:t>
            </a:r>
            <a:br>
              <a:rPr lang="en"/>
            </a:br>
            <a:r>
              <a:rPr lang="en"/>
              <a:t>- Clustering</a:t>
            </a:r>
            <a:endParaRPr/>
          </a:p>
        </p:txBody>
      </p:sp>
      <p:sp>
        <p:nvSpPr>
          <p:cNvPr id="540" name="Google Shape;540;p57"/>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8"/>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Highly Variable Gene Selection</a:t>
            </a:r>
            <a:endParaRPr/>
          </a:p>
        </p:txBody>
      </p:sp>
      <p:sp>
        <p:nvSpPr>
          <p:cNvPr id="546" name="Google Shape;546;p58"/>
          <p:cNvSpPr/>
          <p:nvPr/>
        </p:nvSpPr>
        <p:spPr>
          <a:xfrm>
            <a:off x="100856" y="848919"/>
            <a:ext cx="9006000" cy="1330200"/>
          </a:xfrm>
          <a:prstGeom prst="rect">
            <a:avLst/>
          </a:prstGeom>
          <a:noFill/>
          <a:ln>
            <a:noFill/>
          </a:ln>
        </p:spPr>
        <p:txBody>
          <a:bodyPr anchorCtr="0" anchor="t" bIns="34275" lIns="68575" spcFirstLastPara="1" rIns="68575" wrap="square" tIns="34275">
            <a:noAutofit/>
          </a:bodyPr>
          <a:lstStyle/>
          <a:p>
            <a:pPr indent="-247650" lvl="0" marL="254000" marR="0" rtl="0" algn="just">
              <a:spcBef>
                <a:spcPts val="0"/>
              </a:spcBef>
              <a:spcAft>
                <a:spcPts val="0"/>
              </a:spcAft>
              <a:buClr>
                <a:srgbClr val="000000"/>
              </a:buClr>
              <a:buSzPts val="1500"/>
              <a:buFont typeface="Arial"/>
              <a:buChar char="•"/>
            </a:pPr>
            <a:r>
              <a:rPr lang="en" sz="1500">
                <a:solidFill>
                  <a:srgbClr val="000000"/>
                </a:solidFill>
                <a:latin typeface="Calibri"/>
                <a:ea typeface="Calibri"/>
                <a:cs typeface="Calibri"/>
                <a:sym typeface="Calibri"/>
              </a:rPr>
              <a:t>Generally, all genes may not be important to understand the biology</a:t>
            </a:r>
            <a:endParaRPr sz="1100"/>
          </a:p>
          <a:p>
            <a:pPr indent="-152400" lvl="0" marL="254000" marR="0" rtl="0" algn="just">
              <a:spcBef>
                <a:spcPts val="0"/>
              </a:spcBef>
              <a:spcAft>
                <a:spcPts val="0"/>
              </a:spcAft>
              <a:buClr>
                <a:schemeClr val="dk1"/>
              </a:buClr>
              <a:buSzPts val="1500"/>
              <a:buFont typeface="Arial"/>
              <a:buNone/>
            </a:pPr>
            <a:r>
              <a:t/>
            </a:r>
            <a:endParaRPr sz="1500">
              <a:solidFill>
                <a:srgbClr val="000000"/>
              </a:solidFill>
              <a:latin typeface="Calibri"/>
              <a:ea typeface="Calibri"/>
              <a:cs typeface="Calibri"/>
              <a:sym typeface="Calibri"/>
            </a:endParaRPr>
          </a:p>
          <a:p>
            <a:pPr indent="-247650" lvl="0" marL="254000" marR="0" rtl="0" algn="just">
              <a:spcBef>
                <a:spcPts val="0"/>
              </a:spcBef>
              <a:spcAft>
                <a:spcPts val="0"/>
              </a:spcAft>
              <a:buClr>
                <a:srgbClr val="000000"/>
              </a:buClr>
              <a:buSzPts val="1500"/>
              <a:buFont typeface="Arial"/>
              <a:buChar char="•"/>
            </a:pPr>
            <a:r>
              <a:rPr lang="en" sz="1500">
                <a:solidFill>
                  <a:srgbClr val="000000"/>
                </a:solidFill>
                <a:latin typeface="Calibri"/>
                <a:ea typeface="Calibri"/>
                <a:cs typeface="Calibri"/>
                <a:sym typeface="Calibri"/>
              </a:rPr>
              <a:t>A key idea in machine learning: </a:t>
            </a:r>
            <a:r>
              <a:rPr b="1" lang="en" sz="1500">
                <a:solidFill>
                  <a:srgbClr val="000000"/>
                </a:solidFill>
                <a:latin typeface="Calibri"/>
                <a:ea typeface="Calibri"/>
                <a:cs typeface="Calibri"/>
                <a:sym typeface="Calibri"/>
              </a:rPr>
              <a:t>feature selection</a:t>
            </a:r>
            <a:endParaRPr b="1" sz="1100"/>
          </a:p>
          <a:p>
            <a:pPr indent="-247650" lvl="1" marL="596900" marR="0" rtl="0" algn="just">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Not all the features that we collect are useful to understand the phenomenon</a:t>
            </a:r>
            <a:endParaRPr sz="1100"/>
          </a:p>
          <a:p>
            <a:pPr indent="-247650" lvl="1" marL="596900" marR="0" rtl="0" algn="just">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For example, in biology we expect to see lots of house keeping genes</a:t>
            </a:r>
            <a:endParaRPr sz="1100"/>
          </a:p>
          <a:p>
            <a:pPr indent="0" lvl="0" marL="0" marR="0" rtl="0" algn="just">
              <a:spcBef>
                <a:spcPts val="0"/>
              </a:spcBef>
              <a:spcAft>
                <a:spcPts val="0"/>
              </a:spcAft>
              <a:buNone/>
            </a:pPr>
            <a:r>
              <a:t/>
            </a:r>
            <a:endParaRPr sz="1100"/>
          </a:p>
        </p:txBody>
      </p:sp>
      <p:sp>
        <p:nvSpPr>
          <p:cNvPr id="547" name="Google Shape;547;p58"/>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58"/>
          <p:cNvSpPr/>
          <p:nvPr/>
        </p:nvSpPr>
        <p:spPr>
          <a:xfrm>
            <a:off x="100856" y="2147191"/>
            <a:ext cx="9006000" cy="2630100"/>
          </a:xfrm>
          <a:prstGeom prst="rect">
            <a:avLst/>
          </a:prstGeom>
          <a:noFill/>
          <a:ln>
            <a:noFill/>
          </a:ln>
        </p:spPr>
        <p:txBody>
          <a:bodyPr anchorCtr="0" anchor="t" bIns="34275" lIns="68575" spcFirstLastPara="1" rIns="68575" wrap="square" tIns="34275">
            <a:noAutofit/>
          </a:bodyPr>
          <a:lstStyle/>
          <a:p>
            <a:pPr indent="-260350" lvl="0" marL="342900" marR="0" rtl="0" algn="just">
              <a:spcBef>
                <a:spcPts val="0"/>
              </a:spcBef>
              <a:spcAft>
                <a:spcPts val="0"/>
              </a:spcAft>
              <a:buSzPts val="1500"/>
              <a:buFont typeface="Calibri"/>
              <a:buChar char="•"/>
            </a:pPr>
            <a:r>
              <a:rPr lang="en" sz="1500">
                <a:solidFill>
                  <a:srgbClr val="000000"/>
                </a:solidFill>
                <a:latin typeface="Calibri"/>
                <a:ea typeface="Calibri"/>
                <a:cs typeface="Calibri"/>
                <a:sym typeface="Calibri"/>
              </a:rPr>
              <a:t>Solution proposal: Focus on the genes that are highly varying, i.e. </a:t>
            </a:r>
            <a:r>
              <a:rPr lang="en" sz="1500">
                <a:solidFill>
                  <a:schemeClr val="dk1"/>
                </a:solidFill>
                <a:latin typeface="Calibri"/>
                <a:ea typeface="Calibri"/>
                <a:cs typeface="Calibri"/>
                <a:sym typeface="Calibri"/>
              </a:rPr>
              <a:t>how much gene expression varies between cells</a:t>
            </a:r>
            <a:endParaRPr sz="1500">
              <a:solidFill>
                <a:srgbClr val="000000"/>
              </a:solidFill>
              <a:latin typeface="Calibri"/>
              <a:ea typeface="Calibri"/>
              <a:cs typeface="Calibri"/>
              <a:sym typeface="Calibri"/>
            </a:endParaRPr>
          </a:p>
          <a:p>
            <a:pPr indent="-247650" lvl="1" marL="596900" marR="0" rtl="0" algn="just">
              <a:spcBef>
                <a:spcPts val="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Assumption: Genes that have low variance may not indicate any biological signal in the data</a:t>
            </a:r>
            <a:endParaRPr sz="1100"/>
          </a:p>
          <a:p>
            <a:pPr indent="-247650" lvl="1" marL="596900" marR="0" rtl="0" algn="just">
              <a:spcBef>
                <a:spcPts val="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Taking out those genes might therefore strengthen the signal in the data, while reducing nuisance signal</a:t>
            </a:r>
            <a:endParaRPr sz="1100"/>
          </a:p>
          <a:p>
            <a:pPr indent="-247650" lvl="1" marL="596900" marR="0" rtl="0" algn="just">
              <a:spcBef>
                <a:spcPts val="0"/>
              </a:spcBef>
              <a:spcAft>
                <a:spcPts val="0"/>
              </a:spcAft>
              <a:buClr>
                <a:schemeClr val="dk1"/>
              </a:buClr>
              <a:buSzPts val="1500"/>
              <a:buFont typeface="Arial"/>
              <a:buChar char="•"/>
            </a:pPr>
            <a:r>
              <a:rPr b="0" i="0" lang="en" sz="1500" u="none" cap="none" strike="noStrike">
                <a:solidFill>
                  <a:schemeClr val="dk1"/>
                </a:solidFill>
                <a:latin typeface="Calibri"/>
                <a:ea typeface="Calibri"/>
                <a:cs typeface="Calibri"/>
                <a:sym typeface="Calibri"/>
              </a:rPr>
              <a:t>It moreover makes computations faster, since the number of genes is often reduced dramatically after performing HVG selection (minor benefit)</a:t>
            </a:r>
            <a:endParaRPr sz="1100"/>
          </a:p>
          <a:p>
            <a:pPr indent="0" lvl="1" marL="342900" marR="0" rtl="0" algn="just">
              <a:spcBef>
                <a:spcPts val="0"/>
              </a:spcBef>
              <a:spcAft>
                <a:spcPts val="0"/>
              </a:spcAft>
              <a:buNone/>
            </a:pPr>
            <a:r>
              <a:t/>
            </a:r>
            <a:endParaRPr b="0" i="0" sz="1500" u="none" cap="none" strike="noStrike">
              <a:solidFill>
                <a:schemeClr val="dk1"/>
              </a:solidFill>
              <a:latin typeface="Calibri"/>
              <a:ea typeface="Calibri"/>
              <a:cs typeface="Calibri"/>
              <a:sym typeface="Calibri"/>
            </a:endParaRPr>
          </a:p>
          <a:p>
            <a:pPr indent="-247650" lvl="0" marL="254000" marR="0" rtl="0" algn="just">
              <a:spcBef>
                <a:spcPts val="0"/>
              </a:spcBef>
              <a:spcAft>
                <a:spcPts val="0"/>
              </a:spcAft>
              <a:buClr>
                <a:schemeClr val="dk1"/>
              </a:buClr>
              <a:buSzPts val="1500"/>
              <a:buFont typeface="Arial"/>
              <a:buChar char="•"/>
            </a:pPr>
            <a:r>
              <a:rPr lang="en" sz="1500">
                <a:solidFill>
                  <a:schemeClr val="dk1"/>
                </a:solidFill>
                <a:latin typeface="Calibri"/>
                <a:ea typeface="Calibri"/>
                <a:cs typeface="Calibri"/>
                <a:sym typeface="Calibri"/>
              </a:rPr>
              <a:t>How do we identify varying genes: those that diverge from the general trend in variance. </a:t>
            </a:r>
            <a:endParaRPr sz="1100"/>
          </a:p>
          <a:p>
            <a:pPr indent="0" lvl="0" marL="0" marR="0" rtl="0" algn="just">
              <a:spcBef>
                <a:spcPts val="0"/>
              </a:spcBef>
              <a:spcAft>
                <a:spcPts val="0"/>
              </a:spcAft>
              <a:buNone/>
            </a:pPr>
            <a:r>
              <a:t/>
            </a:r>
            <a:endParaRPr sz="1500">
              <a:solidFill>
                <a:schemeClr val="dk1"/>
              </a:solidFill>
              <a:latin typeface="Calibri"/>
              <a:ea typeface="Calibri"/>
              <a:cs typeface="Calibri"/>
              <a:sym typeface="Calibri"/>
            </a:endParaRPr>
          </a:p>
          <a:p>
            <a:pPr indent="-247650" lvl="0" marL="254000" marR="0" rtl="0" algn="just">
              <a:spcBef>
                <a:spcPts val="0"/>
              </a:spcBef>
              <a:spcAft>
                <a:spcPts val="0"/>
              </a:spcAft>
              <a:buClr>
                <a:schemeClr val="dk1"/>
              </a:buClr>
              <a:buSzPts val="1500"/>
              <a:buFont typeface="Arial"/>
              <a:buChar char="•"/>
            </a:pPr>
            <a:r>
              <a:rPr lang="en" sz="1500">
                <a:solidFill>
                  <a:schemeClr val="dk1"/>
                </a:solidFill>
                <a:latin typeface="Calibri"/>
                <a:ea typeface="Calibri"/>
                <a:cs typeface="Calibri"/>
                <a:sym typeface="Calibri"/>
              </a:rPr>
              <a:t>Catch: Variance of a gene is generally proportional to its mean expression, therefore we </a:t>
            </a:r>
            <a:r>
              <a:rPr lang="en" sz="1500">
                <a:solidFill>
                  <a:srgbClr val="000000"/>
                </a:solidFill>
                <a:latin typeface="Calibri"/>
                <a:ea typeface="Calibri"/>
                <a:cs typeface="Calibri"/>
                <a:sym typeface="Calibri"/>
              </a:rPr>
              <a:t>consider coefficient of variation (variance normalized by the mean) against the mean of the gene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9"/>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Highly Variable Gene Selection</a:t>
            </a:r>
            <a:endParaRPr/>
          </a:p>
        </p:txBody>
      </p:sp>
      <p:sp>
        <p:nvSpPr>
          <p:cNvPr id="555" name="Google Shape;555;p59"/>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556" name="Google Shape;556;p59"/>
          <p:cNvPicPr preferRelativeResize="0"/>
          <p:nvPr/>
        </p:nvPicPr>
        <p:blipFill rotWithShape="1">
          <a:blip r:embed="rId3">
            <a:alphaModFix/>
          </a:blip>
          <a:srcRect b="0" l="0" r="0" t="0"/>
          <a:stretch/>
        </p:blipFill>
        <p:spPr>
          <a:xfrm>
            <a:off x="282178" y="1207529"/>
            <a:ext cx="8459041" cy="2028142"/>
          </a:xfrm>
          <a:prstGeom prst="rect">
            <a:avLst/>
          </a:prstGeom>
          <a:noFill/>
          <a:ln>
            <a:noFill/>
          </a:ln>
        </p:spPr>
      </p:pic>
      <p:sp>
        <p:nvSpPr>
          <p:cNvPr id="557" name="Google Shape;557;p59"/>
          <p:cNvSpPr txBox="1"/>
          <p:nvPr>
            <p:ph idx="1" type="body"/>
          </p:nvPr>
        </p:nvSpPr>
        <p:spPr>
          <a:xfrm>
            <a:off x="471488" y="1026914"/>
            <a:ext cx="5915100" cy="2447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0"/>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Post data pre-processing:</a:t>
            </a:r>
            <a:br>
              <a:rPr lang="en"/>
            </a:br>
            <a:br>
              <a:rPr lang="en"/>
            </a:br>
            <a:r>
              <a:rPr lang="en"/>
              <a:t>- Data normalization</a:t>
            </a:r>
            <a:br>
              <a:rPr lang="en"/>
            </a:br>
            <a:r>
              <a:rPr lang="en"/>
              <a:t>- Highly Variable Genes</a:t>
            </a:r>
            <a:br>
              <a:rPr lang="en"/>
            </a:br>
            <a:r>
              <a:rPr lang="en"/>
              <a:t>- </a:t>
            </a:r>
            <a:r>
              <a:rPr lang="en">
                <a:solidFill>
                  <a:srgbClr val="FF0000"/>
                </a:solidFill>
              </a:rPr>
              <a:t>PCA</a:t>
            </a:r>
            <a:br>
              <a:rPr lang="en">
                <a:solidFill>
                  <a:srgbClr val="FF0000"/>
                </a:solidFill>
              </a:rPr>
            </a:br>
            <a:r>
              <a:rPr lang="en"/>
              <a:t>- Nearest Neighbor Graph</a:t>
            </a:r>
            <a:br>
              <a:rPr lang="en"/>
            </a:br>
            <a:r>
              <a:rPr lang="en"/>
              <a:t>- Visualization </a:t>
            </a:r>
            <a:br>
              <a:rPr lang="en"/>
            </a:br>
            <a:r>
              <a:rPr lang="en"/>
              <a:t>- Clustering </a:t>
            </a:r>
            <a:endParaRPr/>
          </a:p>
        </p:txBody>
      </p:sp>
      <p:sp>
        <p:nvSpPr>
          <p:cNvPr id="564" name="Google Shape;564;p60"/>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60"/>
          <p:cNvSpPr txBox="1"/>
          <p:nvPr>
            <p:ph idx="1" type="body"/>
          </p:nvPr>
        </p:nvSpPr>
        <p:spPr>
          <a:xfrm>
            <a:off x="471488" y="1026914"/>
            <a:ext cx="5915100" cy="2447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61"/>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Dimensionality reduction, PCA</a:t>
            </a:r>
            <a:endParaRPr/>
          </a:p>
        </p:txBody>
      </p:sp>
      <p:sp>
        <p:nvSpPr>
          <p:cNvPr id="572" name="Google Shape;572;p61"/>
          <p:cNvSpPr/>
          <p:nvPr/>
        </p:nvSpPr>
        <p:spPr>
          <a:xfrm>
            <a:off x="421481" y="848922"/>
            <a:ext cx="8722500" cy="1506000"/>
          </a:xfrm>
          <a:prstGeom prst="rect">
            <a:avLst/>
          </a:prstGeom>
          <a:noFill/>
          <a:ln>
            <a:noFill/>
          </a:ln>
        </p:spPr>
        <p:txBody>
          <a:bodyPr anchorCtr="0" anchor="t" bIns="34275" lIns="68575" spcFirstLastPara="1" rIns="68575" wrap="square" tIns="34275">
            <a:noAutofit/>
          </a:bodyPr>
          <a:lstStyle/>
          <a:p>
            <a:pPr indent="-247650" lvl="0" marL="254000" marR="0" rtl="0" algn="just">
              <a:spcBef>
                <a:spcPts val="0"/>
              </a:spcBef>
              <a:spcAft>
                <a:spcPts val="0"/>
              </a:spcAft>
              <a:buClr>
                <a:srgbClr val="000000"/>
              </a:buClr>
              <a:buSzPts val="1500"/>
              <a:buFont typeface="Arial"/>
              <a:buChar char="•"/>
            </a:pPr>
            <a:r>
              <a:rPr lang="en" sz="1500">
                <a:solidFill>
                  <a:srgbClr val="000000"/>
                </a:solidFill>
                <a:latin typeface="Calibri"/>
                <a:ea typeface="Calibri"/>
                <a:cs typeface="Calibri"/>
                <a:sym typeface="Calibri"/>
              </a:rPr>
              <a:t>PCA is a dimensionality reduction algorithm to obtain "directions of highest variances.”</a:t>
            </a:r>
            <a:endParaRPr sz="1100"/>
          </a:p>
          <a:p>
            <a:pPr indent="-152400" lvl="0" marL="254000" marR="0" rtl="0" algn="just">
              <a:spcBef>
                <a:spcPts val="0"/>
              </a:spcBef>
              <a:spcAft>
                <a:spcPts val="0"/>
              </a:spcAft>
              <a:buClr>
                <a:schemeClr val="dk1"/>
              </a:buClr>
              <a:buSzPts val="1500"/>
              <a:buFont typeface="Arial"/>
              <a:buNone/>
            </a:pPr>
            <a:r>
              <a:t/>
            </a:r>
            <a:endParaRPr sz="1500">
              <a:solidFill>
                <a:srgbClr val="000000"/>
              </a:solidFill>
              <a:latin typeface="Calibri"/>
              <a:ea typeface="Calibri"/>
              <a:cs typeface="Calibri"/>
              <a:sym typeface="Calibri"/>
            </a:endParaRPr>
          </a:p>
          <a:p>
            <a:pPr indent="-247650" lvl="0" marL="254000" marR="0" rtl="0" algn="just">
              <a:spcBef>
                <a:spcPts val="0"/>
              </a:spcBef>
              <a:spcAft>
                <a:spcPts val="0"/>
              </a:spcAft>
              <a:buClr>
                <a:srgbClr val="000000"/>
              </a:buClr>
              <a:buSzPts val="1500"/>
              <a:buFont typeface="Arial"/>
              <a:buChar char="•"/>
            </a:pPr>
            <a:r>
              <a:rPr lang="en" sz="1500">
                <a:solidFill>
                  <a:srgbClr val="000000"/>
                </a:solidFill>
                <a:latin typeface="Calibri"/>
                <a:ea typeface="Calibri"/>
                <a:cs typeface="Calibri"/>
                <a:sym typeface="Calibri"/>
              </a:rPr>
              <a:t>What does dimensionality reduction mean? </a:t>
            </a:r>
            <a:endParaRPr sz="1100"/>
          </a:p>
          <a:p>
            <a:pPr indent="-247650" lvl="1" marL="596900" marR="0" rtl="0" algn="just">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A typical scRNA-seq experiment measures the mRNA transcripts of all the genes (~20,000) </a:t>
            </a:r>
            <a:endParaRPr sz="1100"/>
          </a:p>
          <a:p>
            <a:pPr indent="-247650" lvl="1" marL="596900" marR="0" rtl="0" algn="just">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These genes represent </a:t>
            </a:r>
            <a:r>
              <a:rPr b="1" i="0" lang="en" sz="1500" u="none" cap="none" strike="noStrike">
                <a:solidFill>
                  <a:srgbClr val="000000"/>
                </a:solidFill>
                <a:latin typeface="Calibri"/>
                <a:ea typeface="Calibri"/>
                <a:cs typeface="Calibri"/>
                <a:sym typeface="Calibri"/>
              </a:rPr>
              <a:t>features</a:t>
            </a:r>
            <a:r>
              <a:rPr b="0" i="0" lang="en" sz="1500" u="none" cap="none" strike="noStrike">
                <a:solidFill>
                  <a:srgbClr val="000000"/>
                </a:solidFill>
                <a:latin typeface="Calibri"/>
                <a:ea typeface="Calibri"/>
                <a:cs typeface="Calibri"/>
                <a:sym typeface="Calibri"/>
              </a:rPr>
              <a:t> or </a:t>
            </a:r>
            <a:r>
              <a:rPr b="1" i="0" lang="en" sz="1500" u="none" cap="none" strike="noStrike">
                <a:solidFill>
                  <a:srgbClr val="000000"/>
                </a:solidFill>
                <a:latin typeface="Calibri"/>
                <a:ea typeface="Calibri"/>
                <a:cs typeface="Calibri"/>
                <a:sym typeface="Calibri"/>
              </a:rPr>
              <a:t>dimensions </a:t>
            </a:r>
            <a:r>
              <a:rPr b="0" i="0" lang="en" sz="1500" u="none" cap="none" strike="noStrike">
                <a:solidFill>
                  <a:srgbClr val="000000"/>
                </a:solidFill>
                <a:latin typeface="Calibri"/>
                <a:ea typeface="Calibri"/>
                <a:cs typeface="Calibri"/>
                <a:sym typeface="Calibri"/>
              </a:rPr>
              <a:t>or</a:t>
            </a:r>
            <a:r>
              <a:rPr b="1" i="0" lang="en" sz="1500" u="none" cap="none" strike="noStrike">
                <a:solidFill>
                  <a:srgbClr val="000000"/>
                </a:solidFill>
                <a:latin typeface="Calibri"/>
                <a:ea typeface="Calibri"/>
                <a:cs typeface="Calibri"/>
                <a:sym typeface="Calibri"/>
              </a:rPr>
              <a:t> parameters </a:t>
            </a:r>
            <a:r>
              <a:rPr b="0" i="0" lang="en" sz="1500" u="none" cap="none" strike="noStrike">
                <a:solidFill>
                  <a:srgbClr val="000000"/>
                </a:solidFill>
                <a:latin typeface="Calibri"/>
                <a:ea typeface="Calibri"/>
                <a:cs typeface="Calibri"/>
                <a:sym typeface="Calibri"/>
              </a:rPr>
              <a:t>that we measure for each cell</a:t>
            </a:r>
            <a:endParaRPr sz="1100"/>
          </a:p>
          <a:p>
            <a:pPr indent="-247650" lvl="1" marL="596900" marR="0" rtl="0" algn="just">
              <a:spcBef>
                <a:spcPts val="0"/>
              </a:spcBef>
              <a:spcAft>
                <a:spcPts val="0"/>
              </a:spcAft>
              <a:buClr>
                <a:srgbClr val="000000"/>
              </a:buClr>
              <a:buSzPts val="1500"/>
              <a:buFont typeface="Arial"/>
              <a:buChar char="•"/>
            </a:pPr>
            <a:r>
              <a:rPr b="0" i="0" lang="en" sz="1500" u="none" cap="none" strike="noStrike">
                <a:solidFill>
                  <a:srgbClr val="000000"/>
                </a:solidFill>
                <a:latin typeface="Calibri"/>
                <a:ea typeface="Calibri"/>
                <a:cs typeface="Calibri"/>
                <a:sym typeface="Calibri"/>
              </a:rPr>
              <a:t>These features define the phenotype of each single cell</a:t>
            </a:r>
            <a:endParaRPr sz="1100"/>
          </a:p>
          <a:p>
            <a:pPr indent="-152400" lvl="1" marL="596900" marR="0" rtl="0" algn="just">
              <a:spcBef>
                <a:spcPts val="0"/>
              </a:spcBef>
              <a:spcAft>
                <a:spcPts val="0"/>
              </a:spcAft>
              <a:buClr>
                <a:schemeClr val="dk1"/>
              </a:buClr>
              <a:buSzPts val="1500"/>
              <a:buFont typeface="Arial"/>
              <a:buNone/>
            </a:pPr>
            <a:r>
              <a:t/>
            </a:r>
            <a:endParaRPr b="0" i="0" sz="1500"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br>
              <a:rPr lang="en"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p:txBody>
      </p:sp>
      <p:sp>
        <p:nvSpPr>
          <p:cNvPr id="573" name="Google Shape;573;p61"/>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574" name="Google Shape;574;p61"/>
          <p:cNvPicPr preferRelativeResize="0"/>
          <p:nvPr/>
        </p:nvPicPr>
        <p:blipFill>
          <a:blip r:embed="rId3">
            <a:alphaModFix/>
          </a:blip>
          <a:stretch>
            <a:fillRect/>
          </a:stretch>
        </p:blipFill>
        <p:spPr>
          <a:xfrm>
            <a:off x="114300" y="2469147"/>
            <a:ext cx="8915400" cy="220708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62"/>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Dimensionality reduction, PCA</a:t>
            </a:r>
            <a:endParaRPr/>
          </a:p>
        </p:txBody>
      </p:sp>
      <p:sp>
        <p:nvSpPr>
          <p:cNvPr id="580" name="Google Shape;580;p62"/>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581" name="Google Shape;581;p62"/>
          <p:cNvPicPr preferRelativeResize="0"/>
          <p:nvPr/>
        </p:nvPicPr>
        <p:blipFill rotWithShape="1">
          <a:blip r:embed="rId3">
            <a:alphaModFix/>
          </a:blip>
          <a:srcRect b="0" l="0" r="0" t="0"/>
          <a:stretch/>
        </p:blipFill>
        <p:spPr>
          <a:xfrm>
            <a:off x="100661" y="1154332"/>
            <a:ext cx="5353501" cy="2834837"/>
          </a:xfrm>
          <a:prstGeom prst="rect">
            <a:avLst/>
          </a:prstGeom>
          <a:noFill/>
          <a:ln>
            <a:noFill/>
          </a:ln>
        </p:spPr>
      </p:pic>
      <p:sp>
        <p:nvSpPr>
          <p:cNvPr id="582" name="Google Shape;582;p62"/>
          <p:cNvSpPr txBox="1"/>
          <p:nvPr/>
        </p:nvSpPr>
        <p:spPr>
          <a:xfrm>
            <a:off x="5587061" y="750779"/>
            <a:ext cx="3500700" cy="4163700"/>
          </a:xfrm>
          <a:prstGeom prst="rect">
            <a:avLst/>
          </a:prstGeom>
          <a:noFill/>
          <a:ln cap="flat" cmpd="sng" w="21425">
            <a:solidFill>
              <a:schemeClr val="accent2"/>
            </a:solidFill>
            <a:prstDash val="solid"/>
            <a:round/>
            <a:headEnd len="sm" w="sm" type="none"/>
            <a:tailEnd len="sm" w="sm" type="none"/>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Can visualize data using the PCA, but still have 30 dimensions. </a:t>
            </a:r>
            <a:endParaRPr sz="1100"/>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Moreover, PCA is a linear method and does not capture non-linear gene-gene relationships. </a:t>
            </a:r>
            <a:endParaRPr sz="1100"/>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 sz="1400">
                <a:solidFill>
                  <a:schemeClr val="dk1"/>
                </a:solidFill>
                <a:latin typeface="Calibri"/>
                <a:ea typeface="Calibri"/>
                <a:cs typeface="Calibri"/>
                <a:sym typeface="Calibri"/>
              </a:rPr>
              <a:t>Need alternatives to summarize so much information.</a:t>
            </a:r>
            <a:endParaRPr sz="1100"/>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 sz="1400">
                <a:solidFill>
                  <a:schemeClr val="dk1"/>
                </a:solidFill>
                <a:latin typeface="Calibri"/>
                <a:ea typeface="Calibri"/>
                <a:cs typeface="Calibri"/>
                <a:sym typeface="Calibri"/>
              </a:rPr>
              <a:t>Question: What do we want to capture using visualization?</a:t>
            </a:r>
            <a:endParaRPr sz="1100"/>
          </a:p>
          <a:p>
            <a:pPr indent="-254000" lvl="0" marL="254000" marR="0" rtl="0" algn="l">
              <a:spcBef>
                <a:spcPts val="0"/>
              </a:spcBef>
              <a:spcAft>
                <a:spcPts val="0"/>
              </a:spcAft>
              <a:buClr>
                <a:schemeClr val="dk1"/>
              </a:buClr>
              <a:buSzPts val="1400"/>
              <a:buFont typeface="Calibri"/>
              <a:buAutoNum type="arabicParenR"/>
            </a:pPr>
            <a:r>
              <a:rPr lang="en" sz="1400">
                <a:solidFill>
                  <a:schemeClr val="dk1"/>
                </a:solidFill>
                <a:latin typeface="Calibri"/>
                <a:ea typeface="Calibri"/>
                <a:cs typeface="Calibri"/>
                <a:sym typeface="Calibri"/>
              </a:rPr>
              <a:t>Visualize in 2D or 3D</a:t>
            </a:r>
            <a:endParaRPr sz="1100"/>
          </a:p>
          <a:p>
            <a:pPr indent="-254000" lvl="0" marL="254000" marR="0" rtl="0" algn="l">
              <a:spcBef>
                <a:spcPts val="0"/>
              </a:spcBef>
              <a:spcAft>
                <a:spcPts val="0"/>
              </a:spcAft>
              <a:buClr>
                <a:schemeClr val="dk1"/>
              </a:buClr>
              <a:buSzPts val="1400"/>
              <a:buFont typeface="Calibri"/>
              <a:buAutoNum type="arabicParenR"/>
            </a:pPr>
            <a:r>
              <a:rPr lang="en" sz="1400">
                <a:solidFill>
                  <a:schemeClr val="dk1"/>
                </a:solidFill>
                <a:latin typeface="Calibri"/>
                <a:ea typeface="Calibri"/>
                <a:cs typeface="Calibri"/>
                <a:sym typeface="Calibri"/>
              </a:rPr>
              <a:t>Ensure that cells with similar phenotype are plotted near each other =&gt; cells similar to each other in high dimensions must be visualized near each other in 2D</a:t>
            </a:r>
            <a:endParaRPr sz="1100"/>
          </a:p>
          <a:p>
            <a:pPr indent="-254000" lvl="0" marL="254000" marR="0" rtl="0" algn="l">
              <a:spcBef>
                <a:spcPts val="0"/>
              </a:spcBef>
              <a:spcAft>
                <a:spcPts val="0"/>
              </a:spcAft>
              <a:buClr>
                <a:schemeClr val="dk1"/>
              </a:buClr>
              <a:buSzPts val="1400"/>
              <a:buFont typeface="Calibri"/>
              <a:buAutoNum type="arabicParenR"/>
            </a:pPr>
            <a:r>
              <a:rPr lang="en" sz="1400">
                <a:solidFill>
                  <a:schemeClr val="dk1"/>
                </a:solidFill>
                <a:latin typeface="Calibri"/>
                <a:ea typeface="Calibri"/>
                <a:cs typeface="Calibri"/>
                <a:sym typeface="Calibri"/>
              </a:rPr>
              <a:t>Ensure that non-linear relationships among the features (genes) are captured.</a:t>
            </a:r>
            <a:endParaRPr sz="1100"/>
          </a:p>
          <a:p>
            <a:pPr indent="-165100" lvl="0" marL="2540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pic>
        <p:nvPicPr>
          <p:cNvPr id="583" name="Google Shape;583;p62"/>
          <p:cNvPicPr preferRelativeResize="0"/>
          <p:nvPr/>
        </p:nvPicPr>
        <p:blipFill rotWithShape="1">
          <a:blip r:embed="rId4">
            <a:alphaModFix/>
          </a:blip>
          <a:srcRect b="0" l="0" r="0" t="0"/>
          <a:stretch/>
        </p:blipFill>
        <p:spPr>
          <a:xfrm>
            <a:off x="100661" y="787795"/>
            <a:ext cx="4199075" cy="3395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8" name="Shape 588"/>
        <p:cNvGrpSpPr/>
        <p:nvPr/>
      </p:nvGrpSpPr>
      <p:grpSpPr>
        <a:xfrm>
          <a:off x="0" y="0"/>
          <a:ext cx="0" cy="0"/>
          <a:chOff x="0" y="0"/>
          <a:chExt cx="0" cy="0"/>
        </a:xfrm>
      </p:grpSpPr>
      <p:sp>
        <p:nvSpPr>
          <p:cNvPr id="589" name="Google Shape;589;p63"/>
          <p:cNvSpPr txBox="1"/>
          <p:nvPr/>
        </p:nvSpPr>
        <p:spPr>
          <a:xfrm>
            <a:off x="4641305" y="1800175"/>
            <a:ext cx="4044300" cy="1177500"/>
          </a:xfrm>
          <a:prstGeom prst="rect">
            <a:avLst/>
          </a:prstGeom>
          <a:noFill/>
          <a:ln cap="flat" cmpd="sng" w="21425">
            <a:solidFill>
              <a:srgbClr val="C00000"/>
            </a:solidFill>
            <a:prstDash val="solid"/>
            <a:round/>
            <a:headEnd len="sm" w="sm" type="none"/>
            <a:tailEnd len="sm" w="sm" type="none"/>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200"/>
              <a:buFont typeface="Arial"/>
              <a:buChar char="•"/>
            </a:pPr>
            <a:r>
              <a:rPr lang="en" sz="1200">
                <a:solidFill>
                  <a:schemeClr val="dk1"/>
                </a:solidFill>
                <a:latin typeface="Calibri"/>
                <a:ea typeface="Calibri"/>
                <a:cs typeface="Calibri"/>
                <a:sym typeface="Calibri"/>
              </a:rPr>
              <a:t>Biological networks (gene network or protein networks) involve complex interactions such as feedback, feedforward, auto-regulation etc.</a:t>
            </a:r>
            <a:endParaRPr sz="1100"/>
          </a:p>
          <a:p>
            <a:pPr indent="-215900" lvl="0" marL="215900" marR="0" rtl="0" algn="l">
              <a:spcBef>
                <a:spcPts val="0"/>
              </a:spcBef>
              <a:spcAft>
                <a:spcPts val="0"/>
              </a:spcAft>
              <a:buClr>
                <a:schemeClr val="dk1"/>
              </a:buClr>
              <a:buSzPts val="1200"/>
              <a:buFont typeface="Arial"/>
              <a:buChar char="•"/>
            </a:pPr>
            <a:r>
              <a:rPr lang="en" sz="1200">
                <a:solidFill>
                  <a:schemeClr val="dk1"/>
                </a:solidFill>
                <a:latin typeface="Calibri"/>
                <a:ea typeface="Calibri"/>
                <a:cs typeface="Calibri"/>
                <a:sym typeface="Calibri"/>
              </a:rPr>
              <a:t>Results in non-linear relationships between genes and their products</a:t>
            </a:r>
            <a:endParaRPr sz="1100"/>
          </a:p>
          <a:p>
            <a:pPr indent="-215900" lvl="0" marL="215900" marR="0" rtl="0" algn="l">
              <a:spcBef>
                <a:spcPts val="0"/>
              </a:spcBef>
              <a:spcAft>
                <a:spcPts val="0"/>
              </a:spcAft>
              <a:buClr>
                <a:schemeClr val="dk1"/>
              </a:buClr>
              <a:buSzPts val="1200"/>
              <a:buFont typeface="Arial"/>
              <a:buChar char="•"/>
            </a:pPr>
            <a:r>
              <a:rPr lang="en" sz="1200">
                <a:solidFill>
                  <a:schemeClr val="dk1"/>
                </a:solidFill>
                <a:latin typeface="Calibri"/>
                <a:ea typeface="Calibri"/>
                <a:cs typeface="Calibri"/>
                <a:sym typeface="Calibri"/>
              </a:rPr>
              <a:t>Reflects as a well-regulated structure in phenotype space </a:t>
            </a:r>
            <a:endParaRPr sz="1100"/>
          </a:p>
        </p:txBody>
      </p:sp>
      <p:pic>
        <p:nvPicPr>
          <p:cNvPr id="590" name="Google Shape;590;p63"/>
          <p:cNvPicPr preferRelativeResize="0"/>
          <p:nvPr/>
        </p:nvPicPr>
        <p:blipFill rotWithShape="1">
          <a:blip r:embed="rId3">
            <a:alphaModFix/>
          </a:blip>
          <a:srcRect b="0" l="0" r="0" t="0"/>
          <a:stretch/>
        </p:blipFill>
        <p:spPr>
          <a:xfrm>
            <a:off x="211258" y="755844"/>
            <a:ext cx="4360743" cy="4058253"/>
          </a:xfrm>
          <a:prstGeom prst="rect">
            <a:avLst/>
          </a:prstGeom>
          <a:noFill/>
          <a:ln>
            <a:noFill/>
          </a:ln>
        </p:spPr>
      </p:pic>
      <p:sp>
        <p:nvSpPr>
          <p:cNvPr id="591" name="Google Shape;591;p63"/>
          <p:cNvSpPr/>
          <p:nvPr/>
        </p:nvSpPr>
        <p:spPr>
          <a:xfrm>
            <a:off x="57681" y="4687448"/>
            <a:ext cx="4572000" cy="207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900">
                <a:solidFill>
                  <a:schemeClr val="dk1"/>
                </a:solidFill>
                <a:latin typeface="Calibri"/>
                <a:ea typeface="Calibri"/>
                <a:cs typeface="Calibri"/>
                <a:sym typeface="Calibri"/>
              </a:rPr>
              <a:t>https://media.cellsignal.com/www/pdfs/science/pathways/T_Cell_Receptor.pdf</a:t>
            </a:r>
            <a:endParaRPr sz="900">
              <a:solidFill>
                <a:schemeClr val="dk1"/>
              </a:solidFill>
              <a:latin typeface="Calibri"/>
              <a:ea typeface="Calibri"/>
              <a:cs typeface="Calibri"/>
              <a:sym typeface="Calibri"/>
            </a:endParaRPr>
          </a:p>
        </p:txBody>
      </p:sp>
      <p:sp>
        <p:nvSpPr>
          <p:cNvPr id="592" name="Google Shape;592;p63"/>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593" name="Google Shape;593;p63"/>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Why do we expect non-linearity in data?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4"/>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Post data pre-processing:</a:t>
            </a:r>
            <a:br>
              <a:rPr lang="en"/>
            </a:br>
            <a:br>
              <a:rPr lang="en"/>
            </a:br>
            <a:r>
              <a:rPr lang="en"/>
              <a:t>- Data normalization</a:t>
            </a:r>
            <a:br>
              <a:rPr lang="en"/>
            </a:br>
            <a:r>
              <a:rPr lang="en"/>
              <a:t>- Highly Variable Genes</a:t>
            </a:r>
            <a:br>
              <a:rPr lang="en"/>
            </a:br>
            <a:r>
              <a:rPr lang="en"/>
              <a:t>- PCA</a:t>
            </a:r>
            <a:br>
              <a:rPr lang="en">
                <a:solidFill>
                  <a:srgbClr val="FF0000"/>
                </a:solidFill>
              </a:rPr>
            </a:br>
            <a:r>
              <a:rPr lang="en"/>
              <a:t>- </a:t>
            </a:r>
            <a:r>
              <a:rPr lang="en">
                <a:solidFill>
                  <a:srgbClr val="FF0000"/>
                </a:solidFill>
              </a:rPr>
              <a:t>Nearest Neighbor Graph</a:t>
            </a:r>
            <a:br>
              <a:rPr lang="en">
                <a:solidFill>
                  <a:srgbClr val="FF0000"/>
                </a:solidFill>
              </a:rPr>
            </a:br>
            <a:r>
              <a:rPr lang="en"/>
              <a:t>- Visualization </a:t>
            </a:r>
            <a:br>
              <a:rPr lang="en"/>
            </a:br>
            <a:r>
              <a:rPr lang="en"/>
              <a:t>- Clustering </a:t>
            </a:r>
            <a:endParaRPr/>
          </a:p>
        </p:txBody>
      </p:sp>
      <p:sp>
        <p:nvSpPr>
          <p:cNvPr id="600" name="Google Shape;600;p64"/>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5"/>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607" name="Google Shape;607;p65"/>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Non-linearity in the data</a:t>
            </a:r>
            <a:endParaRPr/>
          </a:p>
        </p:txBody>
      </p:sp>
      <p:pic>
        <p:nvPicPr>
          <p:cNvPr id="608" name="Google Shape;608;p65"/>
          <p:cNvPicPr preferRelativeResize="0"/>
          <p:nvPr/>
        </p:nvPicPr>
        <p:blipFill rotWithShape="1">
          <a:blip r:embed="rId3">
            <a:alphaModFix/>
          </a:blip>
          <a:srcRect b="9309" l="11673" r="7263" t="6523"/>
          <a:stretch/>
        </p:blipFill>
        <p:spPr>
          <a:xfrm>
            <a:off x="2337730" y="705395"/>
            <a:ext cx="5186475" cy="4061869"/>
          </a:xfrm>
          <a:prstGeom prst="rect">
            <a:avLst/>
          </a:prstGeom>
          <a:noFill/>
          <a:ln>
            <a:noFill/>
          </a:ln>
        </p:spPr>
      </p:pic>
      <p:sp>
        <p:nvSpPr>
          <p:cNvPr id="609" name="Google Shape;609;p65"/>
          <p:cNvSpPr txBox="1"/>
          <p:nvPr/>
        </p:nvSpPr>
        <p:spPr>
          <a:xfrm rot="-909841">
            <a:off x="5578269" y="4339406"/>
            <a:ext cx="1042499" cy="2999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A</a:t>
            </a:r>
            <a:endParaRPr sz="1100"/>
          </a:p>
        </p:txBody>
      </p:sp>
      <p:sp>
        <p:nvSpPr>
          <p:cNvPr id="610" name="Google Shape;610;p65"/>
          <p:cNvSpPr txBox="1"/>
          <p:nvPr/>
        </p:nvSpPr>
        <p:spPr>
          <a:xfrm rot="1472906">
            <a:off x="2635678" y="4094807"/>
            <a:ext cx="857840" cy="3000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B</a:t>
            </a:r>
            <a:endParaRPr sz="1100"/>
          </a:p>
        </p:txBody>
      </p:sp>
      <p:cxnSp>
        <p:nvCxnSpPr>
          <p:cNvPr id="611" name="Google Shape;611;p65"/>
          <p:cNvCxnSpPr/>
          <p:nvPr/>
        </p:nvCxnSpPr>
        <p:spPr>
          <a:xfrm>
            <a:off x="4810429" y="2648712"/>
            <a:ext cx="865800" cy="529500"/>
          </a:xfrm>
          <a:prstGeom prst="straightConnector1">
            <a:avLst/>
          </a:prstGeom>
          <a:noFill/>
          <a:ln cap="flat" cmpd="sng" w="28575">
            <a:solidFill>
              <a:schemeClr val="accent6"/>
            </a:solidFill>
            <a:prstDash val="solid"/>
            <a:miter lim="800000"/>
            <a:headEnd len="sm" w="sm" type="none"/>
            <a:tailEnd len="sm" w="sm" type="none"/>
          </a:ln>
        </p:spPr>
      </p:cxnSp>
      <p:sp>
        <p:nvSpPr>
          <p:cNvPr id="612" name="Google Shape;612;p65"/>
          <p:cNvSpPr txBox="1"/>
          <p:nvPr/>
        </p:nvSpPr>
        <p:spPr>
          <a:xfrm rot="-5400000">
            <a:off x="1666101" y="2331763"/>
            <a:ext cx="9852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C</a:t>
            </a:r>
            <a:endParaRPr sz="1100"/>
          </a:p>
        </p:txBody>
      </p:sp>
      <p:grpSp>
        <p:nvGrpSpPr>
          <p:cNvPr id="613" name="Google Shape;613;p65"/>
          <p:cNvGrpSpPr/>
          <p:nvPr/>
        </p:nvGrpSpPr>
        <p:grpSpPr>
          <a:xfrm>
            <a:off x="5114313" y="2697441"/>
            <a:ext cx="426392" cy="277077"/>
            <a:chOff x="7544904" y="2451652"/>
            <a:chExt cx="366600" cy="265044"/>
          </a:xfrm>
        </p:grpSpPr>
        <p:cxnSp>
          <p:nvCxnSpPr>
            <p:cNvPr id="614" name="Google Shape;614;p65"/>
            <p:cNvCxnSpPr/>
            <p:nvPr/>
          </p:nvCxnSpPr>
          <p:spPr>
            <a:xfrm>
              <a:off x="7544904" y="2451652"/>
              <a:ext cx="366600" cy="264900"/>
            </a:xfrm>
            <a:prstGeom prst="straightConnector1">
              <a:avLst/>
            </a:prstGeom>
            <a:noFill/>
            <a:ln cap="flat" cmpd="sng" w="28575">
              <a:solidFill>
                <a:schemeClr val="accent2"/>
              </a:solidFill>
              <a:prstDash val="solid"/>
              <a:miter lim="800000"/>
              <a:headEnd len="sm" w="sm" type="none"/>
              <a:tailEnd len="sm" w="sm" type="none"/>
            </a:ln>
          </p:spPr>
        </p:cxnSp>
        <p:cxnSp>
          <p:nvCxnSpPr>
            <p:cNvPr id="615" name="Google Shape;615;p65"/>
            <p:cNvCxnSpPr/>
            <p:nvPr/>
          </p:nvCxnSpPr>
          <p:spPr>
            <a:xfrm flipH="1" rot="10800000">
              <a:off x="7593496" y="2451796"/>
              <a:ext cx="265200" cy="264900"/>
            </a:xfrm>
            <a:prstGeom prst="straightConnector1">
              <a:avLst/>
            </a:prstGeom>
            <a:noFill/>
            <a:ln cap="flat" cmpd="sng" w="28575">
              <a:solidFill>
                <a:schemeClr val="accent2"/>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61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pic>
        <p:nvPicPr>
          <p:cNvPr id="620" name="Google Shape;620;p66"/>
          <p:cNvPicPr preferRelativeResize="0"/>
          <p:nvPr/>
        </p:nvPicPr>
        <p:blipFill rotWithShape="1">
          <a:blip r:embed="rId3">
            <a:alphaModFix/>
          </a:blip>
          <a:srcRect b="0" l="0" r="0" t="0"/>
          <a:stretch/>
        </p:blipFill>
        <p:spPr>
          <a:xfrm>
            <a:off x="3130437" y="311386"/>
            <a:ext cx="5674231" cy="4520725"/>
          </a:xfrm>
          <a:prstGeom prst="rect">
            <a:avLst/>
          </a:prstGeom>
          <a:noFill/>
          <a:ln>
            <a:noFill/>
          </a:ln>
        </p:spPr>
      </p:pic>
      <p:sp>
        <p:nvSpPr>
          <p:cNvPr id="621" name="Google Shape;621;p66"/>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Graphs – applied to scRNA-seq data analysis</a:t>
            </a:r>
            <a:endParaRPr/>
          </a:p>
        </p:txBody>
      </p:sp>
      <p:cxnSp>
        <p:nvCxnSpPr>
          <p:cNvPr id="622" name="Google Shape;622;p66"/>
          <p:cNvCxnSpPr/>
          <p:nvPr/>
        </p:nvCxnSpPr>
        <p:spPr>
          <a:xfrm>
            <a:off x="6005200" y="2424779"/>
            <a:ext cx="858300" cy="470700"/>
          </a:xfrm>
          <a:prstGeom prst="straightConnector1">
            <a:avLst/>
          </a:prstGeom>
          <a:noFill/>
          <a:ln cap="flat" cmpd="sng" w="21425">
            <a:solidFill>
              <a:schemeClr val="dk1"/>
            </a:solidFill>
            <a:prstDash val="solid"/>
            <a:miter lim="800000"/>
            <a:headEnd len="sm" w="sm" type="none"/>
            <a:tailEnd len="med" w="med" type="triangle"/>
          </a:ln>
        </p:spPr>
      </p:cxnSp>
      <p:sp>
        <p:nvSpPr>
          <p:cNvPr id="623" name="Google Shape;623;p66"/>
          <p:cNvSpPr/>
          <p:nvPr/>
        </p:nvSpPr>
        <p:spPr>
          <a:xfrm>
            <a:off x="5887473" y="2398792"/>
            <a:ext cx="975784" cy="1157405"/>
          </a:xfrm>
          <a:custGeom>
            <a:rect b="b" l="l" r="r" t="t"/>
            <a:pathLst>
              <a:path extrusionOk="0" h="677836" w="622510">
                <a:moveTo>
                  <a:pt x="58065" y="0"/>
                </a:moveTo>
                <a:cubicBezTo>
                  <a:pt x="33135" y="62089"/>
                  <a:pt x="8206" y="124179"/>
                  <a:pt x="1621" y="180623"/>
                </a:cubicBezTo>
                <a:cubicBezTo>
                  <a:pt x="-4964" y="237067"/>
                  <a:pt x="10087" y="282223"/>
                  <a:pt x="18554" y="338667"/>
                </a:cubicBezTo>
                <a:cubicBezTo>
                  <a:pt x="27021" y="395111"/>
                  <a:pt x="33606" y="467548"/>
                  <a:pt x="52421" y="519289"/>
                </a:cubicBezTo>
                <a:cubicBezTo>
                  <a:pt x="71236" y="571030"/>
                  <a:pt x="94754" y="623711"/>
                  <a:pt x="131443" y="649111"/>
                </a:cubicBezTo>
                <a:cubicBezTo>
                  <a:pt x="168132" y="674511"/>
                  <a:pt x="219873" y="685800"/>
                  <a:pt x="272554" y="671689"/>
                </a:cubicBezTo>
                <a:cubicBezTo>
                  <a:pt x="325235" y="657578"/>
                  <a:pt x="396732" y="610541"/>
                  <a:pt x="447532" y="564445"/>
                </a:cubicBezTo>
                <a:cubicBezTo>
                  <a:pt x="498332" y="518349"/>
                  <a:pt x="548191" y="444029"/>
                  <a:pt x="577354" y="395111"/>
                </a:cubicBezTo>
                <a:cubicBezTo>
                  <a:pt x="606517" y="346193"/>
                  <a:pt x="614513" y="308563"/>
                  <a:pt x="622510" y="270934"/>
                </a:cubicBezTo>
              </a:path>
            </a:pathLst>
          </a:custGeom>
          <a:noFill/>
          <a:ln cap="flat" cmpd="sng" w="2142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24" name="Google Shape;624;p66"/>
          <p:cNvSpPr/>
          <p:nvPr/>
        </p:nvSpPr>
        <p:spPr>
          <a:xfrm>
            <a:off x="6191417" y="1862261"/>
            <a:ext cx="564000" cy="882600"/>
          </a:xfrm>
          <a:prstGeom prst="mathMultiply">
            <a:avLst>
              <a:gd fmla="val 23520" name="adj1"/>
            </a:avLst>
          </a:prstGeom>
          <a:solidFill>
            <a:srgbClr val="C00000"/>
          </a:solidFill>
          <a:ln cap="flat" cmpd="sng" w="9525">
            <a:solidFill>
              <a:srgbClr val="8296B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25" name="Google Shape;625;p66"/>
          <p:cNvSpPr txBox="1"/>
          <p:nvPr/>
        </p:nvSpPr>
        <p:spPr>
          <a:xfrm>
            <a:off x="5887474" y="2164932"/>
            <a:ext cx="23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0000"/>
                </a:solidFill>
                <a:latin typeface="Calibri"/>
                <a:ea typeface="Calibri"/>
                <a:cs typeface="Calibri"/>
                <a:sym typeface="Calibri"/>
              </a:rPr>
              <a:t>A</a:t>
            </a:r>
            <a:endParaRPr sz="1100"/>
          </a:p>
        </p:txBody>
      </p:sp>
      <p:sp>
        <p:nvSpPr>
          <p:cNvPr id="626" name="Google Shape;626;p66"/>
          <p:cNvSpPr txBox="1"/>
          <p:nvPr/>
        </p:nvSpPr>
        <p:spPr>
          <a:xfrm>
            <a:off x="6719906" y="2606103"/>
            <a:ext cx="23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0000"/>
                </a:solidFill>
                <a:latin typeface="Calibri"/>
                <a:ea typeface="Calibri"/>
                <a:cs typeface="Calibri"/>
                <a:sym typeface="Calibri"/>
              </a:rPr>
              <a:t>B</a:t>
            </a:r>
            <a:endParaRPr sz="1100"/>
          </a:p>
        </p:txBody>
      </p:sp>
      <p:sp>
        <p:nvSpPr>
          <p:cNvPr id="627" name="Google Shape;627;p66"/>
          <p:cNvSpPr txBox="1"/>
          <p:nvPr/>
        </p:nvSpPr>
        <p:spPr>
          <a:xfrm>
            <a:off x="175765" y="4001333"/>
            <a:ext cx="7930200" cy="907500"/>
          </a:xfrm>
          <a:prstGeom prst="rect">
            <a:avLst/>
          </a:prstGeom>
          <a:blipFill rotWithShape="1">
            <a:blip r:embed="rId4">
              <a:alphaModFix/>
            </a:blip>
            <a:stretch>
              <a:fillRect b="0" l="-480" r="0" t="-208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Calibri"/>
                <a:ea typeface="Calibri"/>
                <a:cs typeface="Calibri"/>
                <a:sym typeface="Calibri"/>
              </a:rPr>
              <a:t> </a:t>
            </a:r>
            <a:endParaRPr sz="1100"/>
          </a:p>
        </p:txBody>
      </p:sp>
      <p:sp>
        <p:nvSpPr>
          <p:cNvPr id="628" name="Google Shape;628;p66"/>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
        <p:nvSpPr>
          <p:cNvPr id="629" name="Google Shape;629;p66"/>
          <p:cNvSpPr txBox="1"/>
          <p:nvPr/>
        </p:nvSpPr>
        <p:spPr>
          <a:xfrm rot="-5400000">
            <a:off x="3174182" y="2289632"/>
            <a:ext cx="985200" cy="300000"/>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C</a:t>
            </a:r>
            <a:endParaRPr sz="1100"/>
          </a:p>
        </p:txBody>
      </p:sp>
      <p:sp>
        <p:nvSpPr>
          <p:cNvPr id="630" name="Google Shape;630;p66"/>
          <p:cNvSpPr txBox="1"/>
          <p:nvPr/>
        </p:nvSpPr>
        <p:spPr>
          <a:xfrm rot="-984908">
            <a:off x="6810223" y="3954133"/>
            <a:ext cx="985156" cy="300253"/>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A</a:t>
            </a:r>
            <a:endParaRPr sz="1100"/>
          </a:p>
        </p:txBody>
      </p:sp>
      <p:sp>
        <p:nvSpPr>
          <p:cNvPr id="631" name="Google Shape;631;p66"/>
          <p:cNvSpPr txBox="1"/>
          <p:nvPr/>
        </p:nvSpPr>
        <p:spPr>
          <a:xfrm rot="1501203">
            <a:off x="4228341" y="3874589"/>
            <a:ext cx="985257" cy="300092"/>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500">
                <a:solidFill>
                  <a:schemeClr val="dk1"/>
                </a:solidFill>
                <a:latin typeface="Calibri"/>
                <a:ea typeface="Calibri"/>
                <a:cs typeface="Calibri"/>
                <a:sym typeface="Calibri"/>
              </a:rPr>
              <a:t>Gene B</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7"/>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Computing knn-graph in Scanpy</a:t>
            </a:r>
            <a:endParaRPr/>
          </a:p>
        </p:txBody>
      </p:sp>
      <p:pic>
        <p:nvPicPr>
          <p:cNvPr id="637" name="Google Shape;637;p67"/>
          <p:cNvPicPr preferRelativeResize="0"/>
          <p:nvPr/>
        </p:nvPicPr>
        <p:blipFill rotWithShape="1">
          <a:blip r:embed="rId3">
            <a:alphaModFix/>
          </a:blip>
          <a:srcRect b="0" l="0" r="0" t="0"/>
          <a:stretch/>
        </p:blipFill>
        <p:spPr>
          <a:xfrm>
            <a:off x="339329" y="653653"/>
            <a:ext cx="8334375" cy="428625"/>
          </a:xfrm>
          <a:prstGeom prst="rect">
            <a:avLst/>
          </a:prstGeom>
          <a:noFill/>
          <a:ln>
            <a:noFill/>
          </a:ln>
        </p:spPr>
      </p:pic>
      <p:pic>
        <p:nvPicPr>
          <p:cNvPr id="638" name="Google Shape;638;p67"/>
          <p:cNvPicPr preferRelativeResize="0"/>
          <p:nvPr/>
        </p:nvPicPr>
        <p:blipFill rotWithShape="1">
          <a:blip r:embed="rId4">
            <a:alphaModFix/>
          </a:blip>
          <a:srcRect b="-9041" l="0" r="0" t="-680"/>
          <a:stretch/>
        </p:blipFill>
        <p:spPr>
          <a:xfrm>
            <a:off x="357855" y="1125281"/>
            <a:ext cx="8428290" cy="2400299"/>
          </a:xfrm>
          <a:prstGeom prst="rect">
            <a:avLst/>
          </a:prstGeom>
          <a:noFill/>
          <a:ln>
            <a:noFill/>
          </a:ln>
        </p:spPr>
      </p:pic>
      <p:sp>
        <p:nvSpPr>
          <p:cNvPr id="639" name="Google Shape;639;p67"/>
          <p:cNvSpPr/>
          <p:nvPr/>
        </p:nvSpPr>
        <p:spPr>
          <a:xfrm>
            <a:off x="2730669" y="2513088"/>
            <a:ext cx="1028700" cy="192900"/>
          </a:xfrm>
          <a:prstGeom prst="rect">
            <a:avLst/>
          </a:prstGeom>
          <a:solidFill>
            <a:schemeClr val="accent1">
              <a:alpha val="35690"/>
            </a:schemeClr>
          </a:solidFill>
          <a:ln cap="flat" cmpd="sng" w="9525">
            <a:solidFill>
              <a:srgbClr val="42719B">
                <a:alpha val="87840"/>
              </a:srgbClr>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40" name="Google Shape;640;p67"/>
          <p:cNvSpPr/>
          <p:nvPr/>
        </p:nvSpPr>
        <p:spPr>
          <a:xfrm>
            <a:off x="1102926" y="3132539"/>
            <a:ext cx="4000500" cy="192900"/>
          </a:xfrm>
          <a:prstGeom prst="rect">
            <a:avLst/>
          </a:prstGeom>
          <a:solidFill>
            <a:schemeClr val="accent1">
              <a:alpha val="35690"/>
            </a:schemeClr>
          </a:solidFill>
          <a:ln cap="flat" cmpd="sng" w="9525">
            <a:solidFill>
              <a:srgbClr val="42719B">
                <a:alpha val="87840"/>
              </a:srgbClr>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41" name="Google Shape;641;p67"/>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8"/>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Post data pre-processing:</a:t>
            </a:r>
            <a:br>
              <a:rPr lang="en"/>
            </a:br>
            <a:br>
              <a:rPr lang="en"/>
            </a:br>
            <a:r>
              <a:rPr lang="en"/>
              <a:t>- Data normalization</a:t>
            </a:r>
            <a:br>
              <a:rPr lang="en"/>
            </a:br>
            <a:r>
              <a:rPr lang="en"/>
              <a:t>- Highly Variable Genes</a:t>
            </a:r>
            <a:br>
              <a:rPr lang="en"/>
            </a:br>
            <a:r>
              <a:rPr lang="en"/>
              <a:t>- PCA</a:t>
            </a:r>
            <a:br>
              <a:rPr lang="en">
                <a:solidFill>
                  <a:srgbClr val="FF0000"/>
                </a:solidFill>
              </a:rPr>
            </a:br>
            <a:r>
              <a:rPr lang="en"/>
              <a:t>- Nearest Neighbor Graph</a:t>
            </a:r>
            <a:br>
              <a:rPr lang="en"/>
            </a:br>
            <a:r>
              <a:rPr lang="en"/>
              <a:t>- </a:t>
            </a:r>
            <a:r>
              <a:rPr lang="en">
                <a:solidFill>
                  <a:srgbClr val="FF0000"/>
                </a:solidFill>
              </a:rPr>
              <a:t>Visualization </a:t>
            </a:r>
            <a:br>
              <a:rPr lang="en"/>
            </a:br>
            <a:r>
              <a:rPr lang="en"/>
              <a:t>- Clustering</a:t>
            </a:r>
            <a:r>
              <a:rPr lang="en">
                <a:solidFill>
                  <a:srgbClr val="FF0000"/>
                </a:solidFill>
              </a:rPr>
              <a:t> </a:t>
            </a:r>
            <a:endParaRPr/>
          </a:p>
        </p:txBody>
      </p:sp>
      <p:sp>
        <p:nvSpPr>
          <p:cNvPr id="648" name="Google Shape;648;p68"/>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9"/>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 Visualization – UMAP</a:t>
            </a:r>
            <a:endParaRPr/>
          </a:p>
        </p:txBody>
      </p:sp>
      <p:sp>
        <p:nvSpPr>
          <p:cNvPr id="654" name="Google Shape;654;p69"/>
          <p:cNvSpPr txBox="1"/>
          <p:nvPr/>
        </p:nvSpPr>
        <p:spPr>
          <a:xfrm>
            <a:off x="3300225" y="4608731"/>
            <a:ext cx="5843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u="sng">
                <a:solidFill>
                  <a:schemeClr val="dk1"/>
                </a:solidFill>
                <a:latin typeface="Calibri"/>
                <a:ea typeface="Calibri"/>
                <a:cs typeface="Calibri"/>
                <a:sym typeface="Calibri"/>
                <a:hlinkClick r:id="rId3">
                  <a:extLst>
                    <a:ext uri="{A12FA001-AC4F-418D-AE19-62706E023703}">
                      <ahyp:hlinkClr val="tx"/>
                    </a:ext>
                  </a:extLst>
                </a:hlinkClick>
              </a:rPr>
              <a:t>https://umap-learn.readthedocs.io/en/latest/how_umap_works.html</a:t>
            </a:r>
            <a:r>
              <a:rPr lang="en" sz="1100">
                <a:solidFill>
                  <a:schemeClr val="dk1"/>
                </a:solidFill>
                <a:latin typeface="Calibri"/>
                <a:ea typeface="Calibri"/>
                <a:cs typeface="Calibri"/>
                <a:sym typeface="Calibri"/>
              </a:rPr>
              <a:t> Becht et. al. </a:t>
            </a:r>
            <a:r>
              <a:rPr i="1" lang="en" sz="1100">
                <a:solidFill>
                  <a:schemeClr val="dk1"/>
                </a:solidFill>
                <a:latin typeface="Calibri"/>
                <a:ea typeface="Calibri"/>
                <a:cs typeface="Calibri"/>
                <a:sym typeface="Calibri"/>
              </a:rPr>
              <a:t>Nature Biotech </a:t>
            </a:r>
            <a:r>
              <a:rPr lang="en" sz="1100">
                <a:solidFill>
                  <a:schemeClr val="dk1"/>
                </a:solidFill>
                <a:latin typeface="Calibri"/>
                <a:ea typeface="Calibri"/>
                <a:cs typeface="Calibri"/>
                <a:sym typeface="Calibri"/>
              </a:rPr>
              <a:t>2019</a:t>
            </a:r>
            <a:endParaRPr sz="800"/>
          </a:p>
        </p:txBody>
      </p:sp>
      <p:sp>
        <p:nvSpPr>
          <p:cNvPr id="655" name="Google Shape;655;p69"/>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pic>
        <p:nvPicPr>
          <p:cNvPr id="656" name="Google Shape;656;p69"/>
          <p:cNvPicPr preferRelativeResize="0"/>
          <p:nvPr/>
        </p:nvPicPr>
        <p:blipFill rotWithShape="1">
          <a:blip r:embed="rId4">
            <a:alphaModFix/>
          </a:blip>
          <a:srcRect b="0" l="0" r="0" t="0"/>
          <a:stretch/>
        </p:blipFill>
        <p:spPr>
          <a:xfrm>
            <a:off x="2256807" y="820781"/>
            <a:ext cx="3661182" cy="364869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0"/>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Data Visualization – UMAP</a:t>
            </a:r>
            <a:endParaRPr/>
          </a:p>
        </p:txBody>
      </p:sp>
      <p:pic>
        <p:nvPicPr>
          <p:cNvPr id="662" name="Google Shape;662;p70"/>
          <p:cNvPicPr preferRelativeResize="0"/>
          <p:nvPr/>
        </p:nvPicPr>
        <p:blipFill rotWithShape="1">
          <a:blip r:embed="rId3">
            <a:alphaModFix/>
          </a:blip>
          <a:srcRect b="0" l="0" r="0" t="0"/>
          <a:stretch/>
        </p:blipFill>
        <p:spPr>
          <a:xfrm>
            <a:off x="417514" y="733425"/>
            <a:ext cx="5286375" cy="476250"/>
          </a:xfrm>
          <a:prstGeom prst="rect">
            <a:avLst/>
          </a:prstGeom>
          <a:noFill/>
          <a:ln>
            <a:noFill/>
          </a:ln>
        </p:spPr>
      </p:pic>
      <p:pic>
        <p:nvPicPr>
          <p:cNvPr id="663" name="Google Shape;663;p70"/>
          <p:cNvPicPr preferRelativeResize="0"/>
          <p:nvPr/>
        </p:nvPicPr>
        <p:blipFill rotWithShape="1">
          <a:blip r:embed="rId4">
            <a:alphaModFix/>
          </a:blip>
          <a:srcRect b="0" l="0" r="0" t="0"/>
          <a:stretch/>
        </p:blipFill>
        <p:spPr>
          <a:xfrm>
            <a:off x="377428" y="1209675"/>
            <a:ext cx="7013504" cy="1805872"/>
          </a:xfrm>
          <a:prstGeom prst="rect">
            <a:avLst/>
          </a:prstGeom>
          <a:noFill/>
          <a:ln>
            <a:noFill/>
          </a:ln>
        </p:spPr>
      </p:pic>
      <p:sp>
        <p:nvSpPr>
          <p:cNvPr id="664" name="Google Shape;664;p70"/>
          <p:cNvSpPr/>
          <p:nvPr/>
        </p:nvSpPr>
        <p:spPr>
          <a:xfrm>
            <a:off x="3314700" y="2311400"/>
            <a:ext cx="393600" cy="260400"/>
          </a:xfrm>
          <a:prstGeom prst="rect">
            <a:avLst/>
          </a:prstGeom>
          <a:solidFill>
            <a:srgbClr val="5B9BD5">
              <a:alpha val="498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65" name="Google Shape;665;p70"/>
          <p:cNvSpPr/>
          <p:nvPr/>
        </p:nvSpPr>
        <p:spPr>
          <a:xfrm>
            <a:off x="1608338" y="2484038"/>
            <a:ext cx="480900" cy="175500"/>
          </a:xfrm>
          <a:prstGeom prst="rect">
            <a:avLst/>
          </a:prstGeom>
          <a:solidFill>
            <a:srgbClr val="5B9BD5">
              <a:alpha val="498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666" name="Google Shape;666;p70"/>
          <p:cNvPicPr preferRelativeResize="0"/>
          <p:nvPr/>
        </p:nvPicPr>
        <p:blipFill rotWithShape="1">
          <a:blip r:embed="rId5">
            <a:alphaModFix/>
          </a:blip>
          <a:srcRect b="0" l="0" r="0" t="0"/>
          <a:stretch/>
        </p:blipFill>
        <p:spPr>
          <a:xfrm>
            <a:off x="4416843" y="2484038"/>
            <a:ext cx="3914978" cy="2084705"/>
          </a:xfrm>
          <a:prstGeom prst="rect">
            <a:avLst/>
          </a:prstGeom>
          <a:noFill/>
          <a:ln cap="flat" cmpd="sng" w="7150">
            <a:solidFill>
              <a:schemeClr val="dk1"/>
            </a:solidFill>
            <a:prstDash val="solid"/>
            <a:round/>
            <a:headEnd len="sm" w="sm" type="none"/>
            <a:tailEnd len="sm" w="sm" type="none"/>
          </a:ln>
        </p:spPr>
      </p:pic>
      <p:sp>
        <p:nvSpPr>
          <p:cNvPr id="667" name="Google Shape;667;p70"/>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1" name="Shape 671"/>
        <p:cNvGrpSpPr/>
        <p:nvPr/>
      </p:nvGrpSpPr>
      <p:grpSpPr>
        <a:xfrm>
          <a:off x="0" y="0"/>
          <a:ext cx="0" cy="0"/>
          <a:chOff x="0" y="0"/>
          <a:chExt cx="0" cy="0"/>
        </a:xfrm>
      </p:grpSpPr>
      <p:sp>
        <p:nvSpPr>
          <p:cNvPr id="672" name="Google Shape;672;p71"/>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Calibri"/>
              <a:buNone/>
            </a:pPr>
            <a:r>
              <a:rPr lang="en" sz="1800"/>
              <a:t>Utilizing visualizations for data analyses (Library size, number of unique genes per cell)</a:t>
            </a:r>
            <a:endParaRPr sz="1800"/>
          </a:p>
        </p:txBody>
      </p:sp>
      <p:sp>
        <p:nvSpPr>
          <p:cNvPr id="673" name="Google Shape;673;p71"/>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674" name="Google Shape;674;p71"/>
          <p:cNvPicPr preferRelativeResize="0"/>
          <p:nvPr/>
        </p:nvPicPr>
        <p:blipFill rotWithShape="1">
          <a:blip r:embed="rId3">
            <a:alphaModFix/>
          </a:blip>
          <a:srcRect b="0" l="0" r="0" t="0"/>
          <a:stretch/>
        </p:blipFill>
        <p:spPr>
          <a:xfrm>
            <a:off x="279279" y="1549342"/>
            <a:ext cx="8339360" cy="2278193"/>
          </a:xfrm>
          <a:prstGeom prst="rect">
            <a:avLst/>
          </a:prstGeom>
          <a:noFill/>
          <a:ln>
            <a:noFill/>
          </a:ln>
        </p:spPr>
      </p:pic>
      <p:sp>
        <p:nvSpPr>
          <p:cNvPr id="675" name="Google Shape;675;p71"/>
          <p:cNvSpPr/>
          <p:nvPr/>
        </p:nvSpPr>
        <p:spPr>
          <a:xfrm>
            <a:off x="2397580" y="2050401"/>
            <a:ext cx="1907100" cy="1683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76" name="Google Shape;676;p71"/>
          <p:cNvSpPr/>
          <p:nvPr/>
        </p:nvSpPr>
        <p:spPr>
          <a:xfrm>
            <a:off x="5531372" y="2012224"/>
            <a:ext cx="1482900" cy="2067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77" name="Google Shape;677;p71"/>
          <p:cNvSpPr/>
          <p:nvPr/>
        </p:nvSpPr>
        <p:spPr>
          <a:xfrm>
            <a:off x="789864" y="2312459"/>
            <a:ext cx="1267500" cy="1329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78" name="Google Shape;678;p71"/>
          <p:cNvSpPr/>
          <p:nvPr/>
        </p:nvSpPr>
        <p:spPr>
          <a:xfrm>
            <a:off x="7677616" y="2179497"/>
            <a:ext cx="941100" cy="1329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72"/>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000"/>
              <a:buFont typeface="Calibri"/>
              <a:buNone/>
            </a:pPr>
            <a:r>
              <a:rPr lang="en" sz="1800"/>
              <a:t>Utilizing visualizations for data analyses (Library size, number of unique genes per cell)</a:t>
            </a:r>
            <a:endParaRPr sz="1800"/>
          </a:p>
        </p:txBody>
      </p:sp>
      <p:sp>
        <p:nvSpPr>
          <p:cNvPr id="684" name="Google Shape;684;p72"/>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685" name="Google Shape;685;p72"/>
          <p:cNvPicPr preferRelativeResize="0"/>
          <p:nvPr/>
        </p:nvPicPr>
        <p:blipFill rotWithShape="1">
          <a:blip r:embed="rId3">
            <a:alphaModFix/>
          </a:blip>
          <a:srcRect b="0" l="0" r="0" t="0"/>
          <a:stretch/>
        </p:blipFill>
        <p:spPr>
          <a:xfrm>
            <a:off x="279279" y="1549342"/>
            <a:ext cx="8339360" cy="2278193"/>
          </a:xfrm>
          <a:prstGeom prst="rect">
            <a:avLst/>
          </a:prstGeom>
          <a:noFill/>
          <a:ln>
            <a:noFill/>
          </a:ln>
        </p:spPr>
      </p:pic>
      <p:sp>
        <p:nvSpPr>
          <p:cNvPr id="686" name="Google Shape;686;p72"/>
          <p:cNvSpPr/>
          <p:nvPr/>
        </p:nvSpPr>
        <p:spPr>
          <a:xfrm>
            <a:off x="2397580" y="2050401"/>
            <a:ext cx="1907100" cy="1683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87" name="Google Shape;687;p72"/>
          <p:cNvSpPr/>
          <p:nvPr/>
        </p:nvSpPr>
        <p:spPr>
          <a:xfrm>
            <a:off x="5531372" y="2012224"/>
            <a:ext cx="1482900" cy="2067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88" name="Google Shape;688;p72"/>
          <p:cNvSpPr/>
          <p:nvPr/>
        </p:nvSpPr>
        <p:spPr>
          <a:xfrm>
            <a:off x="789864" y="2312459"/>
            <a:ext cx="1267500" cy="1329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89" name="Google Shape;689;p72"/>
          <p:cNvSpPr/>
          <p:nvPr/>
        </p:nvSpPr>
        <p:spPr>
          <a:xfrm>
            <a:off x="7677616" y="2179497"/>
            <a:ext cx="941100" cy="132900"/>
          </a:xfrm>
          <a:prstGeom prst="rect">
            <a:avLst/>
          </a:prstGeom>
          <a:solidFill>
            <a:srgbClr val="FF88EE">
              <a:alpha val="40000"/>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690" name="Google Shape;690;p72"/>
          <p:cNvSpPr/>
          <p:nvPr/>
        </p:nvSpPr>
        <p:spPr>
          <a:xfrm>
            <a:off x="82669" y="769425"/>
            <a:ext cx="8915400" cy="3839400"/>
          </a:xfrm>
          <a:prstGeom prst="rect">
            <a:avLst/>
          </a:prstGeom>
          <a:solidFill>
            <a:srgbClr val="FFFFFF">
              <a:alpha val="78180"/>
            </a:srgbClr>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pic>
        <p:nvPicPr>
          <p:cNvPr id="691" name="Google Shape;691;p72"/>
          <p:cNvPicPr preferRelativeResize="0"/>
          <p:nvPr/>
        </p:nvPicPr>
        <p:blipFill rotWithShape="1">
          <a:blip r:embed="rId4">
            <a:alphaModFix/>
          </a:blip>
          <a:srcRect b="0" l="0" r="0" t="0"/>
          <a:stretch/>
        </p:blipFill>
        <p:spPr>
          <a:xfrm>
            <a:off x="2555253" y="652371"/>
            <a:ext cx="5359603" cy="40735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3"/>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Utilizing UMAP visualizations: Gene expression </a:t>
            </a:r>
            <a:endParaRPr/>
          </a:p>
        </p:txBody>
      </p:sp>
      <p:sp>
        <p:nvSpPr>
          <p:cNvPr id="697" name="Google Shape;697;p73"/>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698" name="Google Shape;698;p73"/>
          <p:cNvPicPr preferRelativeResize="0"/>
          <p:nvPr/>
        </p:nvPicPr>
        <p:blipFill rotWithShape="1">
          <a:blip r:embed="rId3">
            <a:alphaModFix/>
          </a:blip>
          <a:srcRect b="0" l="0" r="0" t="0"/>
          <a:stretch/>
        </p:blipFill>
        <p:spPr>
          <a:xfrm>
            <a:off x="103992" y="550836"/>
            <a:ext cx="5763408" cy="384227"/>
          </a:xfrm>
          <a:prstGeom prst="rect">
            <a:avLst/>
          </a:prstGeom>
          <a:noFill/>
          <a:ln>
            <a:noFill/>
          </a:ln>
        </p:spPr>
      </p:pic>
      <p:pic>
        <p:nvPicPr>
          <p:cNvPr id="699" name="Google Shape;699;p73"/>
          <p:cNvPicPr preferRelativeResize="0"/>
          <p:nvPr/>
        </p:nvPicPr>
        <p:blipFill rotWithShape="1">
          <a:blip r:embed="rId4">
            <a:alphaModFix/>
          </a:blip>
          <a:srcRect b="0" l="0" r="0" t="0"/>
          <a:stretch/>
        </p:blipFill>
        <p:spPr>
          <a:xfrm>
            <a:off x="870837" y="945010"/>
            <a:ext cx="4229720" cy="398369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4"/>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spcBef>
                <a:spcPts val="0"/>
              </a:spcBef>
              <a:spcAft>
                <a:spcPts val="0"/>
              </a:spcAft>
              <a:buClr>
                <a:schemeClr val="dk1"/>
              </a:buClr>
              <a:buSzPct val="117857"/>
              <a:buFont typeface="Calibri"/>
              <a:buNone/>
            </a:pPr>
            <a:r>
              <a:rPr lang="en"/>
              <a:t>Utilizing UMAP visualizations: low quality</a:t>
            </a:r>
            <a:endParaRPr/>
          </a:p>
        </p:txBody>
      </p:sp>
      <p:sp>
        <p:nvSpPr>
          <p:cNvPr id="705" name="Google Shape;705;p74"/>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706" name="Google Shape;706;p74"/>
          <p:cNvSpPr txBox="1"/>
          <p:nvPr/>
        </p:nvSpPr>
        <p:spPr>
          <a:xfrm>
            <a:off x="5778061" y="3838331"/>
            <a:ext cx="27375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600">
                <a:solidFill>
                  <a:schemeClr val="dk1"/>
                </a:solidFill>
                <a:latin typeface="Calibri"/>
                <a:ea typeface="Calibri"/>
                <a:cs typeface="Calibri"/>
                <a:sym typeface="Calibri"/>
              </a:rPr>
              <a:t>https://www.nature.com/articles/s43018-022-00443-5#Sec54</a:t>
            </a:r>
            <a:endParaRPr sz="1100"/>
          </a:p>
        </p:txBody>
      </p:sp>
      <p:pic>
        <p:nvPicPr>
          <p:cNvPr id="707" name="Google Shape;707;p74"/>
          <p:cNvPicPr preferRelativeResize="0"/>
          <p:nvPr/>
        </p:nvPicPr>
        <p:blipFill rotWithShape="1">
          <a:blip r:embed="rId3">
            <a:alphaModFix/>
          </a:blip>
          <a:srcRect b="0" l="0" r="0" t="0"/>
          <a:stretch/>
        </p:blipFill>
        <p:spPr>
          <a:xfrm>
            <a:off x="832000" y="816687"/>
            <a:ext cx="6407944" cy="28479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5"/>
          <p:cNvSpPr txBox="1"/>
          <p:nvPr>
            <p:ph type="title"/>
          </p:nvPr>
        </p:nvSpPr>
        <p:spPr>
          <a:xfrm>
            <a:off x="85191" y="0"/>
            <a:ext cx="5829900" cy="511200"/>
          </a:xfrm>
          <a:prstGeom prst="rect">
            <a:avLst/>
          </a:prstGeom>
          <a:noFill/>
          <a:ln>
            <a:noFill/>
          </a:ln>
        </p:spPr>
        <p:txBody>
          <a:bodyPr anchorCtr="0" anchor="t"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Post data pre-processing:</a:t>
            </a:r>
            <a:br>
              <a:rPr lang="en"/>
            </a:br>
            <a:br>
              <a:rPr lang="en"/>
            </a:br>
            <a:r>
              <a:rPr lang="en"/>
              <a:t>- Data normalization</a:t>
            </a:r>
            <a:br>
              <a:rPr lang="en"/>
            </a:br>
            <a:r>
              <a:rPr lang="en"/>
              <a:t>- Highly Variable Genes</a:t>
            </a:r>
            <a:br>
              <a:rPr lang="en"/>
            </a:br>
            <a:r>
              <a:rPr lang="en"/>
              <a:t>- PCA</a:t>
            </a:r>
            <a:br>
              <a:rPr lang="en">
                <a:solidFill>
                  <a:srgbClr val="FF0000"/>
                </a:solidFill>
              </a:rPr>
            </a:br>
            <a:r>
              <a:rPr lang="en"/>
              <a:t>- Nearest Neighbor Graph</a:t>
            </a:r>
            <a:br>
              <a:rPr lang="en"/>
            </a:br>
            <a:r>
              <a:rPr lang="en"/>
              <a:t>- Visualization</a:t>
            </a:r>
            <a:r>
              <a:rPr lang="en">
                <a:solidFill>
                  <a:srgbClr val="FF0000"/>
                </a:solidFill>
              </a:rPr>
              <a:t> </a:t>
            </a:r>
            <a:br>
              <a:rPr lang="en"/>
            </a:br>
            <a:r>
              <a:rPr lang="en"/>
              <a:t>- </a:t>
            </a:r>
            <a:r>
              <a:rPr lang="en">
                <a:solidFill>
                  <a:srgbClr val="FF0000"/>
                </a:solidFill>
              </a:rPr>
              <a:t>Clustering </a:t>
            </a:r>
            <a:endParaRPr/>
          </a:p>
        </p:txBody>
      </p:sp>
      <p:sp>
        <p:nvSpPr>
          <p:cNvPr id="714" name="Google Shape;714;p75"/>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6"/>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Cell clustering</a:t>
            </a:r>
            <a:endParaRPr/>
          </a:p>
        </p:txBody>
      </p:sp>
      <p:sp>
        <p:nvSpPr>
          <p:cNvPr id="720" name="Google Shape;720;p76"/>
          <p:cNvSpPr txBox="1"/>
          <p:nvPr>
            <p:ph idx="1" type="body"/>
          </p:nvPr>
        </p:nvSpPr>
        <p:spPr>
          <a:xfrm>
            <a:off x="471488" y="1026914"/>
            <a:ext cx="5915100" cy="24477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sz="2100"/>
              <a:t>Want: Identify cells that are </a:t>
            </a:r>
            <a:r>
              <a:rPr b="1" lang="en" sz="2100"/>
              <a:t>similar</a:t>
            </a:r>
            <a:r>
              <a:rPr lang="en" sz="2100"/>
              <a:t> to each other and </a:t>
            </a:r>
            <a:r>
              <a:rPr b="1" lang="en" sz="2100"/>
              <a:t>group</a:t>
            </a:r>
            <a:r>
              <a:rPr lang="en" sz="2100"/>
              <a:t> them together</a:t>
            </a:r>
            <a:endParaRPr/>
          </a:p>
          <a:p>
            <a:pPr indent="-38100" lvl="0" marL="177800" rtl="0" algn="l">
              <a:lnSpc>
                <a:spcPct val="90000"/>
              </a:lnSpc>
              <a:spcBef>
                <a:spcPts val="800"/>
              </a:spcBef>
              <a:spcAft>
                <a:spcPts val="1200"/>
              </a:spcAft>
              <a:buClr>
                <a:schemeClr val="dk1"/>
              </a:buClr>
              <a:buSzPts val="2100"/>
              <a:buNone/>
            </a:pPr>
            <a:r>
              <a:t/>
            </a:r>
            <a:endParaRPr/>
          </a:p>
        </p:txBody>
      </p:sp>
      <p:grpSp>
        <p:nvGrpSpPr>
          <p:cNvPr id="721" name="Google Shape;721;p76"/>
          <p:cNvGrpSpPr/>
          <p:nvPr/>
        </p:nvGrpSpPr>
        <p:grpSpPr>
          <a:xfrm>
            <a:off x="230898" y="1796469"/>
            <a:ext cx="3660531" cy="2571735"/>
            <a:chOff x="6052798" y="752806"/>
            <a:chExt cx="6326532" cy="4744899"/>
          </a:xfrm>
        </p:grpSpPr>
        <p:pic>
          <p:nvPicPr>
            <p:cNvPr id="722" name="Google Shape;722;p76"/>
            <p:cNvPicPr preferRelativeResize="0"/>
            <p:nvPr/>
          </p:nvPicPr>
          <p:blipFill rotWithShape="1">
            <a:blip r:embed="rId3">
              <a:alphaModFix/>
            </a:blip>
            <a:srcRect b="0" l="0" r="0" t="0"/>
            <a:stretch/>
          </p:blipFill>
          <p:spPr>
            <a:xfrm>
              <a:off x="6052798" y="752806"/>
              <a:ext cx="6326532" cy="4744899"/>
            </a:xfrm>
            <a:prstGeom prst="rect">
              <a:avLst/>
            </a:prstGeom>
            <a:noFill/>
            <a:ln>
              <a:noFill/>
            </a:ln>
          </p:spPr>
        </p:pic>
        <p:sp>
          <p:nvSpPr>
            <p:cNvPr id="723" name="Google Shape;723;p76"/>
            <p:cNvSpPr txBox="1"/>
            <p:nvPr/>
          </p:nvSpPr>
          <p:spPr>
            <a:xfrm rot="-5400000">
              <a:off x="5723699" y="2260632"/>
              <a:ext cx="2005500" cy="412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a:solidFill>
                    <a:schemeClr val="dk1"/>
                  </a:solidFill>
                  <a:latin typeface="Calibri"/>
                  <a:ea typeface="Calibri"/>
                  <a:cs typeface="Calibri"/>
                  <a:sym typeface="Calibri"/>
                </a:rPr>
                <a:t>Marker C</a:t>
              </a:r>
              <a:endParaRPr sz="1100"/>
            </a:p>
          </p:txBody>
        </p:sp>
        <p:sp>
          <p:nvSpPr>
            <p:cNvPr id="724" name="Google Shape;724;p76"/>
            <p:cNvSpPr txBox="1"/>
            <p:nvPr/>
          </p:nvSpPr>
          <p:spPr>
            <a:xfrm rot="1472894">
              <a:off x="7210846" y="4622803"/>
              <a:ext cx="2005251" cy="43536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a:solidFill>
                    <a:schemeClr val="dk1"/>
                  </a:solidFill>
                  <a:latin typeface="Calibri"/>
                  <a:ea typeface="Calibri"/>
                  <a:cs typeface="Calibri"/>
                  <a:sym typeface="Calibri"/>
                </a:rPr>
                <a:t>Marker B</a:t>
              </a:r>
              <a:endParaRPr sz="1100"/>
            </a:p>
          </p:txBody>
        </p:sp>
        <p:sp>
          <p:nvSpPr>
            <p:cNvPr id="725" name="Google Shape;725;p76"/>
            <p:cNvSpPr txBox="1"/>
            <p:nvPr/>
          </p:nvSpPr>
          <p:spPr>
            <a:xfrm rot="-910030">
              <a:off x="10155846" y="4414442"/>
              <a:ext cx="2005457" cy="4382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100">
                  <a:solidFill>
                    <a:schemeClr val="dk1"/>
                  </a:solidFill>
                  <a:latin typeface="Calibri"/>
                  <a:ea typeface="Calibri"/>
                  <a:cs typeface="Calibri"/>
                  <a:sym typeface="Calibri"/>
                </a:rPr>
                <a:t>Marker A</a:t>
              </a:r>
              <a:endParaRPr sz="1100"/>
            </a:p>
          </p:txBody>
        </p:sp>
      </p:grpSp>
      <p:sp>
        <p:nvSpPr>
          <p:cNvPr id="726" name="Google Shape;726;p76"/>
          <p:cNvSpPr/>
          <p:nvPr/>
        </p:nvSpPr>
        <p:spPr>
          <a:xfrm>
            <a:off x="1721833" y="2132569"/>
            <a:ext cx="469200" cy="519300"/>
          </a:xfrm>
          <a:prstGeom prst="ellipse">
            <a:avLst/>
          </a:prstGeom>
          <a:solidFill>
            <a:srgbClr val="B862C4">
              <a:alpha val="32159"/>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27" name="Google Shape;727;p76"/>
          <p:cNvSpPr/>
          <p:nvPr/>
        </p:nvSpPr>
        <p:spPr>
          <a:xfrm>
            <a:off x="1695450" y="2651946"/>
            <a:ext cx="469200" cy="519300"/>
          </a:xfrm>
          <a:prstGeom prst="ellipse">
            <a:avLst/>
          </a:prstGeom>
          <a:solidFill>
            <a:srgbClr val="548135">
              <a:alpha val="32159"/>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28" name="Google Shape;728;p76"/>
          <p:cNvSpPr/>
          <p:nvPr/>
        </p:nvSpPr>
        <p:spPr>
          <a:xfrm>
            <a:off x="1695449" y="3133073"/>
            <a:ext cx="779700" cy="779100"/>
          </a:xfrm>
          <a:prstGeom prst="ellipse">
            <a:avLst/>
          </a:prstGeom>
          <a:solidFill>
            <a:srgbClr val="00B0F0">
              <a:alpha val="32159"/>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29" name="Google Shape;729;p76"/>
          <p:cNvSpPr/>
          <p:nvPr/>
        </p:nvSpPr>
        <p:spPr>
          <a:xfrm>
            <a:off x="2408860" y="2949674"/>
            <a:ext cx="779400" cy="779100"/>
          </a:xfrm>
          <a:prstGeom prst="ellipse">
            <a:avLst/>
          </a:prstGeom>
          <a:solidFill>
            <a:srgbClr val="FFFF00">
              <a:alpha val="32159"/>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0" name="Google Shape;730;p76"/>
          <p:cNvSpPr/>
          <p:nvPr/>
        </p:nvSpPr>
        <p:spPr>
          <a:xfrm>
            <a:off x="2814389" y="2766276"/>
            <a:ext cx="369000" cy="236400"/>
          </a:xfrm>
          <a:prstGeom prst="ellipse">
            <a:avLst/>
          </a:prstGeom>
          <a:solidFill>
            <a:srgbClr val="FF0000">
              <a:alpha val="32159"/>
            </a:srgbClr>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1" name="Google Shape;731;p76"/>
          <p:cNvSpPr txBox="1"/>
          <p:nvPr/>
        </p:nvSpPr>
        <p:spPr>
          <a:xfrm>
            <a:off x="4609980" y="1896394"/>
            <a:ext cx="3906600" cy="2224200"/>
          </a:xfrm>
          <a:prstGeom prst="rect">
            <a:avLst/>
          </a:prstGeom>
          <a:noFill/>
          <a:ln>
            <a:noFill/>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We have already constructed similarity metric between cells based on the k-nearest neighbor graph</a:t>
            </a:r>
            <a:endParaRPr sz="1100"/>
          </a:p>
          <a:p>
            <a:pPr indent="-127000" lvl="0" marL="215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Then cells will be grouped based on some optimization metric</a:t>
            </a:r>
            <a:endParaRPr sz="1100"/>
          </a:p>
          <a:p>
            <a:pPr indent="-127000" lvl="0" marL="215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Consider two approaches:</a:t>
            </a:r>
            <a:endParaRPr sz="1100"/>
          </a:p>
          <a:p>
            <a:pPr indent="-215900" lvl="1" marL="558800" marR="0" rtl="0" algn="l">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Leiden clustering</a:t>
            </a:r>
            <a:endParaRPr sz="1100"/>
          </a:p>
          <a:p>
            <a:pPr indent="-215900" lvl="1" marL="558800" marR="0" rtl="0" algn="l">
              <a:spcBef>
                <a:spcPts val="0"/>
              </a:spcBef>
              <a:spcAft>
                <a:spcPts val="0"/>
              </a:spcAft>
              <a:buClr>
                <a:schemeClr val="dk1"/>
              </a:buClr>
              <a:buSzPts val="1400"/>
              <a:buFont typeface="Calibri"/>
              <a:buChar char="-"/>
            </a:pPr>
            <a:r>
              <a:rPr b="0" i="0" lang="en" sz="1400" u="none" cap="none" strike="noStrike">
                <a:solidFill>
                  <a:schemeClr val="dk1"/>
                </a:solidFill>
                <a:latin typeface="Calibri"/>
                <a:ea typeface="Calibri"/>
                <a:cs typeface="Calibri"/>
                <a:sym typeface="Calibri"/>
              </a:rPr>
              <a:t>Jaccard + Leiden clustering (PhenoGraph)</a:t>
            </a:r>
            <a:endParaRPr sz="1100"/>
          </a:p>
        </p:txBody>
      </p:sp>
      <p:sp>
        <p:nvSpPr>
          <p:cNvPr id="732" name="Google Shape;732;p76"/>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6" name="Shape 736"/>
        <p:cNvGrpSpPr/>
        <p:nvPr/>
      </p:nvGrpSpPr>
      <p:grpSpPr>
        <a:xfrm>
          <a:off x="0" y="0"/>
          <a:ext cx="0" cy="0"/>
          <a:chOff x="0" y="0"/>
          <a:chExt cx="0" cy="0"/>
        </a:xfrm>
      </p:grpSpPr>
      <p:sp>
        <p:nvSpPr>
          <p:cNvPr id="737" name="Google Shape;737;p77"/>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Leiden clustering</a:t>
            </a:r>
            <a:endParaRPr/>
          </a:p>
        </p:txBody>
      </p:sp>
      <p:pic>
        <p:nvPicPr>
          <p:cNvPr descr="ig. 1." id="738" name="Google Shape;738;p77"/>
          <p:cNvPicPr preferRelativeResize="0"/>
          <p:nvPr/>
        </p:nvPicPr>
        <p:blipFill rotWithShape="1">
          <a:blip r:embed="rId3">
            <a:alphaModFix/>
          </a:blip>
          <a:srcRect b="0" l="0" r="0" t="0"/>
          <a:stretch/>
        </p:blipFill>
        <p:spPr>
          <a:xfrm>
            <a:off x="4773528" y="373887"/>
            <a:ext cx="4256172" cy="4072384"/>
          </a:xfrm>
          <a:prstGeom prst="rect">
            <a:avLst/>
          </a:prstGeom>
          <a:noFill/>
          <a:ln>
            <a:noFill/>
          </a:ln>
        </p:spPr>
      </p:pic>
      <p:sp>
        <p:nvSpPr>
          <p:cNvPr id="739" name="Google Shape;739;p77"/>
          <p:cNvSpPr txBox="1"/>
          <p:nvPr/>
        </p:nvSpPr>
        <p:spPr>
          <a:xfrm>
            <a:off x="258679" y="870974"/>
            <a:ext cx="4515000" cy="4009800"/>
          </a:xfrm>
          <a:prstGeom prst="rect">
            <a:avLst/>
          </a:prstGeom>
          <a:noFill/>
          <a:ln>
            <a:noFill/>
          </a:ln>
        </p:spPr>
        <p:txBody>
          <a:bodyPr anchorCtr="0" anchor="t" bIns="34275" lIns="68575" spcFirstLastPara="1" rIns="68575" wrap="square" tIns="34275">
            <a:spAutoFit/>
          </a:bodyPr>
          <a:lstStyle/>
          <a:p>
            <a:pPr indent="-260350" lvl="0" marL="254000" marR="0" rtl="0" algn="l">
              <a:spcBef>
                <a:spcPts val="0"/>
              </a:spcBef>
              <a:spcAft>
                <a:spcPts val="0"/>
              </a:spcAft>
              <a:buClr>
                <a:schemeClr val="dk1"/>
              </a:buClr>
              <a:buSzPts val="1700"/>
              <a:buFont typeface="Arial"/>
              <a:buChar char="•"/>
            </a:pPr>
            <a:r>
              <a:rPr lang="en" sz="1700">
                <a:solidFill>
                  <a:schemeClr val="dk1"/>
                </a:solidFill>
                <a:latin typeface="Calibri"/>
                <a:ea typeface="Calibri"/>
                <a:cs typeface="Calibri"/>
                <a:sym typeface="Calibri"/>
              </a:rPr>
              <a:t>Shown to be optimal for different criteria such as Modularity and </a:t>
            </a:r>
            <a:r>
              <a:rPr b="0" i="0" lang="en" sz="1800">
                <a:solidFill>
                  <a:srgbClr val="222222"/>
                </a:solidFill>
                <a:latin typeface="Arial"/>
                <a:ea typeface="Arial"/>
                <a:cs typeface="Arial"/>
                <a:sym typeface="Arial"/>
              </a:rPr>
              <a:t>Constant Potts Model</a:t>
            </a:r>
            <a:r>
              <a:rPr lang="en" sz="1700">
                <a:solidFill>
                  <a:schemeClr val="dk1"/>
                </a:solidFill>
                <a:latin typeface="Calibri"/>
                <a:ea typeface="Calibri"/>
                <a:cs typeface="Calibri"/>
                <a:sym typeface="Calibri"/>
              </a:rPr>
              <a:t>:</a:t>
            </a:r>
            <a:endParaRPr sz="1100"/>
          </a:p>
          <a:p>
            <a:pPr indent="-152400" lvl="1" marL="5969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a:p>
            <a:pPr indent="-260350" lvl="1" marL="5969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Modularity is a metric of connectedness</a:t>
            </a:r>
            <a:endParaRPr sz="1100"/>
          </a:p>
          <a:p>
            <a:pPr indent="-260350" lvl="2" marL="9398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Try to maximize the number of edges within a cluster compared to an expected value</a:t>
            </a:r>
            <a:endParaRPr sz="1100"/>
          </a:p>
          <a:p>
            <a:pPr indent="-152400" lvl="1" marL="5969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a:p>
            <a:pPr indent="-260350" lvl="1" marL="5969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CPM measures the density of edges within a cluster against between clusters</a:t>
            </a:r>
            <a:endParaRPr sz="1100"/>
          </a:p>
          <a:p>
            <a:pPr indent="-152400" lvl="1" marL="5969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a:p>
            <a:pPr indent="-260350" lvl="1" marL="5969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Want more edges within a cluster </a:t>
            </a:r>
            <a:endParaRPr sz="1100"/>
          </a:p>
          <a:p>
            <a:pPr indent="-152400" lvl="1" marL="5969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a:p>
            <a:pPr indent="-260350" lvl="1" marL="596900" marR="0" rtl="0" algn="l">
              <a:spcBef>
                <a:spcPts val="0"/>
              </a:spcBef>
              <a:spcAft>
                <a:spcPts val="0"/>
              </a:spcAft>
              <a:buClr>
                <a:schemeClr val="dk1"/>
              </a:buClr>
              <a:buSzPts val="1700"/>
              <a:buFont typeface="Arial"/>
              <a:buChar char="•"/>
            </a:pPr>
            <a:r>
              <a:rPr b="0" i="0" lang="en" sz="1700" u="none" cap="none" strike="noStrike">
                <a:solidFill>
                  <a:schemeClr val="dk1"/>
                </a:solidFill>
                <a:latin typeface="Calibri"/>
                <a:ea typeface="Calibri"/>
                <a:cs typeface="Calibri"/>
                <a:sym typeface="Calibri"/>
              </a:rPr>
              <a:t>Want fewer edges between clusters</a:t>
            </a:r>
            <a:endParaRPr sz="1100"/>
          </a:p>
          <a:p>
            <a:pPr indent="-152400" lvl="1" marL="596900" marR="0" rtl="0" algn="l">
              <a:spcBef>
                <a:spcPts val="0"/>
              </a:spcBef>
              <a:spcAft>
                <a:spcPts val="0"/>
              </a:spcAft>
              <a:buClr>
                <a:schemeClr val="dk1"/>
              </a:buClr>
              <a:buSzPts val="1700"/>
              <a:buFont typeface="Arial"/>
              <a:buNone/>
            </a:pPr>
            <a:r>
              <a:t/>
            </a:r>
            <a:endParaRPr b="0" i="0" sz="1700" u="none" cap="none" strike="noStrike">
              <a:solidFill>
                <a:schemeClr val="dk1"/>
              </a:solidFill>
              <a:latin typeface="Calibri"/>
              <a:ea typeface="Calibri"/>
              <a:cs typeface="Calibri"/>
              <a:sym typeface="Calibri"/>
            </a:endParaRPr>
          </a:p>
        </p:txBody>
      </p:sp>
      <p:sp>
        <p:nvSpPr>
          <p:cNvPr id="740" name="Google Shape;740;p77"/>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8"/>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Leiden clustering in Scanpy</a:t>
            </a:r>
            <a:endParaRPr/>
          </a:p>
        </p:txBody>
      </p:sp>
      <p:pic>
        <p:nvPicPr>
          <p:cNvPr id="746" name="Google Shape;746;p78"/>
          <p:cNvPicPr preferRelativeResize="0"/>
          <p:nvPr/>
        </p:nvPicPr>
        <p:blipFill rotWithShape="1">
          <a:blip r:embed="rId3">
            <a:alphaModFix/>
          </a:blip>
          <a:srcRect b="0" l="0" r="0" t="0"/>
          <a:stretch/>
        </p:blipFill>
        <p:spPr>
          <a:xfrm>
            <a:off x="211015" y="724013"/>
            <a:ext cx="7099059" cy="4134617"/>
          </a:xfrm>
          <a:prstGeom prst="rect">
            <a:avLst/>
          </a:prstGeom>
          <a:noFill/>
          <a:ln>
            <a:noFill/>
          </a:ln>
        </p:spPr>
      </p:pic>
      <p:sp>
        <p:nvSpPr>
          <p:cNvPr id="747" name="Google Shape;747;p78"/>
          <p:cNvSpPr/>
          <p:nvPr/>
        </p:nvSpPr>
        <p:spPr>
          <a:xfrm>
            <a:off x="211015" y="1076179"/>
            <a:ext cx="7237800" cy="18042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48" name="Google Shape;748;p78"/>
          <p:cNvSpPr/>
          <p:nvPr/>
        </p:nvSpPr>
        <p:spPr>
          <a:xfrm>
            <a:off x="141630" y="2880360"/>
            <a:ext cx="7497300" cy="19782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749" name="Google Shape;749;p78"/>
          <p:cNvPicPr preferRelativeResize="0"/>
          <p:nvPr/>
        </p:nvPicPr>
        <p:blipFill rotWithShape="1">
          <a:blip r:embed="rId4">
            <a:alphaModFix/>
          </a:blip>
          <a:srcRect b="0" l="0" r="0" t="0"/>
          <a:stretch/>
        </p:blipFill>
        <p:spPr>
          <a:xfrm>
            <a:off x="2615637" y="1270467"/>
            <a:ext cx="5856632" cy="3157642"/>
          </a:xfrm>
          <a:prstGeom prst="rect">
            <a:avLst/>
          </a:prstGeom>
          <a:noFill/>
          <a:ln cap="flat" cmpd="sng" w="7150">
            <a:solidFill>
              <a:schemeClr val="dk1"/>
            </a:solidFill>
            <a:prstDash val="solid"/>
            <a:round/>
            <a:headEnd len="sm" w="sm" type="none"/>
            <a:tailEnd len="sm" w="sm" type="none"/>
          </a:ln>
        </p:spPr>
      </p:pic>
      <p:sp>
        <p:nvSpPr>
          <p:cNvPr id="750" name="Google Shape;750;p78"/>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4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4" name="Shape 754"/>
        <p:cNvGrpSpPr/>
        <p:nvPr/>
      </p:nvGrpSpPr>
      <p:grpSpPr>
        <a:xfrm>
          <a:off x="0" y="0"/>
          <a:ext cx="0" cy="0"/>
          <a:chOff x="0" y="0"/>
          <a:chExt cx="0" cy="0"/>
        </a:xfrm>
      </p:grpSpPr>
      <p:sp>
        <p:nvSpPr>
          <p:cNvPr id="755" name="Google Shape;755;p79"/>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Applying clustering for data clean up</a:t>
            </a:r>
            <a:endParaRPr/>
          </a:p>
        </p:txBody>
      </p:sp>
      <p:pic>
        <p:nvPicPr>
          <p:cNvPr id="756" name="Google Shape;756;p79"/>
          <p:cNvPicPr preferRelativeResize="0"/>
          <p:nvPr/>
        </p:nvPicPr>
        <p:blipFill rotWithShape="1">
          <a:blip r:embed="rId3">
            <a:alphaModFix/>
          </a:blip>
          <a:srcRect b="0" l="0" r="0" t="0"/>
          <a:stretch/>
        </p:blipFill>
        <p:spPr>
          <a:xfrm>
            <a:off x="461594" y="920146"/>
            <a:ext cx="5177384" cy="3942919"/>
          </a:xfrm>
          <a:prstGeom prst="rect">
            <a:avLst/>
          </a:prstGeom>
          <a:noFill/>
          <a:ln cap="flat" cmpd="sng" w="7150">
            <a:solidFill>
              <a:schemeClr val="dk1"/>
            </a:solidFill>
            <a:prstDash val="solid"/>
            <a:round/>
            <a:headEnd len="sm" w="sm" type="none"/>
            <a:tailEnd len="sm" w="sm" type="none"/>
          </a:ln>
        </p:spPr>
      </p:pic>
      <p:sp>
        <p:nvSpPr>
          <p:cNvPr id="757" name="Google Shape;757;p79"/>
          <p:cNvSpPr/>
          <p:nvPr/>
        </p:nvSpPr>
        <p:spPr>
          <a:xfrm>
            <a:off x="1100913" y="1863618"/>
            <a:ext cx="302400" cy="204900"/>
          </a:xfrm>
          <a:prstGeom prst="ellipse">
            <a:avLst/>
          </a:prstGeom>
          <a:noFill/>
          <a:ln cap="flat" cmpd="sng" w="952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58" name="Google Shape;758;p79"/>
          <p:cNvSpPr txBox="1"/>
          <p:nvPr/>
        </p:nvSpPr>
        <p:spPr>
          <a:xfrm>
            <a:off x="6153119" y="1944974"/>
            <a:ext cx="2383500" cy="1793100"/>
          </a:xfrm>
          <a:prstGeom prst="rect">
            <a:avLst/>
          </a:prstGeom>
          <a:noFill/>
          <a:ln>
            <a:noFill/>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We have argued that we want to remove the circled set of cells. </a:t>
            </a:r>
            <a:endParaRPr sz="1100"/>
          </a:p>
          <a:p>
            <a:pPr indent="-127000" lvl="0" marL="215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We can now use the clusters we have to isolate and remove each cluster one at a time.</a:t>
            </a:r>
            <a:endParaRPr sz="1100"/>
          </a:p>
        </p:txBody>
      </p:sp>
      <p:sp>
        <p:nvSpPr>
          <p:cNvPr id="759" name="Google Shape;759;p79"/>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
        <p:nvSpPr>
          <p:cNvPr id="760" name="Google Shape;760;p79"/>
          <p:cNvSpPr txBox="1"/>
          <p:nvPr>
            <p:ph idx="1" type="body"/>
          </p:nvPr>
        </p:nvSpPr>
        <p:spPr>
          <a:xfrm>
            <a:off x="471488" y="1026914"/>
            <a:ext cx="5915100" cy="24477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4" name="Shape 764"/>
        <p:cNvGrpSpPr/>
        <p:nvPr/>
      </p:nvGrpSpPr>
      <p:grpSpPr>
        <a:xfrm>
          <a:off x="0" y="0"/>
          <a:ext cx="0" cy="0"/>
          <a:chOff x="0" y="0"/>
          <a:chExt cx="0" cy="0"/>
        </a:xfrm>
      </p:grpSpPr>
      <p:sp>
        <p:nvSpPr>
          <p:cNvPr id="765" name="Google Shape;765;p80"/>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Applying clustering for data clean up</a:t>
            </a:r>
            <a:endParaRPr/>
          </a:p>
        </p:txBody>
      </p:sp>
      <p:pic>
        <p:nvPicPr>
          <p:cNvPr id="766" name="Google Shape;766;p80"/>
          <p:cNvPicPr preferRelativeResize="0"/>
          <p:nvPr/>
        </p:nvPicPr>
        <p:blipFill rotWithShape="1">
          <a:blip r:embed="rId3">
            <a:alphaModFix/>
          </a:blip>
          <a:srcRect b="0" l="0" r="0" t="0"/>
          <a:stretch/>
        </p:blipFill>
        <p:spPr>
          <a:xfrm>
            <a:off x="461594" y="920146"/>
            <a:ext cx="5177384" cy="3942919"/>
          </a:xfrm>
          <a:prstGeom prst="rect">
            <a:avLst/>
          </a:prstGeom>
          <a:noFill/>
          <a:ln cap="flat" cmpd="sng" w="7150">
            <a:solidFill>
              <a:schemeClr val="dk1"/>
            </a:solidFill>
            <a:prstDash val="solid"/>
            <a:round/>
            <a:headEnd len="sm" w="sm" type="none"/>
            <a:tailEnd len="sm" w="sm" type="none"/>
          </a:ln>
        </p:spPr>
      </p:pic>
      <p:sp>
        <p:nvSpPr>
          <p:cNvPr id="767" name="Google Shape;767;p80"/>
          <p:cNvSpPr/>
          <p:nvPr/>
        </p:nvSpPr>
        <p:spPr>
          <a:xfrm>
            <a:off x="1100913" y="1863618"/>
            <a:ext cx="302400" cy="204900"/>
          </a:xfrm>
          <a:prstGeom prst="ellipse">
            <a:avLst/>
          </a:prstGeom>
          <a:noFill/>
          <a:ln cap="flat" cmpd="sng" w="952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8" name="Google Shape;768;p80"/>
          <p:cNvSpPr txBox="1"/>
          <p:nvPr/>
        </p:nvSpPr>
        <p:spPr>
          <a:xfrm>
            <a:off x="6153119" y="1944974"/>
            <a:ext cx="2383500" cy="1793100"/>
          </a:xfrm>
          <a:prstGeom prst="rect">
            <a:avLst/>
          </a:prstGeom>
          <a:noFill/>
          <a:ln>
            <a:noFill/>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We have argued that we want to remove the circled set of cells. </a:t>
            </a:r>
            <a:endParaRPr sz="1100"/>
          </a:p>
          <a:p>
            <a:pPr indent="-127000" lvl="0" marL="21590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215900" lvl="0" marL="215900" marR="0" rtl="0" algn="l">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We can now use the clusters we have to isolate and remove each cluster one at a time.</a:t>
            </a:r>
            <a:endParaRPr sz="1100"/>
          </a:p>
        </p:txBody>
      </p:sp>
      <p:sp>
        <p:nvSpPr>
          <p:cNvPr id="769" name="Google Shape;769;p80"/>
          <p:cNvSpPr txBox="1"/>
          <p:nvPr>
            <p:ph idx="4294967295" type="sldNum"/>
          </p:nvPr>
        </p:nvSpPr>
        <p:spPr>
          <a:xfrm>
            <a:off x="8595225" y="4887300"/>
            <a:ext cx="548700" cy="256200"/>
          </a:xfrm>
          <a:prstGeom prst="rect">
            <a:avLst/>
          </a:prstGeom>
        </p:spPr>
        <p:txBody>
          <a:bodyPr anchorCtr="0" anchor="ctr" bIns="91425" lIns="91425" spcFirstLastPara="1" rIns="91425" wrap="square" tIns="91425">
            <a:normAutofit fontScale="55000" lnSpcReduction="20000"/>
          </a:bodyPr>
          <a:lstStyle/>
          <a:p>
            <a:pPr indent="0" lvl="0" marL="0" rtl="0" algn="r">
              <a:spcBef>
                <a:spcPts val="0"/>
              </a:spcBef>
              <a:spcAft>
                <a:spcPts val="0"/>
              </a:spcAft>
              <a:buNone/>
            </a:pPr>
            <a:fld id="{00000000-1234-1234-1234-123412341234}" type="slidenum">
              <a:rPr lang="en"/>
              <a:t>‹#›</a:t>
            </a:fld>
            <a:endParaRPr/>
          </a:p>
        </p:txBody>
      </p:sp>
      <p:sp>
        <p:nvSpPr>
          <p:cNvPr id="770" name="Google Shape;770;p80"/>
          <p:cNvSpPr/>
          <p:nvPr/>
        </p:nvSpPr>
        <p:spPr>
          <a:xfrm>
            <a:off x="82669" y="769425"/>
            <a:ext cx="8915400" cy="4127100"/>
          </a:xfrm>
          <a:prstGeom prst="rect">
            <a:avLst/>
          </a:prstGeom>
          <a:solidFill>
            <a:srgbClr val="FFFFFF">
              <a:alpha val="78180"/>
            </a:srgbClr>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pic>
        <p:nvPicPr>
          <p:cNvPr id="771" name="Google Shape;771;p80"/>
          <p:cNvPicPr preferRelativeResize="0"/>
          <p:nvPr/>
        </p:nvPicPr>
        <p:blipFill rotWithShape="1">
          <a:blip r:embed="rId4">
            <a:alphaModFix/>
          </a:blip>
          <a:srcRect b="0" l="0" r="0" t="0"/>
          <a:stretch/>
        </p:blipFill>
        <p:spPr>
          <a:xfrm>
            <a:off x="2413051" y="769426"/>
            <a:ext cx="3740057" cy="4126949"/>
          </a:xfrm>
          <a:prstGeom prst="rect">
            <a:avLst/>
          </a:prstGeom>
          <a:noFill/>
          <a:ln cap="flat" cmpd="sng" w="7150">
            <a:solidFill>
              <a:schemeClr val="dk1"/>
            </a:solidFill>
            <a:prstDash val="solid"/>
            <a:round/>
            <a:headEnd len="sm" w="sm" type="none"/>
            <a:tailEnd len="sm" w="sm" type="none"/>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1"/>
          <p:cNvSpPr txBox="1"/>
          <p:nvPr>
            <p:ph type="title"/>
          </p:nvPr>
        </p:nvSpPr>
        <p:spPr>
          <a:xfrm>
            <a:off x="85191" y="0"/>
            <a:ext cx="5829900" cy="511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Recap</a:t>
            </a:r>
            <a:endParaRPr/>
          </a:p>
        </p:txBody>
      </p:sp>
      <p:sp>
        <p:nvSpPr>
          <p:cNvPr id="777" name="Google Shape;777;p81"/>
          <p:cNvSpPr/>
          <p:nvPr/>
        </p:nvSpPr>
        <p:spPr>
          <a:xfrm>
            <a:off x="267891" y="750095"/>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scRNA-seq data matrix</a:t>
            </a:r>
            <a:endParaRPr sz="1100"/>
          </a:p>
        </p:txBody>
      </p:sp>
      <p:cxnSp>
        <p:nvCxnSpPr>
          <p:cNvPr id="778" name="Google Shape;778;p81"/>
          <p:cNvCxnSpPr/>
          <p:nvPr/>
        </p:nvCxnSpPr>
        <p:spPr>
          <a:xfrm>
            <a:off x="2046685" y="1092994"/>
            <a:ext cx="760800" cy="0"/>
          </a:xfrm>
          <a:prstGeom prst="straightConnector1">
            <a:avLst/>
          </a:prstGeom>
          <a:noFill/>
          <a:ln cap="flat" cmpd="sng" w="7150">
            <a:solidFill>
              <a:schemeClr val="accent1"/>
            </a:solidFill>
            <a:prstDash val="solid"/>
            <a:miter lim="800000"/>
            <a:headEnd len="sm" w="sm" type="none"/>
            <a:tailEnd len="med" w="med" type="triangle"/>
          </a:ln>
        </p:spPr>
      </p:cxnSp>
      <p:sp>
        <p:nvSpPr>
          <p:cNvPr id="779" name="Google Shape;779;p81"/>
          <p:cNvSpPr/>
          <p:nvPr/>
        </p:nvSpPr>
        <p:spPr>
          <a:xfrm>
            <a:off x="2903935" y="750095"/>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Pre-process and QC</a:t>
            </a:r>
            <a:endParaRPr sz="1100"/>
          </a:p>
        </p:txBody>
      </p:sp>
      <p:cxnSp>
        <p:nvCxnSpPr>
          <p:cNvPr id="780" name="Google Shape;780;p81"/>
          <p:cNvCxnSpPr/>
          <p:nvPr/>
        </p:nvCxnSpPr>
        <p:spPr>
          <a:xfrm flipH="1" rot="10800000">
            <a:off x="4668440" y="614930"/>
            <a:ext cx="828600" cy="270300"/>
          </a:xfrm>
          <a:prstGeom prst="straightConnector1">
            <a:avLst/>
          </a:prstGeom>
          <a:noFill/>
          <a:ln cap="flat" cmpd="sng" w="7150">
            <a:solidFill>
              <a:schemeClr val="accent1"/>
            </a:solidFill>
            <a:prstDash val="solid"/>
            <a:miter lim="800000"/>
            <a:headEnd len="sm" w="sm" type="none"/>
            <a:tailEnd len="med" w="med" type="triangle"/>
          </a:ln>
        </p:spPr>
      </p:cxnSp>
      <p:cxnSp>
        <p:nvCxnSpPr>
          <p:cNvPr id="781" name="Google Shape;781;p81"/>
          <p:cNvCxnSpPr/>
          <p:nvPr/>
        </p:nvCxnSpPr>
        <p:spPr>
          <a:xfrm>
            <a:off x="4702373" y="1067990"/>
            <a:ext cx="794700" cy="192600"/>
          </a:xfrm>
          <a:prstGeom prst="straightConnector1">
            <a:avLst/>
          </a:prstGeom>
          <a:noFill/>
          <a:ln cap="flat" cmpd="sng" w="7150">
            <a:solidFill>
              <a:schemeClr val="accent1"/>
            </a:solidFill>
            <a:prstDash val="solid"/>
            <a:miter lim="800000"/>
            <a:headEnd len="sm" w="sm" type="none"/>
            <a:tailEnd len="med" w="med" type="triangle"/>
          </a:ln>
        </p:spPr>
      </p:cxnSp>
      <p:cxnSp>
        <p:nvCxnSpPr>
          <p:cNvPr id="782" name="Google Shape;782;p81"/>
          <p:cNvCxnSpPr/>
          <p:nvPr/>
        </p:nvCxnSpPr>
        <p:spPr>
          <a:xfrm>
            <a:off x="4702373" y="1320404"/>
            <a:ext cx="760800" cy="426300"/>
          </a:xfrm>
          <a:prstGeom prst="straightConnector1">
            <a:avLst/>
          </a:prstGeom>
          <a:noFill/>
          <a:ln cap="flat" cmpd="sng" w="7150">
            <a:solidFill>
              <a:schemeClr val="accent1"/>
            </a:solidFill>
            <a:prstDash val="solid"/>
            <a:miter lim="800000"/>
            <a:headEnd len="sm" w="sm" type="none"/>
            <a:tailEnd len="med" w="med" type="triangle"/>
          </a:ln>
        </p:spPr>
      </p:cxnSp>
      <p:sp>
        <p:nvSpPr>
          <p:cNvPr id="783" name="Google Shape;783;p81"/>
          <p:cNvSpPr/>
          <p:nvPr/>
        </p:nvSpPr>
        <p:spPr>
          <a:xfrm>
            <a:off x="5579268" y="75012"/>
            <a:ext cx="1696800" cy="9741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Library size distribution; Number of uniquely expressed genes per cell</a:t>
            </a:r>
            <a:endParaRPr sz="1100"/>
          </a:p>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84" name="Google Shape;784;p81"/>
          <p:cNvSpPr/>
          <p:nvPr/>
        </p:nvSpPr>
        <p:spPr>
          <a:xfrm>
            <a:off x="5609630" y="1211769"/>
            <a:ext cx="1696800" cy="4044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Number of cells each gene is expressed in</a:t>
            </a:r>
            <a:endParaRPr sz="1100"/>
          </a:p>
        </p:txBody>
      </p:sp>
      <p:sp>
        <p:nvSpPr>
          <p:cNvPr id="785" name="Google Shape;785;p81"/>
          <p:cNvSpPr/>
          <p:nvPr/>
        </p:nvSpPr>
        <p:spPr>
          <a:xfrm>
            <a:off x="5579268" y="1771052"/>
            <a:ext cx="1696800" cy="4044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MT-content</a:t>
            </a:r>
            <a:endParaRPr sz="1100"/>
          </a:p>
        </p:txBody>
      </p:sp>
      <p:sp>
        <p:nvSpPr>
          <p:cNvPr id="786" name="Google Shape;786;p81"/>
          <p:cNvSpPr/>
          <p:nvPr/>
        </p:nvSpPr>
        <p:spPr>
          <a:xfrm>
            <a:off x="7608094" y="345876"/>
            <a:ext cx="525000" cy="1829400"/>
          </a:xfrm>
          <a:prstGeom prst="rightBrace">
            <a:avLst>
              <a:gd fmla="val 8333" name="adj1"/>
              <a:gd fmla="val 50000" name="adj2"/>
            </a:avLst>
          </a:prstGeom>
          <a:noFill/>
          <a:ln cap="flat" cmpd="sng" w="214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787" name="Google Shape;787;p81"/>
          <p:cNvCxnSpPr/>
          <p:nvPr/>
        </p:nvCxnSpPr>
        <p:spPr>
          <a:xfrm>
            <a:off x="8037602" y="1255136"/>
            <a:ext cx="514500" cy="0"/>
          </a:xfrm>
          <a:prstGeom prst="straightConnector1">
            <a:avLst/>
          </a:prstGeom>
          <a:noFill/>
          <a:ln cap="flat" cmpd="sng" w="21425">
            <a:solidFill>
              <a:schemeClr val="accent1"/>
            </a:solidFill>
            <a:prstDash val="solid"/>
            <a:miter lim="800000"/>
            <a:headEnd len="sm" w="sm" type="none"/>
            <a:tailEnd len="sm" w="sm" type="none"/>
          </a:ln>
        </p:spPr>
      </p:cxnSp>
      <p:cxnSp>
        <p:nvCxnSpPr>
          <p:cNvPr id="788" name="Google Shape;788;p81"/>
          <p:cNvCxnSpPr/>
          <p:nvPr/>
        </p:nvCxnSpPr>
        <p:spPr>
          <a:xfrm rot="10800000">
            <a:off x="8547047" y="1260610"/>
            <a:ext cx="21900" cy="1696200"/>
          </a:xfrm>
          <a:prstGeom prst="straightConnector1">
            <a:avLst/>
          </a:prstGeom>
          <a:noFill/>
          <a:ln cap="flat" cmpd="sng" w="21425">
            <a:solidFill>
              <a:schemeClr val="accent1"/>
            </a:solidFill>
            <a:prstDash val="solid"/>
            <a:miter lim="800000"/>
            <a:headEnd len="sm" w="sm" type="none"/>
            <a:tailEnd len="sm" w="sm" type="none"/>
          </a:ln>
        </p:spPr>
      </p:cxnSp>
      <p:cxnSp>
        <p:nvCxnSpPr>
          <p:cNvPr id="789" name="Google Shape;789;p81"/>
          <p:cNvCxnSpPr/>
          <p:nvPr/>
        </p:nvCxnSpPr>
        <p:spPr>
          <a:xfrm rot="10800000">
            <a:off x="8043947" y="2956810"/>
            <a:ext cx="525000" cy="0"/>
          </a:xfrm>
          <a:prstGeom prst="straightConnector1">
            <a:avLst/>
          </a:prstGeom>
          <a:noFill/>
          <a:ln cap="flat" cmpd="sng" w="21425">
            <a:solidFill>
              <a:schemeClr val="accent1"/>
            </a:solidFill>
            <a:prstDash val="solid"/>
            <a:miter lim="800000"/>
            <a:headEnd len="sm" w="sm" type="none"/>
            <a:tailEnd len="med" w="med" type="triangle"/>
          </a:ln>
        </p:spPr>
      </p:cxnSp>
      <p:sp>
        <p:nvSpPr>
          <p:cNvPr id="790" name="Google Shape;790;p81"/>
          <p:cNvSpPr/>
          <p:nvPr/>
        </p:nvSpPr>
        <p:spPr>
          <a:xfrm>
            <a:off x="6355249" y="2710010"/>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Data Normalization (Median library size + log transformation)</a:t>
            </a:r>
            <a:endParaRPr sz="1100"/>
          </a:p>
        </p:txBody>
      </p:sp>
      <p:sp>
        <p:nvSpPr>
          <p:cNvPr id="791" name="Google Shape;791;p81"/>
          <p:cNvSpPr/>
          <p:nvPr/>
        </p:nvSpPr>
        <p:spPr>
          <a:xfrm>
            <a:off x="4131306" y="2675929"/>
            <a:ext cx="16824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PCA, dimensionality reduction</a:t>
            </a:r>
            <a:endParaRPr sz="1100"/>
          </a:p>
        </p:txBody>
      </p:sp>
      <p:sp>
        <p:nvSpPr>
          <p:cNvPr id="792" name="Google Shape;792;p81"/>
          <p:cNvSpPr/>
          <p:nvPr/>
        </p:nvSpPr>
        <p:spPr>
          <a:xfrm>
            <a:off x="1026914" y="2175269"/>
            <a:ext cx="1682400" cy="3858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Visualization: UMAP</a:t>
            </a:r>
            <a:endParaRPr sz="1100"/>
          </a:p>
        </p:txBody>
      </p:sp>
      <p:cxnSp>
        <p:nvCxnSpPr>
          <p:cNvPr id="793" name="Google Shape;793;p81"/>
          <p:cNvCxnSpPr/>
          <p:nvPr/>
        </p:nvCxnSpPr>
        <p:spPr>
          <a:xfrm rot="10800000">
            <a:off x="2763902" y="2448611"/>
            <a:ext cx="522300" cy="426000"/>
          </a:xfrm>
          <a:prstGeom prst="straightConnector1">
            <a:avLst/>
          </a:prstGeom>
          <a:noFill/>
          <a:ln cap="flat" cmpd="sng" w="7150">
            <a:solidFill>
              <a:schemeClr val="accent1"/>
            </a:solidFill>
            <a:prstDash val="solid"/>
            <a:miter lim="800000"/>
            <a:headEnd len="sm" w="sm" type="none"/>
            <a:tailEnd len="med" w="med" type="triangle"/>
          </a:ln>
        </p:spPr>
      </p:cxnSp>
      <p:cxnSp>
        <p:nvCxnSpPr>
          <p:cNvPr id="794" name="Google Shape;794;p81"/>
          <p:cNvCxnSpPr/>
          <p:nvPr/>
        </p:nvCxnSpPr>
        <p:spPr>
          <a:xfrm rot="10800000">
            <a:off x="3844565" y="3110821"/>
            <a:ext cx="960300" cy="0"/>
          </a:xfrm>
          <a:prstGeom prst="straightConnector1">
            <a:avLst/>
          </a:prstGeom>
          <a:noFill/>
          <a:ln cap="flat" cmpd="sng" w="21425">
            <a:solidFill>
              <a:schemeClr val="accent1"/>
            </a:solidFill>
            <a:prstDash val="solid"/>
            <a:miter lim="800000"/>
            <a:headEnd len="sm" w="sm" type="none"/>
            <a:tailEnd len="med" w="med" type="triangle"/>
          </a:ln>
        </p:spPr>
      </p:cxnSp>
      <p:cxnSp>
        <p:nvCxnSpPr>
          <p:cNvPr id="795" name="Google Shape;795;p81"/>
          <p:cNvCxnSpPr/>
          <p:nvPr/>
        </p:nvCxnSpPr>
        <p:spPr>
          <a:xfrm rot="10800000">
            <a:off x="2763850" y="3022108"/>
            <a:ext cx="857100" cy="0"/>
          </a:xfrm>
          <a:prstGeom prst="straightConnector1">
            <a:avLst/>
          </a:prstGeom>
          <a:noFill/>
          <a:ln cap="flat" cmpd="sng" w="7150">
            <a:solidFill>
              <a:schemeClr val="accent1"/>
            </a:solidFill>
            <a:prstDash val="solid"/>
            <a:miter lim="800000"/>
            <a:headEnd len="sm" w="sm" type="none"/>
            <a:tailEnd len="med" w="med" type="triangle"/>
          </a:ln>
        </p:spPr>
      </p:cxnSp>
      <p:cxnSp>
        <p:nvCxnSpPr>
          <p:cNvPr id="796" name="Google Shape;796;p81"/>
          <p:cNvCxnSpPr/>
          <p:nvPr/>
        </p:nvCxnSpPr>
        <p:spPr>
          <a:xfrm flipH="1">
            <a:off x="2689137" y="3067075"/>
            <a:ext cx="681600" cy="490500"/>
          </a:xfrm>
          <a:prstGeom prst="straightConnector1">
            <a:avLst/>
          </a:prstGeom>
          <a:noFill/>
          <a:ln cap="flat" cmpd="sng" w="7150">
            <a:solidFill>
              <a:schemeClr val="accent1"/>
            </a:solidFill>
            <a:prstDash val="solid"/>
            <a:miter lim="800000"/>
            <a:headEnd len="sm" w="sm" type="none"/>
            <a:tailEnd len="med" w="med" type="triangle"/>
          </a:ln>
        </p:spPr>
      </p:cxnSp>
      <p:sp>
        <p:nvSpPr>
          <p:cNvPr id="797" name="Google Shape;797;p81"/>
          <p:cNvSpPr/>
          <p:nvPr/>
        </p:nvSpPr>
        <p:spPr>
          <a:xfrm>
            <a:off x="1026914" y="2733069"/>
            <a:ext cx="1682400" cy="5118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Clustering: Leiden</a:t>
            </a:r>
            <a:endParaRPr sz="1100"/>
          </a:p>
        </p:txBody>
      </p:sp>
      <p:sp>
        <p:nvSpPr>
          <p:cNvPr id="798" name="Google Shape;798;p81"/>
          <p:cNvSpPr/>
          <p:nvPr/>
        </p:nvSpPr>
        <p:spPr>
          <a:xfrm>
            <a:off x="1083125" y="3356371"/>
            <a:ext cx="1581300" cy="297600"/>
          </a:xfrm>
          <a:prstGeom prst="rect">
            <a:avLst/>
          </a:prstGeom>
          <a:solidFill>
            <a:srgbClr val="D0CECE"/>
          </a:solidFill>
          <a:ln cap="flat" cmpd="sng" w="9525">
            <a:solidFill>
              <a:srgbClr val="D0CEC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Imputation</a:t>
            </a:r>
            <a:endParaRPr sz="1100"/>
          </a:p>
        </p:txBody>
      </p:sp>
      <p:cxnSp>
        <p:nvCxnSpPr>
          <p:cNvPr id="799" name="Google Shape;799;p81"/>
          <p:cNvCxnSpPr/>
          <p:nvPr/>
        </p:nvCxnSpPr>
        <p:spPr>
          <a:xfrm>
            <a:off x="1868090" y="3856222"/>
            <a:ext cx="0" cy="393600"/>
          </a:xfrm>
          <a:prstGeom prst="straightConnector1">
            <a:avLst/>
          </a:prstGeom>
          <a:noFill/>
          <a:ln cap="flat" cmpd="sng" w="21425">
            <a:solidFill>
              <a:schemeClr val="accent1"/>
            </a:solidFill>
            <a:prstDash val="solid"/>
            <a:miter lim="800000"/>
            <a:headEnd len="sm" w="sm" type="none"/>
            <a:tailEnd len="med" w="med" type="triangle"/>
          </a:ln>
        </p:spPr>
      </p:cxnSp>
      <p:sp>
        <p:nvSpPr>
          <p:cNvPr id="800" name="Google Shape;800;p81"/>
          <p:cNvSpPr txBox="1"/>
          <p:nvPr>
            <p:ph idx="4294967295" type="sldNum"/>
          </p:nvPr>
        </p:nvSpPr>
        <p:spPr>
          <a:xfrm>
            <a:off x="8595225" y="4887300"/>
            <a:ext cx="548700" cy="256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cxnSp>
        <p:nvCxnSpPr>
          <p:cNvPr id="801" name="Google Shape;801;p81"/>
          <p:cNvCxnSpPr/>
          <p:nvPr/>
        </p:nvCxnSpPr>
        <p:spPr>
          <a:xfrm rot="10800000">
            <a:off x="5823949" y="2993923"/>
            <a:ext cx="531300" cy="600"/>
          </a:xfrm>
          <a:prstGeom prst="straightConnector1">
            <a:avLst/>
          </a:prstGeom>
          <a:noFill/>
          <a:ln cap="flat" cmpd="sng" w="21425">
            <a:solidFill>
              <a:schemeClr val="accent1"/>
            </a:solidFill>
            <a:prstDash val="solid"/>
            <a:miter lim="800000"/>
            <a:headEnd len="sm" w="sm" type="none"/>
            <a:tailEnd len="med" w="med" type="triangle"/>
          </a:ln>
        </p:spPr>
      </p:cxnSp>
      <p:sp>
        <p:nvSpPr>
          <p:cNvPr id="802" name="Google Shape;802;p81"/>
          <p:cNvSpPr/>
          <p:nvPr/>
        </p:nvSpPr>
        <p:spPr>
          <a:xfrm rot="10800000">
            <a:off x="445326" y="2175305"/>
            <a:ext cx="357900" cy="1501500"/>
          </a:xfrm>
          <a:prstGeom prst="rightBrace">
            <a:avLst>
              <a:gd fmla="val 116748" name="adj1"/>
              <a:gd fmla="val 54302" name="adj2"/>
            </a:avLst>
          </a:prstGeom>
          <a:noFill/>
          <a:ln cap="flat" cmpd="sng" w="214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803" name="Google Shape;803;p81"/>
          <p:cNvCxnSpPr/>
          <p:nvPr/>
        </p:nvCxnSpPr>
        <p:spPr>
          <a:xfrm>
            <a:off x="246460" y="2848894"/>
            <a:ext cx="257100" cy="0"/>
          </a:xfrm>
          <a:prstGeom prst="straightConnector1">
            <a:avLst/>
          </a:prstGeom>
          <a:noFill/>
          <a:ln cap="flat" cmpd="sng" w="21425">
            <a:solidFill>
              <a:schemeClr val="accent1"/>
            </a:solidFill>
            <a:prstDash val="solid"/>
            <a:miter lim="800000"/>
            <a:headEnd len="sm" w="sm" type="none"/>
            <a:tailEnd len="sm" w="sm" type="none"/>
          </a:ln>
        </p:spPr>
      </p:cxnSp>
      <p:cxnSp>
        <p:nvCxnSpPr>
          <p:cNvPr id="804" name="Google Shape;804;p81"/>
          <p:cNvCxnSpPr/>
          <p:nvPr/>
        </p:nvCxnSpPr>
        <p:spPr>
          <a:xfrm rot="10800000">
            <a:off x="246401" y="2848822"/>
            <a:ext cx="19800" cy="1007400"/>
          </a:xfrm>
          <a:prstGeom prst="straightConnector1">
            <a:avLst/>
          </a:prstGeom>
          <a:noFill/>
          <a:ln cap="flat" cmpd="sng" w="21425">
            <a:solidFill>
              <a:schemeClr val="accent1"/>
            </a:solidFill>
            <a:prstDash val="solid"/>
            <a:miter lim="800000"/>
            <a:headEnd len="sm" w="sm" type="none"/>
            <a:tailEnd len="sm" w="sm" type="none"/>
          </a:ln>
        </p:spPr>
      </p:cxnSp>
      <p:sp>
        <p:nvSpPr>
          <p:cNvPr id="805" name="Google Shape;805;p81"/>
          <p:cNvSpPr/>
          <p:nvPr/>
        </p:nvSpPr>
        <p:spPr>
          <a:xfrm>
            <a:off x="1107596" y="4244692"/>
            <a:ext cx="2513400" cy="543000"/>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Differential Expression, GSEA</a:t>
            </a:r>
            <a:endParaRPr sz="1100"/>
          </a:p>
        </p:txBody>
      </p:sp>
      <p:sp>
        <p:nvSpPr>
          <p:cNvPr id="806" name="Google Shape;806;p81"/>
          <p:cNvSpPr/>
          <p:nvPr/>
        </p:nvSpPr>
        <p:spPr>
          <a:xfrm>
            <a:off x="3782773" y="4258310"/>
            <a:ext cx="2513400" cy="543000"/>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Trajectory Inference, Factor Analysis</a:t>
            </a:r>
            <a:endParaRPr sz="1100"/>
          </a:p>
        </p:txBody>
      </p:sp>
      <p:cxnSp>
        <p:nvCxnSpPr>
          <p:cNvPr id="807" name="Google Shape;807;p81"/>
          <p:cNvCxnSpPr/>
          <p:nvPr/>
        </p:nvCxnSpPr>
        <p:spPr>
          <a:xfrm>
            <a:off x="1615640" y="3856222"/>
            <a:ext cx="3390900" cy="0"/>
          </a:xfrm>
          <a:prstGeom prst="straightConnector1">
            <a:avLst/>
          </a:prstGeom>
          <a:noFill/>
          <a:ln cap="flat" cmpd="sng" w="21425">
            <a:solidFill>
              <a:schemeClr val="accent1"/>
            </a:solidFill>
            <a:prstDash val="solid"/>
            <a:miter lim="800000"/>
            <a:headEnd len="sm" w="sm" type="none"/>
            <a:tailEnd len="sm" w="sm" type="none"/>
          </a:ln>
        </p:spPr>
      </p:cxnSp>
      <p:cxnSp>
        <p:nvCxnSpPr>
          <p:cNvPr id="808" name="Google Shape;808;p81"/>
          <p:cNvCxnSpPr/>
          <p:nvPr/>
        </p:nvCxnSpPr>
        <p:spPr>
          <a:xfrm>
            <a:off x="5006655" y="3864800"/>
            <a:ext cx="0" cy="393600"/>
          </a:xfrm>
          <a:prstGeom prst="straightConnector1">
            <a:avLst/>
          </a:prstGeom>
          <a:noFill/>
          <a:ln cap="flat" cmpd="sng" w="21425">
            <a:solidFill>
              <a:schemeClr val="accent1"/>
            </a:solidFill>
            <a:prstDash val="solid"/>
            <a:miter lim="800000"/>
            <a:headEnd len="sm" w="sm" type="none"/>
            <a:tailEnd len="med" w="med" type="triangle"/>
          </a:ln>
        </p:spPr>
      </p:cxnSp>
      <p:cxnSp>
        <p:nvCxnSpPr>
          <p:cNvPr id="809" name="Google Shape;809;p81"/>
          <p:cNvCxnSpPr/>
          <p:nvPr/>
        </p:nvCxnSpPr>
        <p:spPr>
          <a:xfrm>
            <a:off x="267813" y="3856222"/>
            <a:ext cx="1606200" cy="0"/>
          </a:xfrm>
          <a:prstGeom prst="straightConnector1">
            <a:avLst/>
          </a:prstGeom>
          <a:noFill/>
          <a:ln cap="flat" cmpd="sng" w="21425">
            <a:solidFill>
              <a:schemeClr val="accent1"/>
            </a:solidFill>
            <a:prstDash val="solid"/>
            <a:miter lim="800000"/>
            <a:headEnd len="sm" w="sm" type="none"/>
            <a:tailEnd len="sm" w="sm" type="none"/>
          </a:ln>
        </p:spPr>
      </p:cxnSp>
      <p:sp>
        <p:nvSpPr>
          <p:cNvPr id="810" name="Google Shape;810;p81"/>
          <p:cNvSpPr/>
          <p:nvPr/>
        </p:nvSpPr>
        <p:spPr>
          <a:xfrm>
            <a:off x="3029735" y="2675929"/>
            <a:ext cx="815100" cy="771600"/>
          </a:xfrm>
          <a:prstGeom prst="rect">
            <a:avLst/>
          </a:prstGeom>
          <a:solidFill>
            <a:schemeClr val="accent1"/>
          </a:solidFill>
          <a:ln cap="flat" cmpd="sng" w="9525">
            <a:solidFill>
              <a:srgbClr val="42719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Graph</a:t>
            </a:r>
            <a:endParaRPr sz="1400">
              <a:solidFill>
                <a:schemeClr val="lt1"/>
              </a:solidFill>
              <a:latin typeface="Calibri"/>
              <a:ea typeface="Calibri"/>
              <a:cs typeface="Calibri"/>
              <a:sym typeface="Calibri"/>
            </a:endParaRPr>
          </a:p>
        </p:txBody>
      </p:sp>
      <p:cxnSp>
        <p:nvCxnSpPr>
          <p:cNvPr id="811" name="Google Shape;811;p81"/>
          <p:cNvCxnSpPr/>
          <p:nvPr/>
        </p:nvCxnSpPr>
        <p:spPr>
          <a:xfrm>
            <a:off x="6421877" y="2444946"/>
            <a:ext cx="2124900" cy="9600"/>
          </a:xfrm>
          <a:prstGeom prst="straightConnector1">
            <a:avLst/>
          </a:prstGeom>
          <a:noFill/>
          <a:ln cap="flat" cmpd="sng" w="7150">
            <a:solidFill>
              <a:schemeClr val="accent1"/>
            </a:solidFill>
            <a:prstDash val="solid"/>
            <a:miter lim="800000"/>
            <a:headEnd len="sm" w="sm" type="none"/>
            <a:tailEnd len="med" w="med" type="triangle"/>
          </a:ln>
        </p:spPr>
      </p:cxnSp>
      <p:sp>
        <p:nvSpPr>
          <p:cNvPr id="812" name="Google Shape;812;p81"/>
          <p:cNvSpPr/>
          <p:nvPr/>
        </p:nvSpPr>
        <p:spPr>
          <a:xfrm>
            <a:off x="4702373" y="2317366"/>
            <a:ext cx="1682400" cy="241800"/>
          </a:xfrm>
          <a:prstGeom prst="rect">
            <a:avLst/>
          </a:prstGeom>
          <a:solidFill>
            <a:srgbClr val="D0CECE"/>
          </a:solidFill>
          <a:ln cap="flat" cmpd="sng" w="9525">
            <a:solidFill>
              <a:srgbClr val="D0CEC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400">
                <a:solidFill>
                  <a:schemeClr val="lt1"/>
                </a:solidFill>
                <a:latin typeface="Calibri"/>
                <a:ea typeface="Calibri"/>
                <a:cs typeface="Calibri"/>
                <a:sym typeface="Calibri"/>
              </a:rPr>
              <a:t>Doublet Detection</a:t>
            </a:r>
            <a:endParaRPr sz="1100"/>
          </a:p>
        </p:txBody>
      </p:sp>
      <p:cxnSp>
        <p:nvCxnSpPr>
          <p:cNvPr id="813" name="Google Shape;813;p81"/>
          <p:cNvCxnSpPr/>
          <p:nvPr/>
        </p:nvCxnSpPr>
        <p:spPr>
          <a:xfrm flipH="1" rot="10800000">
            <a:off x="3432956" y="2454341"/>
            <a:ext cx="4800" cy="511200"/>
          </a:xfrm>
          <a:prstGeom prst="straightConnector1">
            <a:avLst/>
          </a:prstGeom>
          <a:noFill/>
          <a:ln cap="flat" cmpd="sng" w="7150">
            <a:solidFill>
              <a:schemeClr val="accent1"/>
            </a:solidFill>
            <a:prstDash val="solid"/>
            <a:miter lim="800000"/>
            <a:headEnd len="sm" w="sm" type="none"/>
            <a:tailEnd len="med" w="med" type="triangle"/>
          </a:ln>
        </p:spPr>
      </p:cxnSp>
      <p:cxnSp>
        <p:nvCxnSpPr>
          <p:cNvPr id="814" name="Google Shape;814;p81"/>
          <p:cNvCxnSpPr/>
          <p:nvPr/>
        </p:nvCxnSpPr>
        <p:spPr>
          <a:xfrm>
            <a:off x="3437773" y="2450901"/>
            <a:ext cx="1246200" cy="2100"/>
          </a:xfrm>
          <a:prstGeom prst="straightConnector1">
            <a:avLst/>
          </a:prstGeom>
          <a:noFill/>
          <a:ln cap="flat" cmpd="sng" w="7150">
            <a:solidFill>
              <a:schemeClr val="accent1"/>
            </a:solidFill>
            <a:prstDash val="solid"/>
            <a:miter lim="800000"/>
            <a:headEnd len="sm" w="sm" type="none"/>
            <a:tailEnd len="med" w="med" type="triangl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82"/>
          <p:cNvSpPr txBox="1"/>
          <p:nvPr>
            <p:ph type="title"/>
          </p:nvPr>
        </p:nvSpPr>
        <p:spPr>
          <a:xfrm>
            <a:off x="233775" y="333769"/>
            <a:ext cx="6390600" cy="4296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Happy learning! 🤓</a:t>
            </a:r>
            <a:endParaRPr/>
          </a:p>
        </p:txBody>
      </p:sp>
      <p:sp>
        <p:nvSpPr>
          <p:cNvPr id="820" name="Google Shape;820;p82"/>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821" name="Google Shape;821;p82"/>
          <p:cNvSpPr txBox="1"/>
          <p:nvPr/>
        </p:nvSpPr>
        <p:spPr>
          <a:xfrm>
            <a:off x="1038225" y="1310879"/>
            <a:ext cx="4572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u="sng">
                <a:solidFill>
                  <a:schemeClr val="dk1"/>
                </a:solidFill>
                <a:latin typeface="Calibri"/>
                <a:ea typeface="Calibri"/>
                <a:cs typeface="Calibri"/>
                <a:sym typeface="Calibri"/>
                <a:hlinkClick r:id="rId3">
                  <a:extLst>
                    <a:ext uri="{A12FA001-AC4F-418D-AE19-62706E023703}">
                      <ahyp:hlinkClr val="tx"/>
                    </a:ext>
                  </a:extLst>
                </a:hlinkClick>
              </a:rPr>
              <a:t>www.youtube.com/@scverse</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Youtube, logo icon - Free download on Iconfinder" id="822" name="Google Shape;822;p82"/>
          <p:cNvPicPr preferRelativeResize="0"/>
          <p:nvPr/>
        </p:nvPicPr>
        <p:blipFill rotWithShape="1">
          <a:blip r:embed="rId4">
            <a:alphaModFix/>
          </a:blip>
          <a:srcRect b="0" l="0" r="0" t="0"/>
          <a:stretch/>
        </p:blipFill>
        <p:spPr>
          <a:xfrm>
            <a:off x="628650" y="1268016"/>
            <a:ext cx="381000" cy="381000"/>
          </a:xfrm>
          <a:prstGeom prst="rect">
            <a:avLst/>
          </a:prstGeom>
          <a:noFill/>
          <a:ln>
            <a:noFill/>
          </a:ln>
        </p:spPr>
      </p:pic>
      <p:pic>
        <p:nvPicPr>
          <p:cNvPr descr="alt text" id="823" name="Google Shape;823;p82"/>
          <p:cNvPicPr preferRelativeResize="0"/>
          <p:nvPr/>
        </p:nvPicPr>
        <p:blipFill rotWithShape="1">
          <a:blip r:embed="rId5">
            <a:alphaModFix/>
          </a:blip>
          <a:srcRect b="0" l="0" r="0" t="0"/>
          <a:stretch/>
        </p:blipFill>
        <p:spPr>
          <a:xfrm>
            <a:off x="668980" y="1795627"/>
            <a:ext cx="340671" cy="484748"/>
          </a:xfrm>
          <a:prstGeom prst="rect">
            <a:avLst/>
          </a:prstGeom>
          <a:noFill/>
          <a:ln>
            <a:noFill/>
          </a:ln>
        </p:spPr>
      </p:pic>
      <p:sp>
        <p:nvSpPr>
          <p:cNvPr id="824" name="Google Shape;824;p82"/>
          <p:cNvSpPr txBox="1"/>
          <p:nvPr/>
        </p:nvSpPr>
        <p:spPr>
          <a:xfrm>
            <a:off x="1038225" y="1899501"/>
            <a:ext cx="4572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u="sng">
                <a:solidFill>
                  <a:schemeClr val="dk1"/>
                </a:solidFill>
                <a:latin typeface="Calibri"/>
                <a:ea typeface="Calibri"/>
                <a:cs typeface="Calibri"/>
                <a:sym typeface="Calibri"/>
                <a:hlinkClick r:id="rId6">
                  <a:extLst>
                    <a:ext uri="{A12FA001-AC4F-418D-AE19-62706E023703}">
                      <ahyp:hlinkClr val="tx"/>
                    </a:ext>
                  </a:extLst>
                </a:hlinkClick>
              </a:rPr>
              <a:t>https://www.sc-best-practices.org/</a:t>
            </a:r>
            <a:endParaRPr sz="1400">
              <a:solidFill>
                <a:schemeClr val="dk1"/>
              </a:solidFill>
              <a:latin typeface="Calibri"/>
              <a:ea typeface="Calibri"/>
              <a:cs typeface="Calibri"/>
              <a:sym typeface="Calibri"/>
            </a:endParaRPr>
          </a:p>
        </p:txBody>
      </p:sp>
      <p:sp>
        <p:nvSpPr>
          <p:cNvPr id="825" name="Google Shape;825;p82"/>
          <p:cNvSpPr txBox="1"/>
          <p:nvPr/>
        </p:nvSpPr>
        <p:spPr>
          <a:xfrm>
            <a:off x="1052380" y="2433251"/>
            <a:ext cx="4572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u="sng">
                <a:solidFill>
                  <a:schemeClr val="dk1"/>
                </a:solidFill>
                <a:latin typeface="Calibri"/>
                <a:ea typeface="Calibri"/>
                <a:cs typeface="Calibri"/>
                <a:sym typeface="Calibri"/>
                <a:hlinkClick r:id="rId7">
                  <a:extLst>
                    <a:ext uri="{A12FA001-AC4F-418D-AE19-62706E023703}">
                      <ahyp:hlinkClr val="tx"/>
                    </a:ext>
                  </a:extLst>
                </a:hlinkClick>
              </a:rPr>
              <a:t>https://scverse.org/learn/</a:t>
            </a:r>
            <a:endParaRPr sz="1400">
              <a:solidFill>
                <a:schemeClr val="dk1"/>
              </a:solidFill>
              <a:latin typeface="Calibri"/>
              <a:ea typeface="Calibri"/>
              <a:cs typeface="Calibri"/>
              <a:sym typeface="Calibri"/>
            </a:endParaRPr>
          </a:p>
        </p:txBody>
      </p:sp>
      <p:pic>
        <p:nvPicPr>
          <p:cNvPr id="826" name="Google Shape;826;p82"/>
          <p:cNvPicPr preferRelativeResize="0"/>
          <p:nvPr/>
        </p:nvPicPr>
        <p:blipFill rotWithShape="1">
          <a:blip r:embed="rId8">
            <a:alphaModFix/>
          </a:blip>
          <a:srcRect b="0" l="0" r="0" t="0"/>
          <a:stretch/>
        </p:blipFill>
        <p:spPr>
          <a:xfrm>
            <a:off x="668980" y="2426986"/>
            <a:ext cx="383400" cy="383400"/>
          </a:xfrm>
          <a:prstGeom prst="rect">
            <a:avLst/>
          </a:prstGeom>
          <a:noFill/>
          <a:ln>
            <a:noFill/>
          </a:ln>
        </p:spPr>
      </p:pic>
      <p:sp>
        <p:nvSpPr>
          <p:cNvPr id="827" name="Google Shape;827;p82"/>
          <p:cNvSpPr txBox="1"/>
          <p:nvPr/>
        </p:nvSpPr>
        <p:spPr>
          <a:xfrm>
            <a:off x="628650" y="3341735"/>
            <a:ext cx="7886700" cy="9942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3300"/>
              <a:buFont typeface="Calibri"/>
              <a:buNone/>
            </a:pPr>
            <a:r>
              <a:rPr lang="en" sz="3300">
                <a:solidFill>
                  <a:schemeClr val="dk1"/>
                </a:solidFill>
                <a:latin typeface="Calibri"/>
                <a:ea typeface="Calibri"/>
                <a:cs typeface="Calibri"/>
                <a:sym typeface="Calibri"/>
              </a:rPr>
              <a:t>Questions? </a:t>
            </a:r>
            <a:endParaRPr sz="1100"/>
          </a:p>
          <a:p>
            <a:pPr indent="0" lvl="0" marL="0" marR="0" rtl="0" algn="l">
              <a:lnSpc>
                <a:spcPct val="90000"/>
              </a:lnSpc>
              <a:spcBef>
                <a:spcPts val="0"/>
              </a:spcBef>
              <a:spcAft>
                <a:spcPts val="0"/>
              </a:spcAft>
              <a:buClr>
                <a:schemeClr val="dk1"/>
              </a:buClr>
              <a:buSzPts val="2100"/>
              <a:buFont typeface="Calibri"/>
              <a:buNone/>
            </a:pPr>
            <a:r>
              <a:rPr lang="en" sz="2100">
                <a:solidFill>
                  <a:schemeClr val="dk1"/>
                </a:solidFill>
                <a:latin typeface="Calibri"/>
                <a:ea typeface="Calibri"/>
                <a:cs typeface="Calibri"/>
                <a:sym typeface="Calibri"/>
              </a:rPr>
              <a:t>Hands on coding</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