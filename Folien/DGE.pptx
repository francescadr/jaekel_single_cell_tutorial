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Play"/>
      <p:regular r:id="rId21"/>
      <p:bold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54AkERxq11AgSAwyueNtQVsFYv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0BA4D9-C42D-4B95-9EE6-BF21869DC8B5}">
  <a:tblStyle styleId="{DF0BA4D9-C42D-4B95-9EE6-BF21869DC8B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lay-bold.fntdata"/><Relationship Id="rId21" Type="http://schemas.openxmlformats.org/officeDocument/2006/relationships/font" Target="fonts/Play-regular.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ato-boldItalic.fntdata"/><Relationship Id="rId25" Type="http://schemas.openxmlformats.org/officeDocument/2006/relationships/font" Target="fonts/Lato-italic.fntdata"/><Relationship Id="rId27" Type="http://customschemas.google.com/relationships/presentationmetadata" Target="meta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DE"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6d3243cff_0_2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b6d3243cff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b6d3243cff_0_2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3b6d3243cff_0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DE"/>
              <a:t>Do these pseudo replicates correspond to “cell subtypes”?</a:t>
            </a:r>
            <a:endParaRPr/>
          </a:p>
        </p:txBody>
      </p:sp>
      <p:sp>
        <p:nvSpPr>
          <p:cNvPr id="246" name="Google Shape;24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DE"/>
              <a:t>Single-cell methods identified genes as DE that are most variable between replicates</a:t>
            </a:r>
            <a:endParaRPr/>
          </a:p>
          <a:p>
            <a:pPr indent="0" lvl="0" marL="0" rtl="0" algn="l">
              <a:spcBef>
                <a:spcPts val="0"/>
              </a:spcBef>
              <a:spcAft>
                <a:spcPts val="0"/>
              </a:spcAft>
              <a:buNone/>
            </a:pPr>
            <a:r>
              <a:rPr lang="en-DE"/>
              <a:t>Pseudobulk abollished false discoveries BUT pseudoreplicates introduced them again</a:t>
            </a:r>
            <a:endParaRPr/>
          </a:p>
        </p:txBody>
      </p:sp>
      <p:sp>
        <p:nvSpPr>
          <p:cNvPr id="253" name="Google Shape;2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6d3243cff_0_2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b6d3243cff_0_2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DE">
                <a:solidFill>
                  <a:srgbClr val="404040"/>
                </a:solidFill>
                <a:latin typeface="Lato"/>
                <a:ea typeface="Lato"/>
                <a:cs typeface="Lato"/>
                <a:sym typeface="Lato"/>
              </a:rPr>
              <a:t>After the annotation of clusters into cell identities, we often would like to perform DEA between conditions within particular cell types to further characterize them. DEA can be performed at the single-cell level, but the obtained p-values are often inflated as each cell is treated as a sample. </a:t>
            </a:r>
            <a:endParaRPr/>
          </a:p>
          <a:p>
            <a:pPr indent="0" lvl="0" marL="0" rtl="0" algn="l">
              <a:spcBef>
                <a:spcPts val="0"/>
              </a:spcBef>
              <a:spcAft>
                <a:spcPts val="0"/>
              </a:spcAft>
              <a:buNone/>
            </a:pPr>
            <a:r>
              <a:t/>
            </a:r>
            <a:endParaRPr b="0" i="0">
              <a:solidFill>
                <a:srgbClr val="404040"/>
              </a:solidFill>
              <a:latin typeface="Lato"/>
              <a:ea typeface="Lato"/>
              <a:cs typeface="Lato"/>
              <a:sym typeface="Lato"/>
            </a:endParaRPr>
          </a:p>
          <a:p>
            <a:pPr indent="0" lvl="0" marL="0" rtl="0" algn="l">
              <a:spcBef>
                <a:spcPts val="0"/>
              </a:spcBef>
              <a:spcAft>
                <a:spcPts val="0"/>
              </a:spcAft>
              <a:buNone/>
            </a:pPr>
            <a:r>
              <a:rPr b="0" i="0" lang="en-DE">
                <a:solidFill>
                  <a:srgbClr val="404040"/>
                </a:solidFill>
                <a:latin typeface="Lato"/>
                <a:ea typeface="Lato"/>
                <a:cs typeface="Lato"/>
                <a:sym typeface="Lato"/>
              </a:rPr>
              <a:t>We know that single cells within a sample are not independent of each other, since they were isolated from the same environment. If we treat cells as samples, we are not testing the variation across a population of samples, rather the variation inside an individual one. Moreover, if a sample has more cells than another it might bias the results.</a:t>
            </a:r>
            <a:endParaRPr/>
          </a:p>
        </p:txBody>
      </p:sp>
      <p:sp>
        <p:nvSpPr>
          <p:cNvPr id="268" name="Google Shape;268;g3b6d3243cff_0_2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b6d3243cff_0_2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3b6d3243cff_0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b6d3243cff_0_3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g3b6d3243cff_0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b6d7c0d90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b6d7c0d904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g3b6d7c0d904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DE"/>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8"/>
          <p:cNvSpPr/>
          <p:nvPr>
            <p:ph idx="2" type="pic"/>
          </p:nvPr>
        </p:nvSpPr>
        <p:spPr>
          <a:xfrm>
            <a:off x="5183188" y="987425"/>
            <a:ext cx="6172200" cy="4873625"/>
          </a:xfrm>
          <a:prstGeom prst="rect">
            <a:avLst/>
          </a:prstGeom>
          <a:noFill/>
          <a:ln>
            <a:noFill/>
          </a:ln>
        </p:spPr>
      </p:sp>
      <p:sp>
        <p:nvSpPr>
          <p:cNvPr id="68" name="Google Shape;68;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8" name="Shape 88"/>
        <p:cNvGrpSpPr/>
        <p:nvPr/>
      </p:nvGrpSpPr>
      <p:grpSpPr>
        <a:xfrm>
          <a:off x="0" y="0"/>
          <a:ext cx="0" cy="0"/>
          <a:chOff x="0" y="0"/>
          <a:chExt cx="0" cy="0"/>
        </a:xfrm>
      </p:grpSpPr>
      <p:sp>
        <p:nvSpPr>
          <p:cNvPr id="89" name="Google Shape;89;g3b6d3243cff_0_373"/>
          <p:cNvSpPr txBox="1"/>
          <p:nvPr>
            <p:ph type="ctrTitle"/>
          </p:nvPr>
        </p:nvSpPr>
        <p:spPr>
          <a:xfrm>
            <a:off x="415611" y="992767"/>
            <a:ext cx="11360700" cy="2736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90" name="Google Shape;90;g3b6d3243cff_0_373"/>
          <p:cNvSpPr txBox="1"/>
          <p:nvPr>
            <p:ph idx="1" type="subTitle"/>
          </p:nvPr>
        </p:nvSpPr>
        <p:spPr>
          <a:xfrm>
            <a:off x="415600" y="3778833"/>
            <a:ext cx="11360700" cy="10569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91" name="Google Shape;91;g3b6d3243cff_0_37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2" name="Shape 92"/>
        <p:cNvGrpSpPr/>
        <p:nvPr/>
      </p:nvGrpSpPr>
      <p:grpSpPr>
        <a:xfrm>
          <a:off x="0" y="0"/>
          <a:ext cx="0" cy="0"/>
          <a:chOff x="0" y="0"/>
          <a:chExt cx="0" cy="0"/>
        </a:xfrm>
      </p:grpSpPr>
      <p:sp>
        <p:nvSpPr>
          <p:cNvPr id="93" name="Google Shape;93;g3b6d3243cff_0_377"/>
          <p:cNvSpPr txBox="1"/>
          <p:nvPr>
            <p:ph type="title"/>
          </p:nvPr>
        </p:nvSpPr>
        <p:spPr>
          <a:xfrm>
            <a:off x="415600" y="2867800"/>
            <a:ext cx="11360700" cy="11223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94" name="Google Shape;94;g3b6d3243cff_0_37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5" name="Shape 95"/>
        <p:cNvGrpSpPr/>
        <p:nvPr/>
      </p:nvGrpSpPr>
      <p:grpSpPr>
        <a:xfrm>
          <a:off x="0" y="0"/>
          <a:ext cx="0" cy="0"/>
          <a:chOff x="0" y="0"/>
          <a:chExt cx="0" cy="0"/>
        </a:xfrm>
      </p:grpSpPr>
      <p:sp>
        <p:nvSpPr>
          <p:cNvPr id="96" name="Google Shape;96;g3b6d3243cff_0_380"/>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7" name="Google Shape;97;g3b6d3243cff_0_380"/>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98" name="Google Shape;98;g3b6d3243cff_0_38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9" name="Shape 99"/>
        <p:cNvGrpSpPr/>
        <p:nvPr/>
      </p:nvGrpSpPr>
      <p:grpSpPr>
        <a:xfrm>
          <a:off x="0" y="0"/>
          <a:ext cx="0" cy="0"/>
          <a:chOff x="0" y="0"/>
          <a:chExt cx="0" cy="0"/>
        </a:xfrm>
      </p:grpSpPr>
      <p:sp>
        <p:nvSpPr>
          <p:cNvPr id="100" name="Google Shape;100;g3b6d3243cff_0_384"/>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1" name="Google Shape;101;g3b6d3243cff_0_384"/>
          <p:cNvSpPr txBox="1"/>
          <p:nvPr>
            <p:ph idx="1" type="body"/>
          </p:nvPr>
        </p:nvSpPr>
        <p:spPr>
          <a:xfrm>
            <a:off x="4156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02" name="Google Shape;102;g3b6d3243cff_0_384"/>
          <p:cNvSpPr txBox="1"/>
          <p:nvPr>
            <p:ph idx="2" type="body"/>
          </p:nvPr>
        </p:nvSpPr>
        <p:spPr>
          <a:xfrm>
            <a:off x="6443200" y="1536633"/>
            <a:ext cx="53331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03" name="Google Shape;103;g3b6d3243cff_0_384"/>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g3b6d3243cff_0_389"/>
          <p:cNvSpPr txBox="1"/>
          <p:nvPr>
            <p:ph type="title"/>
          </p:nvPr>
        </p:nvSpPr>
        <p:spPr>
          <a:xfrm>
            <a:off x="415600" y="593367"/>
            <a:ext cx="11360700" cy="7635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06" name="Google Shape;106;g3b6d3243cff_0_38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sp>
        <p:nvSpPr>
          <p:cNvPr id="108" name="Google Shape;108;g3b6d3243cff_0_392"/>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109" name="Google Shape;109;g3b6d3243cff_0_392"/>
          <p:cNvSpPr txBox="1"/>
          <p:nvPr>
            <p:ph idx="1" type="body"/>
          </p:nvPr>
        </p:nvSpPr>
        <p:spPr>
          <a:xfrm>
            <a:off x="415600" y="1852800"/>
            <a:ext cx="3744000" cy="42393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110" name="Google Shape;110;g3b6d3243cff_0_39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1" name="Shape 111"/>
        <p:cNvGrpSpPr/>
        <p:nvPr/>
      </p:nvGrpSpPr>
      <p:grpSpPr>
        <a:xfrm>
          <a:off x="0" y="0"/>
          <a:ext cx="0" cy="0"/>
          <a:chOff x="0" y="0"/>
          <a:chExt cx="0" cy="0"/>
        </a:xfrm>
      </p:grpSpPr>
      <p:sp>
        <p:nvSpPr>
          <p:cNvPr id="112" name="Google Shape;112;g3b6d3243cff_0_396"/>
          <p:cNvSpPr txBox="1"/>
          <p:nvPr>
            <p:ph type="title"/>
          </p:nvPr>
        </p:nvSpPr>
        <p:spPr>
          <a:xfrm>
            <a:off x="653667" y="600200"/>
            <a:ext cx="8490300" cy="54543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113" name="Google Shape;113;g3b6d3243cff_0_39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4" name="Shape 114"/>
        <p:cNvGrpSpPr/>
        <p:nvPr/>
      </p:nvGrpSpPr>
      <p:grpSpPr>
        <a:xfrm>
          <a:off x="0" y="0"/>
          <a:ext cx="0" cy="0"/>
          <a:chOff x="0" y="0"/>
          <a:chExt cx="0" cy="0"/>
        </a:xfrm>
      </p:grpSpPr>
      <p:sp>
        <p:nvSpPr>
          <p:cNvPr id="115" name="Google Shape;115;g3b6d3243cff_0_39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g3b6d3243cff_0_399"/>
          <p:cNvSpPr txBox="1"/>
          <p:nvPr>
            <p:ph type="title"/>
          </p:nvPr>
        </p:nvSpPr>
        <p:spPr>
          <a:xfrm>
            <a:off x="354000" y="1644233"/>
            <a:ext cx="53937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117" name="Google Shape;117;g3b6d3243cff_0_399"/>
          <p:cNvSpPr txBox="1"/>
          <p:nvPr>
            <p:ph idx="1" type="subTitle"/>
          </p:nvPr>
        </p:nvSpPr>
        <p:spPr>
          <a:xfrm>
            <a:off x="354000" y="3737433"/>
            <a:ext cx="5393700" cy="16467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8" name="Google Shape;118;g3b6d3243cff_0_399"/>
          <p:cNvSpPr txBox="1"/>
          <p:nvPr>
            <p:ph idx="2" type="body"/>
          </p:nvPr>
        </p:nvSpPr>
        <p:spPr>
          <a:xfrm>
            <a:off x="6586000" y="965433"/>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19" name="Google Shape;119;g3b6d3243cff_0_39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g3b6d3243cff_0_405"/>
          <p:cNvSpPr txBox="1"/>
          <p:nvPr>
            <p:ph idx="1" type="body"/>
          </p:nvPr>
        </p:nvSpPr>
        <p:spPr>
          <a:xfrm>
            <a:off x="415600" y="5640767"/>
            <a:ext cx="7998300" cy="8067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122" name="Google Shape;122;g3b6d3243cff_0_405"/>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3" name="Shape 123"/>
        <p:cNvGrpSpPr/>
        <p:nvPr/>
      </p:nvGrpSpPr>
      <p:grpSpPr>
        <a:xfrm>
          <a:off x="0" y="0"/>
          <a:ext cx="0" cy="0"/>
          <a:chOff x="0" y="0"/>
          <a:chExt cx="0" cy="0"/>
        </a:xfrm>
      </p:grpSpPr>
      <p:sp>
        <p:nvSpPr>
          <p:cNvPr id="124" name="Google Shape;124;g3b6d3243cff_0_408"/>
          <p:cNvSpPr txBox="1"/>
          <p:nvPr>
            <p:ph hasCustomPrompt="1" type="title"/>
          </p:nvPr>
        </p:nvSpPr>
        <p:spPr>
          <a:xfrm>
            <a:off x="415600" y="1474833"/>
            <a:ext cx="11360700" cy="26181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125" name="Google Shape;125;g3b6d3243cff_0_408"/>
          <p:cNvSpPr txBox="1"/>
          <p:nvPr>
            <p:ph idx="1" type="body"/>
          </p:nvPr>
        </p:nvSpPr>
        <p:spPr>
          <a:xfrm>
            <a:off x="415600" y="4202967"/>
            <a:ext cx="11360700" cy="17343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126" name="Google Shape;126;g3b6d3243cff_0_408"/>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7" name="Shape 127"/>
        <p:cNvGrpSpPr/>
        <p:nvPr/>
      </p:nvGrpSpPr>
      <p:grpSpPr>
        <a:xfrm>
          <a:off x="0" y="0"/>
          <a:ext cx="0" cy="0"/>
          <a:chOff x="0" y="0"/>
          <a:chExt cx="0" cy="0"/>
        </a:xfrm>
      </p:grpSpPr>
      <p:sp>
        <p:nvSpPr>
          <p:cNvPr id="128" name="Google Shape;128;g3b6d3243cff_0_41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min - Title Only">
  <p:cSld name="CUSTOM">
    <p:spTree>
      <p:nvGrpSpPr>
        <p:cNvPr id="129" name="Shape 129"/>
        <p:cNvGrpSpPr/>
        <p:nvPr/>
      </p:nvGrpSpPr>
      <p:grpSpPr>
        <a:xfrm>
          <a:off x="0" y="0"/>
          <a:ext cx="0" cy="0"/>
          <a:chOff x="0" y="0"/>
          <a:chExt cx="0" cy="0"/>
        </a:xfrm>
      </p:grpSpPr>
      <p:sp>
        <p:nvSpPr>
          <p:cNvPr id="130" name="Google Shape;130;g3b6d3243cff_0_414"/>
          <p:cNvSpPr txBox="1"/>
          <p:nvPr>
            <p:ph type="title"/>
          </p:nvPr>
        </p:nvSpPr>
        <p:spPr>
          <a:xfrm>
            <a:off x="530967" y="323933"/>
            <a:ext cx="10897500" cy="640500"/>
          </a:xfrm>
          <a:prstGeom prst="rect">
            <a:avLst/>
          </a:prstGeom>
        </p:spPr>
        <p:txBody>
          <a:bodyPr anchorCtr="0" anchor="t" bIns="121900" lIns="121900" spcFirstLastPara="1" rIns="121900" wrap="square" tIns="121900">
            <a:noAutofit/>
          </a:bodyPr>
          <a:lstStyle>
            <a:lvl1pPr lvl="0" algn="l">
              <a:spcBef>
                <a:spcPts val="0"/>
              </a:spcBef>
              <a:spcAft>
                <a:spcPts val="0"/>
              </a:spcAft>
              <a:buSzPts val="3200"/>
              <a:buNone/>
              <a:defRPr b="1" sz="3200"/>
            </a:lvl1pPr>
            <a:lvl2pPr lvl="1" algn="l">
              <a:spcBef>
                <a:spcPts val="0"/>
              </a:spcBef>
              <a:spcAft>
                <a:spcPts val="0"/>
              </a:spcAft>
              <a:buSzPts val="3200"/>
              <a:buNone/>
              <a:defRPr b="1" sz="3200"/>
            </a:lvl2pPr>
            <a:lvl3pPr lvl="2" algn="l">
              <a:spcBef>
                <a:spcPts val="0"/>
              </a:spcBef>
              <a:spcAft>
                <a:spcPts val="0"/>
              </a:spcAft>
              <a:buSzPts val="3200"/>
              <a:buNone/>
              <a:defRPr b="1" sz="3200"/>
            </a:lvl3pPr>
            <a:lvl4pPr lvl="3" algn="l">
              <a:spcBef>
                <a:spcPts val="0"/>
              </a:spcBef>
              <a:spcAft>
                <a:spcPts val="0"/>
              </a:spcAft>
              <a:buSzPts val="3200"/>
              <a:buNone/>
              <a:defRPr b="1" sz="3200"/>
            </a:lvl4pPr>
            <a:lvl5pPr lvl="4" algn="l">
              <a:spcBef>
                <a:spcPts val="0"/>
              </a:spcBef>
              <a:spcAft>
                <a:spcPts val="0"/>
              </a:spcAft>
              <a:buSzPts val="3200"/>
              <a:buNone/>
              <a:defRPr b="1" sz="3200"/>
            </a:lvl5pPr>
            <a:lvl6pPr lvl="5" algn="l">
              <a:spcBef>
                <a:spcPts val="0"/>
              </a:spcBef>
              <a:spcAft>
                <a:spcPts val="0"/>
              </a:spcAft>
              <a:buSzPts val="3200"/>
              <a:buNone/>
              <a:defRPr b="1" sz="3200"/>
            </a:lvl6pPr>
            <a:lvl7pPr lvl="6" algn="l">
              <a:spcBef>
                <a:spcPts val="0"/>
              </a:spcBef>
              <a:spcAft>
                <a:spcPts val="0"/>
              </a:spcAft>
              <a:buSzPts val="3200"/>
              <a:buNone/>
              <a:defRPr b="1" sz="3200"/>
            </a:lvl7pPr>
            <a:lvl8pPr lvl="7" algn="l">
              <a:spcBef>
                <a:spcPts val="0"/>
              </a:spcBef>
              <a:spcAft>
                <a:spcPts val="0"/>
              </a:spcAft>
              <a:buSzPts val="3200"/>
              <a:buNone/>
              <a:defRPr b="1" sz="3200"/>
            </a:lvl8pPr>
            <a:lvl9pPr lvl="8" algn="l">
              <a:spcBef>
                <a:spcPts val="0"/>
              </a:spcBef>
              <a:spcAft>
                <a:spcPts val="0"/>
              </a:spcAft>
              <a:buSzPts val="3200"/>
              <a:buNone/>
              <a:defRPr b="1" sz="3200"/>
            </a:lvl9pPr>
          </a:lstStyle>
          <a:p/>
        </p:txBody>
      </p:sp>
      <p:sp>
        <p:nvSpPr>
          <p:cNvPr id="131" name="Google Shape;131;g3b6d3243cff_0_414"/>
          <p:cNvSpPr txBox="1"/>
          <p:nvPr>
            <p:ph idx="1" type="body"/>
          </p:nvPr>
        </p:nvSpPr>
        <p:spPr>
          <a:xfrm>
            <a:off x="530967" y="1071600"/>
            <a:ext cx="11303700" cy="53115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2" name="Shape 132"/>
        <p:cNvGrpSpPr/>
        <p:nvPr/>
      </p:nvGrpSpPr>
      <p:grpSpPr>
        <a:xfrm>
          <a:off x="0" y="0"/>
          <a:ext cx="0" cy="0"/>
          <a:chOff x="0" y="0"/>
          <a:chExt cx="0" cy="0"/>
        </a:xfrm>
      </p:grpSpPr>
      <p:sp>
        <p:nvSpPr>
          <p:cNvPr id="133" name="Google Shape;133;g3b6d3243cff_0_417"/>
          <p:cNvSpPr txBox="1"/>
          <p:nvPr>
            <p:ph type="title"/>
          </p:nvPr>
        </p:nvSpPr>
        <p:spPr>
          <a:xfrm>
            <a:off x="151450" y="0"/>
            <a:ext cx="10364100" cy="908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34" name="Google Shape;134;g3b6d3243cff_0_4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1600"/>
              </a:spcBef>
              <a:spcAft>
                <a:spcPts val="0"/>
              </a:spcAft>
              <a:buClr>
                <a:schemeClr val="dk1"/>
              </a:buClr>
              <a:buSzPts val="1900"/>
              <a:buChar char="○"/>
              <a:defRPr/>
            </a:lvl2pPr>
            <a:lvl3pPr indent="-349250" lvl="2" marL="1371600" algn="l">
              <a:lnSpc>
                <a:spcPct val="90000"/>
              </a:lnSpc>
              <a:spcBef>
                <a:spcPts val="1600"/>
              </a:spcBef>
              <a:spcAft>
                <a:spcPts val="0"/>
              </a:spcAft>
              <a:buClr>
                <a:schemeClr val="dk1"/>
              </a:buClr>
              <a:buSzPts val="1900"/>
              <a:buChar char="■"/>
              <a:defRPr/>
            </a:lvl3pPr>
            <a:lvl4pPr indent="-349250" lvl="3" marL="1828800" algn="l">
              <a:lnSpc>
                <a:spcPct val="90000"/>
              </a:lnSpc>
              <a:spcBef>
                <a:spcPts val="1600"/>
              </a:spcBef>
              <a:spcAft>
                <a:spcPts val="0"/>
              </a:spcAft>
              <a:buClr>
                <a:schemeClr val="dk1"/>
              </a:buClr>
              <a:buSzPts val="1900"/>
              <a:buChar char="●"/>
              <a:defRPr/>
            </a:lvl4pPr>
            <a:lvl5pPr indent="-349250" lvl="4" marL="2286000" algn="l">
              <a:lnSpc>
                <a:spcPct val="90000"/>
              </a:lnSpc>
              <a:spcBef>
                <a:spcPts val="1600"/>
              </a:spcBef>
              <a:spcAft>
                <a:spcPts val="0"/>
              </a:spcAft>
              <a:buClr>
                <a:schemeClr val="dk1"/>
              </a:buClr>
              <a:buSzPts val="1900"/>
              <a:buChar char="○"/>
              <a:defRPr/>
            </a:lvl5pPr>
            <a:lvl6pPr indent="-349250" lvl="5" marL="2743200" algn="l">
              <a:lnSpc>
                <a:spcPct val="90000"/>
              </a:lnSpc>
              <a:spcBef>
                <a:spcPts val="1600"/>
              </a:spcBef>
              <a:spcAft>
                <a:spcPts val="0"/>
              </a:spcAft>
              <a:buClr>
                <a:schemeClr val="dk1"/>
              </a:buClr>
              <a:buSzPts val="1900"/>
              <a:buChar char="■"/>
              <a:defRPr/>
            </a:lvl6pPr>
            <a:lvl7pPr indent="-349250" lvl="6" marL="3200400" algn="l">
              <a:lnSpc>
                <a:spcPct val="90000"/>
              </a:lnSpc>
              <a:spcBef>
                <a:spcPts val="1600"/>
              </a:spcBef>
              <a:spcAft>
                <a:spcPts val="0"/>
              </a:spcAft>
              <a:buClr>
                <a:schemeClr val="dk1"/>
              </a:buClr>
              <a:buSzPts val="1900"/>
              <a:buChar char="●"/>
              <a:defRPr/>
            </a:lvl7pPr>
            <a:lvl8pPr indent="-349250" lvl="7" marL="3657600" algn="l">
              <a:lnSpc>
                <a:spcPct val="90000"/>
              </a:lnSpc>
              <a:spcBef>
                <a:spcPts val="1600"/>
              </a:spcBef>
              <a:spcAft>
                <a:spcPts val="0"/>
              </a:spcAft>
              <a:buClr>
                <a:schemeClr val="dk1"/>
              </a:buClr>
              <a:buSzPts val="1900"/>
              <a:buChar char="○"/>
              <a:defRPr/>
            </a:lvl8pPr>
            <a:lvl9pPr indent="-349250" lvl="8" marL="4114800" algn="l">
              <a:lnSpc>
                <a:spcPct val="90000"/>
              </a:lnSpc>
              <a:spcBef>
                <a:spcPts val="1600"/>
              </a:spcBef>
              <a:spcAft>
                <a:spcPts val="1600"/>
              </a:spcAft>
              <a:buClr>
                <a:schemeClr val="dk1"/>
              </a:buClr>
              <a:buSzPts val="1900"/>
              <a:buChar char="■"/>
              <a:defRPr/>
            </a:lvl9pPr>
          </a:lstStyle>
          <a:p/>
        </p:txBody>
      </p:sp>
      <p:pic>
        <p:nvPicPr>
          <p:cNvPr id="135" name="Google Shape;135;g3b6d3243cff_0_417" title="scverse_trademark(1).png"/>
          <p:cNvPicPr preferRelativeResize="0"/>
          <p:nvPr/>
        </p:nvPicPr>
        <p:blipFill>
          <a:blip r:embed="rId2">
            <a:alphaModFix/>
          </a:blip>
          <a:stretch>
            <a:fillRect/>
          </a:stretch>
        </p:blipFill>
        <p:spPr>
          <a:xfrm>
            <a:off x="11769500" y="57550"/>
            <a:ext cx="341652" cy="341652"/>
          </a:xfrm>
          <a:prstGeom prst="rect">
            <a:avLst/>
          </a:prstGeom>
          <a:noFill/>
          <a:ln>
            <a:noFill/>
          </a:ln>
        </p:spPr>
      </p:pic>
      <p:sp>
        <p:nvSpPr>
          <p:cNvPr id="136" name="Google Shape;136;g3b6d3243cff_0_417"/>
          <p:cNvSpPr txBox="1"/>
          <p:nvPr/>
        </p:nvSpPr>
        <p:spPr>
          <a:xfrm>
            <a:off x="0" y="6608100"/>
            <a:ext cx="5883900" cy="249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DE" sz="1200">
                <a:solidFill>
                  <a:srgbClr val="595959"/>
                </a:solidFill>
              </a:rPr>
              <a:t>Slides adapted from </a:t>
            </a:r>
            <a:r>
              <a:rPr lang="en-DE" sz="1200">
                <a:solidFill>
                  <a:schemeClr val="dk2"/>
                </a:solidFill>
              </a:rPr>
              <a:t>scverse x GSCN workshop (</a:t>
            </a:r>
            <a:r>
              <a:rPr lang="en-DE" sz="1200">
                <a:solidFill>
                  <a:srgbClr val="595959"/>
                </a:solidFill>
              </a:rPr>
              <a:t>2025, October)</a:t>
            </a:r>
            <a:endParaRPr sz="1200">
              <a:solidFill>
                <a:srgbClr val="595959"/>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7" name="Shape 137"/>
        <p:cNvGrpSpPr/>
        <p:nvPr/>
      </p:nvGrpSpPr>
      <p:grpSpPr>
        <a:xfrm>
          <a:off x="0" y="0"/>
          <a:ext cx="0" cy="0"/>
          <a:chOff x="0" y="0"/>
          <a:chExt cx="0" cy="0"/>
        </a:xfrm>
      </p:grpSpPr>
      <p:sp>
        <p:nvSpPr>
          <p:cNvPr id="138" name="Google Shape;138;g3b6d3243cff_0_422"/>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39" name="Google Shape;139;g3b6d3243cff_0_422"/>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rgbClr val="888888"/>
              </a:buClr>
              <a:buSzPts val="2400"/>
              <a:buNone/>
              <a:defRPr sz="2400">
                <a:solidFill>
                  <a:srgbClr val="888888"/>
                </a:solidFill>
              </a:defRPr>
            </a:lvl1pPr>
            <a:lvl2pPr indent="-228600" lvl="1" marL="914400" algn="l">
              <a:lnSpc>
                <a:spcPct val="90000"/>
              </a:lnSpc>
              <a:spcBef>
                <a:spcPts val="1600"/>
              </a:spcBef>
              <a:spcAft>
                <a:spcPts val="0"/>
              </a:spcAft>
              <a:buClr>
                <a:srgbClr val="888888"/>
              </a:buClr>
              <a:buSzPts val="2000"/>
              <a:buNone/>
              <a:defRPr sz="2000">
                <a:solidFill>
                  <a:srgbClr val="888888"/>
                </a:solidFill>
              </a:defRPr>
            </a:lvl2pPr>
            <a:lvl3pPr indent="-228600" lvl="2" marL="1371600" algn="l">
              <a:lnSpc>
                <a:spcPct val="90000"/>
              </a:lnSpc>
              <a:spcBef>
                <a:spcPts val="1600"/>
              </a:spcBef>
              <a:spcAft>
                <a:spcPts val="0"/>
              </a:spcAft>
              <a:buClr>
                <a:srgbClr val="888888"/>
              </a:buClr>
              <a:buSzPts val="1900"/>
              <a:buNone/>
              <a:defRPr sz="1900">
                <a:solidFill>
                  <a:srgbClr val="888888"/>
                </a:solidFill>
              </a:defRPr>
            </a:lvl3pPr>
            <a:lvl4pPr indent="-228600" lvl="3" marL="1828800" algn="l">
              <a:lnSpc>
                <a:spcPct val="90000"/>
              </a:lnSpc>
              <a:spcBef>
                <a:spcPts val="1600"/>
              </a:spcBef>
              <a:spcAft>
                <a:spcPts val="0"/>
              </a:spcAft>
              <a:buClr>
                <a:srgbClr val="888888"/>
              </a:buClr>
              <a:buSzPts val="1600"/>
              <a:buNone/>
              <a:defRPr sz="1600">
                <a:solidFill>
                  <a:srgbClr val="888888"/>
                </a:solidFill>
              </a:defRPr>
            </a:lvl4pPr>
            <a:lvl5pPr indent="-228600" lvl="4" marL="2286000" algn="l">
              <a:lnSpc>
                <a:spcPct val="90000"/>
              </a:lnSpc>
              <a:spcBef>
                <a:spcPts val="1600"/>
              </a:spcBef>
              <a:spcAft>
                <a:spcPts val="0"/>
              </a:spcAft>
              <a:buClr>
                <a:srgbClr val="888888"/>
              </a:buClr>
              <a:buSzPts val="1600"/>
              <a:buNone/>
              <a:defRPr sz="1600">
                <a:solidFill>
                  <a:srgbClr val="888888"/>
                </a:solidFill>
              </a:defRPr>
            </a:lvl5pPr>
            <a:lvl6pPr indent="-228600" lvl="5" marL="2743200" algn="l">
              <a:lnSpc>
                <a:spcPct val="90000"/>
              </a:lnSpc>
              <a:spcBef>
                <a:spcPts val="1600"/>
              </a:spcBef>
              <a:spcAft>
                <a:spcPts val="0"/>
              </a:spcAft>
              <a:buClr>
                <a:srgbClr val="888888"/>
              </a:buClr>
              <a:buSzPts val="1600"/>
              <a:buNone/>
              <a:defRPr sz="1600">
                <a:solidFill>
                  <a:srgbClr val="888888"/>
                </a:solidFill>
              </a:defRPr>
            </a:lvl6pPr>
            <a:lvl7pPr indent="-228600" lvl="6" marL="3200400" algn="l">
              <a:lnSpc>
                <a:spcPct val="90000"/>
              </a:lnSpc>
              <a:spcBef>
                <a:spcPts val="1600"/>
              </a:spcBef>
              <a:spcAft>
                <a:spcPts val="0"/>
              </a:spcAft>
              <a:buClr>
                <a:srgbClr val="888888"/>
              </a:buClr>
              <a:buSzPts val="1600"/>
              <a:buNone/>
              <a:defRPr sz="1600">
                <a:solidFill>
                  <a:srgbClr val="888888"/>
                </a:solidFill>
              </a:defRPr>
            </a:lvl7pPr>
            <a:lvl8pPr indent="-228600" lvl="7" marL="3657600" algn="l">
              <a:lnSpc>
                <a:spcPct val="90000"/>
              </a:lnSpc>
              <a:spcBef>
                <a:spcPts val="1600"/>
              </a:spcBef>
              <a:spcAft>
                <a:spcPts val="0"/>
              </a:spcAft>
              <a:buClr>
                <a:srgbClr val="888888"/>
              </a:buClr>
              <a:buSzPts val="1600"/>
              <a:buNone/>
              <a:defRPr sz="1600">
                <a:solidFill>
                  <a:srgbClr val="888888"/>
                </a:solidFill>
              </a:defRPr>
            </a:lvl8pPr>
            <a:lvl9pPr indent="-228600" lvl="8" marL="4114800" algn="l">
              <a:lnSpc>
                <a:spcPct val="90000"/>
              </a:lnSpc>
              <a:spcBef>
                <a:spcPts val="1600"/>
              </a:spcBef>
              <a:spcAft>
                <a:spcPts val="1600"/>
              </a:spcAft>
              <a:buClr>
                <a:srgbClr val="888888"/>
              </a:buClr>
              <a:buSzPts val="1600"/>
              <a:buNone/>
              <a:defRPr sz="1600">
                <a:solidFill>
                  <a:srgbClr val="888888"/>
                </a:solidFill>
              </a:defRPr>
            </a:lvl9pPr>
          </a:lstStyle>
          <a:p/>
        </p:txBody>
      </p:sp>
      <p:sp>
        <p:nvSpPr>
          <p:cNvPr id="140" name="Google Shape;140;g3b6d3243cff_0_42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500"/>
              <a:buNone/>
              <a:defRPr sz="1500"/>
            </a:lvl1pPr>
            <a:lvl2pPr lvl="1" algn="l">
              <a:spcBef>
                <a:spcPts val="0"/>
              </a:spcBef>
              <a:spcAft>
                <a:spcPts val="0"/>
              </a:spcAft>
              <a:buSzPts val="1500"/>
              <a:buNone/>
              <a:defRPr sz="1500"/>
            </a:lvl2pPr>
            <a:lvl3pPr lvl="2" algn="l">
              <a:spcBef>
                <a:spcPts val="0"/>
              </a:spcBef>
              <a:spcAft>
                <a:spcPts val="0"/>
              </a:spcAft>
              <a:buSzPts val="1500"/>
              <a:buNone/>
              <a:defRPr sz="1500"/>
            </a:lvl3pPr>
            <a:lvl4pPr lvl="3" algn="l">
              <a:spcBef>
                <a:spcPts val="0"/>
              </a:spcBef>
              <a:spcAft>
                <a:spcPts val="0"/>
              </a:spcAft>
              <a:buSzPts val="1500"/>
              <a:buNone/>
              <a:defRPr sz="1500"/>
            </a:lvl4pPr>
            <a:lvl5pPr lvl="4" algn="l">
              <a:spcBef>
                <a:spcPts val="0"/>
              </a:spcBef>
              <a:spcAft>
                <a:spcPts val="0"/>
              </a:spcAft>
              <a:buSzPts val="1500"/>
              <a:buNone/>
              <a:defRPr sz="1500"/>
            </a:lvl5pPr>
            <a:lvl6pPr lvl="5" algn="l">
              <a:spcBef>
                <a:spcPts val="0"/>
              </a:spcBef>
              <a:spcAft>
                <a:spcPts val="0"/>
              </a:spcAft>
              <a:buSzPts val="1500"/>
              <a:buNone/>
              <a:defRPr sz="1500"/>
            </a:lvl6pPr>
            <a:lvl7pPr lvl="6" algn="l">
              <a:spcBef>
                <a:spcPts val="0"/>
              </a:spcBef>
              <a:spcAft>
                <a:spcPts val="0"/>
              </a:spcAft>
              <a:buSzPts val="1500"/>
              <a:buNone/>
              <a:defRPr sz="1500"/>
            </a:lvl7pPr>
            <a:lvl8pPr lvl="7" algn="l">
              <a:spcBef>
                <a:spcPts val="0"/>
              </a:spcBef>
              <a:spcAft>
                <a:spcPts val="0"/>
              </a:spcAft>
              <a:buSzPts val="1500"/>
              <a:buNone/>
              <a:defRPr sz="1500"/>
            </a:lvl8pPr>
            <a:lvl9pPr lvl="8" algn="l">
              <a:spcBef>
                <a:spcPts val="0"/>
              </a:spcBef>
              <a:spcAft>
                <a:spcPts val="0"/>
              </a:spcAft>
              <a:buSzPts val="1500"/>
              <a:buNone/>
              <a:defRPr sz="1500"/>
            </a:lvl9pPr>
          </a:lstStyle>
          <a:p/>
        </p:txBody>
      </p:sp>
      <p:sp>
        <p:nvSpPr>
          <p:cNvPr id="141" name="Google Shape;141;g3b6d3243cff_0_42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500"/>
              <a:buNone/>
              <a:defRPr sz="1500"/>
            </a:lvl1pPr>
            <a:lvl2pPr lvl="1" algn="l">
              <a:spcBef>
                <a:spcPts val="0"/>
              </a:spcBef>
              <a:spcAft>
                <a:spcPts val="0"/>
              </a:spcAft>
              <a:buSzPts val="1500"/>
              <a:buNone/>
              <a:defRPr sz="1500"/>
            </a:lvl2pPr>
            <a:lvl3pPr lvl="2" algn="l">
              <a:spcBef>
                <a:spcPts val="0"/>
              </a:spcBef>
              <a:spcAft>
                <a:spcPts val="0"/>
              </a:spcAft>
              <a:buSzPts val="1500"/>
              <a:buNone/>
              <a:defRPr sz="1500"/>
            </a:lvl3pPr>
            <a:lvl4pPr lvl="3" algn="l">
              <a:spcBef>
                <a:spcPts val="0"/>
              </a:spcBef>
              <a:spcAft>
                <a:spcPts val="0"/>
              </a:spcAft>
              <a:buSzPts val="1500"/>
              <a:buNone/>
              <a:defRPr sz="1500"/>
            </a:lvl4pPr>
            <a:lvl5pPr lvl="4" algn="l">
              <a:spcBef>
                <a:spcPts val="0"/>
              </a:spcBef>
              <a:spcAft>
                <a:spcPts val="0"/>
              </a:spcAft>
              <a:buSzPts val="1500"/>
              <a:buNone/>
              <a:defRPr sz="1500"/>
            </a:lvl5pPr>
            <a:lvl6pPr lvl="5" algn="l">
              <a:spcBef>
                <a:spcPts val="0"/>
              </a:spcBef>
              <a:spcAft>
                <a:spcPts val="0"/>
              </a:spcAft>
              <a:buSzPts val="1500"/>
              <a:buNone/>
              <a:defRPr sz="1500"/>
            </a:lvl6pPr>
            <a:lvl7pPr lvl="6" algn="l">
              <a:spcBef>
                <a:spcPts val="0"/>
              </a:spcBef>
              <a:spcAft>
                <a:spcPts val="0"/>
              </a:spcAft>
              <a:buSzPts val="1500"/>
              <a:buNone/>
              <a:defRPr sz="1500"/>
            </a:lvl7pPr>
            <a:lvl8pPr lvl="7" algn="l">
              <a:spcBef>
                <a:spcPts val="0"/>
              </a:spcBef>
              <a:spcAft>
                <a:spcPts val="0"/>
              </a:spcAft>
              <a:buSzPts val="1500"/>
              <a:buNone/>
              <a:defRPr sz="1500"/>
            </a:lvl8pPr>
            <a:lvl9pPr lvl="8" algn="l">
              <a:spcBef>
                <a:spcPts val="0"/>
              </a:spcBef>
              <a:spcAft>
                <a:spcPts val="0"/>
              </a:spcAft>
              <a:buSzPts val="1500"/>
              <a:buNone/>
              <a:defRPr sz="1500"/>
            </a:lvl9pPr>
          </a:lstStyle>
          <a:p/>
        </p:txBody>
      </p:sp>
      <p:sp>
        <p:nvSpPr>
          <p:cNvPr id="142" name="Google Shape;142;g3b6d3243cff_0_42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theme" Target="../theme/theme3.xml"/><Relationship Id="rId14" Type="http://schemas.openxmlformats.org/officeDocument/2006/relationships/slideLayout" Target="../slideLayouts/slideLayout2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D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4" name="Shape 84"/>
        <p:cNvGrpSpPr/>
        <p:nvPr/>
      </p:nvGrpSpPr>
      <p:grpSpPr>
        <a:xfrm>
          <a:off x="0" y="0"/>
          <a:ext cx="0" cy="0"/>
          <a:chOff x="0" y="0"/>
          <a:chExt cx="0" cy="0"/>
        </a:xfrm>
      </p:grpSpPr>
      <p:sp>
        <p:nvSpPr>
          <p:cNvPr id="85" name="Google Shape;85;g3b6d3243cff_0_36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86" name="Google Shape;86;g3b6d3243cff_0_36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7" name="Google Shape;87;g3b6d3243cff_0_369"/>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DE"/>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7.png"/><Relationship Id="rId7"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DE"/>
              <a:t>Differential gene expression</a:t>
            </a:r>
            <a:endParaRPr/>
          </a:p>
        </p:txBody>
      </p:sp>
      <p:sp>
        <p:nvSpPr>
          <p:cNvPr id="148" name="Google Shape;148;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b6d3243cff_0_214"/>
          <p:cNvSpPr txBox="1"/>
          <p:nvPr>
            <p:ph type="title"/>
          </p:nvPr>
        </p:nvSpPr>
        <p:spPr>
          <a:xfrm>
            <a:off x="113588" y="0"/>
            <a:ext cx="7773300" cy="68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DE"/>
              <a:t>DE genes</a:t>
            </a:r>
            <a:endParaRPr/>
          </a:p>
        </p:txBody>
      </p:sp>
      <p:grpSp>
        <p:nvGrpSpPr>
          <p:cNvPr id="154" name="Google Shape;154;g3b6d3243cff_0_214"/>
          <p:cNvGrpSpPr/>
          <p:nvPr/>
        </p:nvGrpSpPr>
        <p:grpSpPr>
          <a:xfrm>
            <a:off x="132348" y="1949103"/>
            <a:ext cx="4355514" cy="3211478"/>
            <a:chOff x="1" y="1383584"/>
            <a:chExt cx="5833018" cy="4300894"/>
          </a:xfrm>
        </p:grpSpPr>
        <p:cxnSp>
          <p:nvCxnSpPr>
            <p:cNvPr id="155" name="Google Shape;155;g3b6d3243cff_0_214"/>
            <p:cNvCxnSpPr/>
            <p:nvPr/>
          </p:nvCxnSpPr>
          <p:spPr>
            <a:xfrm rot="10800000">
              <a:off x="454918" y="1383584"/>
              <a:ext cx="0" cy="3753900"/>
            </a:xfrm>
            <a:prstGeom prst="straightConnector1">
              <a:avLst/>
            </a:prstGeom>
            <a:noFill/>
            <a:ln cap="flat" cmpd="sng" w="9525">
              <a:solidFill>
                <a:schemeClr val="dk1"/>
              </a:solidFill>
              <a:prstDash val="solid"/>
              <a:miter lim="800000"/>
              <a:headEnd len="sm" w="sm" type="none"/>
              <a:tailEnd len="med" w="med" type="triangle"/>
            </a:ln>
          </p:spPr>
        </p:cxnSp>
        <p:cxnSp>
          <p:nvCxnSpPr>
            <p:cNvPr id="156" name="Google Shape;156;g3b6d3243cff_0_214"/>
            <p:cNvCxnSpPr/>
            <p:nvPr/>
          </p:nvCxnSpPr>
          <p:spPr>
            <a:xfrm>
              <a:off x="454918" y="5137484"/>
              <a:ext cx="5378100" cy="0"/>
            </a:xfrm>
            <a:prstGeom prst="straightConnector1">
              <a:avLst/>
            </a:prstGeom>
            <a:noFill/>
            <a:ln cap="flat" cmpd="sng" w="9525">
              <a:solidFill>
                <a:schemeClr val="dk1"/>
              </a:solidFill>
              <a:prstDash val="solid"/>
              <a:miter lim="800000"/>
              <a:headEnd len="sm" w="sm" type="none"/>
              <a:tailEnd len="med" w="med" type="triangle"/>
            </a:ln>
          </p:spPr>
        </p:cxnSp>
        <p:sp>
          <p:nvSpPr>
            <p:cNvPr id="157" name="Google Shape;157;g3b6d3243cff_0_214"/>
            <p:cNvSpPr/>
            <p:nvPr/>
          </p:nvSpPr>
          <p:spPr>
            <a:xfrm>
              <a:off x="1321192" y="26228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58" name="Google Shape;158;g3b6d3243cff_0_214"/>
            <p:cNvSpPr/>
            <p:nvPr/>
          </p:nvSpPr>
          <p:spPr>
            <a:xfrm>
              <a:off x="1473592" y="27752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59" name="Google Shape;159;g3b6d3243cff_0_214"/>
            <p:cNvSpPr/>
            <p:nvPr/>
          </p:nvSpPr>
          <p:spPr>
            <a:xfrm>
              <a:off x="1756334" y="3035969"/>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0" name="Google Shape;160;g3b6d3243cff_0_214"/>
            <p:cNvSpPr/>
            <p:nvPr/>
          </p:nvSpPr>
          <p:spPr>
            <a:xfrm>
              <a:off x="1056497" y="27752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1" name="Google Shape;161;g3b6d3243cff_0_214"/>
            <p:cNvSpPr/>
            <p:nvPr/>
          </p:nvSpPr>
          <p:spPr>
            <a:xfrm>
              <a:off x="1581876" y="2362200"/>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2" name="Google Shape;162;g3b6d3243cff_0_214"/>
            <p:cNvSpPr/>
            <p:nvPr/>
          </p:nvSpPr>
          <p:spPr>
            <a:xfrm>
              <a:off x="1986939" y="2873542"/>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3" name="Google Shape;163;g3b6d3243cff_0_214"/>
            <p:cNvSpPr/>
            <p:nvPr/>
          </p:nvSpPr>
          <p:spPr>
            <a:xfrm>
              <a:off x="1267050" y="2253916"/>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4" name="Google Shape;164;g3b6d3243cff_0_214"/>
            <p:cNvSpPr/>
            <p:nvPr/>
          </p:nvSpPr>
          <p:spPr>
            <a:xfrm>
              <a:off x="1335229" y="2991852"/>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5" name="Google Shape;165;g3b6d3243cff_0_214"/>
            <p:cNvSpPr/>
            <p:nvPr/>
          </p:nvSpPr>
          <p:spPr>
            <a:xfrm>
              <a:off x="2029050" y="2571001"/>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6" name="Google Shape;166;g3b6d3243cff_0_214"/>
            <p:cNvSpPr/>
            <p:nvPr/>
          </p:nvSpPr>
          <p:spPr>
            <a:xfrm>
              <a:off x="1517708" y="315227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7" name="Google Shape;167;g3b6d3243cff_0_214"/>
            <p:cNvSpPr/>
            <p:nvPr/>
          </p:nvSpPr>
          <p:spPr>
            <a:xfrm>
              <a:off x="1030429" y="30800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8" name="Google Shape;168;g3b6d3243cff_0_214"/>
            <p:cNvSpPr/>
            <p:nvPr/>
          </p:nvSpPr>
          <p:spPr>
            <a:xfrm>
              <a:off x="1702192" y="26228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69" name="Google Shape;169;g3b6d3243cff_0_214"/>
            <p:cNvSpPr/>
            <p:nvPr/>
          </p:nvSpPr>
          <p:spPr>
            <a:xfrm>
              <a:off x="2181450" y="2723401"/>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0" name="Google Shape;170;g3b6d3243cff_0_214"/>
            <p:cNvSpPr/>
            <p:nvPr/>
          </p:nvSpPr>
          <p:spPr>
            <a:xfrm>
              <a:off x="3934050" y="3499438"/>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1" name="Google Shape;171;g3b6d3243cff_0_214"/>
            <p:cNvSpPr/>
            <p:nvPr/>
          </p:nvSpPr>
          <p:spPr>
            <a:xfrm>
              <a:off x="2333850" y="2875801"/>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2" name="Google Shape;172;g3b6d3243cff_0_214"/>
            <p:cNvSpPr/>
            <p:nvPr/>
          </p:nvSpPr>
          <p:spPr>
            <a:xfrm>
              <a:off x="4258902" y="36638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3" name="Google Shape;173;g3b6d3243cff_0_214"/>
            <p:cNvSpPr/>
            <p:nvPr/>
          </p:nvSpPr>
          <p:spPr>
            <a:xfrm>
              <a:off x="4411302" y="38162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4" name="Google Shape;174;g3b6d3243cff_0_214"/>
            <p:cNvSpPr/>
            <p:nvPr/>
          </p:nvSpPr>
          <p:spPr>
            <a:xfrm>
              <a:off x="4150618" y="3174586"/>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5" name="Google Shape;175;g3b6d3243cff_0_214"/>
            <p:cNvSpPr/>
            <p:nvPr/>
          </p:nvSpPr>
          <p:spPr>
            <a:xfrm>
              <a:off x="4042334" y="3772154"/>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6" name="Google Shape;176;g3b6d3243cff_0_214"/>
            <p:cNvSpPr/>
            <p:nvPr/>
          </p:nvSpPr>
          <p:spPr>
            <a:xfrm>
              <a:off x="4519586" y="3283746"/>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7" name="Google Shape;177;g3b6d3243cff_0_214"/>
            <p:cNvSpPr/>
            <p:nvPr/>
          </p:nvSpPr>
          <p:spPr>
            <a:xfrm>
              <a:off x="4204760" y="342837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8" name="Google Shape;178;g3b6d3243cff_0_214"/>
            <p:cNvSpPr/>
            <p:nvPr/>
          </p:nvSpPr>
          <p:spPr>
            <a:xfrm>
              <a:off x="4258902" y="4000755"/>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79" name="Google Shape;179;g3b6d3243cff_0_214"/>
            <p:cNvSpPr/>
            <p:nvPr/>
          </p:nvSpPr>
          <p:spPr>
            <a:xfrm>
              <a:off x="4694043" y="3597696"/>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0" name="Google Shape;180;g3b6d3243cff_0_214"/>
            <p:cNvSpPr/>
            <p:nvPr/>
          </p:nvSpPr>
          <p:spPr>
            <a:xfrm>
              <a:off x="4726128" y="389873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1" name="Google Shape;181;g3b6d3243cff_0_214"/>
            <p:cNvSpPr/>
            <p:nvPr/>
          </p:nvSpPr>
          <p:spPr>
            <a:xfrm>
              <a:off x="3825766" y="3984712"/>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2" name="Google Shape;182;g3b6d3243cff_0_214"/>
            <p:cNvSpPr/>
            <p:nvPr/>
          </p:nvSpPr>
          <p:spPr>
            <a:xfrm>
              <a:off x="4563702" y="39686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3" name="Google Shape;183;g3b6d3243cff_0_214"/>
            <p:cNvSpPr/>
            <p:nvPr/>
          </p:nvSpPr>
          <p:spPr>
            <a:xfrm>
              <a:off x="4411302" y="3514351"/>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4" name="Google Shape;184;g3b6d3243cff_0_214"/>
            <p:cNvSpPr/>
            <p:nvPr/>
          </p:nvSpPr>
          <p:spPr>
            <a:xfrm>
              <a:off x="3717482" y="3214818"/>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5" name="Google Shape;185;g3b6d3243cff_0_214"/>
            <p:cNvSpPr/>
            <p:nvPr/>
          </p:nvSpPr>
          <p:spPr>
            <a:xfrm>
              <a:off x="4391250" y="2981827"/>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6" name="Google Shape;186;g3b6d3243cff_0_214"/>
            <p:cNvSpPr/>
            <p:nvPr/>
          </p:nvSpPr>
          <p:spPr>
            <a:xfrm>
              <a:off x="4834412" y="341259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7" name="Google Shape;187;g3b6d3243cff_0_214"/>
            <p:cNvSpPr/>
            <p:nvPr/>
          </p:nvSpPr>
          <p:spPr>
            <a:xfrm>
              <a:off x="4768237" y="3122448"/>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8" name="Google Shape;188;g3b6d3243cff_0_214"/>
            <p:cNvSpPr/>
            <p:nvPr/>
          </p:nvSpPr>
          <p:spPr>
            <a:xfrm>
              <a:off x="3716480" y="3575512"/>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89" name="Google Shape;189;g3b6d3243cff_0_214"/>
            <p:cNvSpPr/>
            <p:nvPr/>
          </p:nvSpPr>
          <p:spPr>
            <a:xfrm>
              <a:off x="3954102" y="3231863"/>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0" name="Google Shape;190;g3b6d3243cff_0_214"/>
            <p:cNvSpPr/>
            <p:nvPr/>
          </p:nvSpPr>
          <p:spPr>
            <a:xfrm>
              <a:off x="4008244" y="2857134"/>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1" name="Google Shape;191;g3b6d3243cff_0_214"/>
            <p:cNvSpPr/>
            <p:nvPr/>
          </p:nvSpPr>
          <p:spPr>
            <a:xfrm>
              <a:off x="3861861" y="303596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2" name="Google Shape;192;g3b6d3243cff_0_214"/>
            <p:cNvSpPr/>
            <p:nvPr/>
          </p:nvSpPr>
          <p:spPr>
            <a:xfrm>
              <a:off x="4716102" y="41210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3" name="Google Shape;193;g3b6d3243cff_0_214"/>
            <p:cNvSpPr/>
            <p:nvPr/>
          </p:nvSpPr>
          <p:spPr>
            <a:xfrm>
              <a:off x="4888554" y="374595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4" name="Google Shape;194;g3b6d3243cff_0_214"/>
            <p:cNvSpPr/>
            <p:nvPr/>
          </p:nvSpPr>
          <p:spPr>
            <a:xfrm>
              <a:off x="5177312" y="3703721"/>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5" name="Google Shape;195;g3b6d3243cff_0_214"/>
            <p:cNvSpPr txBox="1"/>
            <p:nvPr/>
          </p:nvSpPr>
          <p:spPr>
            <a:xfrm>
              <a:off x="1900713" y="5169078"/>
              <a:ext cx="2033400" cy="51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DE" sz="1900">
                  <a:solidFill>
                    <a:schemeClr val="dk1"/>
                  </a:solidFill>
                  <a:latin typeface="Calibri"/>
                  <a:ea typeface="Calibri"/>
                  <a:cs typeface="Calibri"/>
                  <a:sym typeface="Calibri"/>
                </a:rPr>
                <a:t>UMAP-1</a:t>
              </a:r>
              <a:endParaRPr sz="1500"/>
            </a:p>
          </p:txBody>
        </p:sp>
        <p:sp>
          <p:nvSpPr>
            <p:cNvPr id="196" name="Google Shape;196;g3b6d3243cff_0_214"/>
            <p:cNvSpPr txBox="1"/>
            <p:nvPr/>
          </p:nvSpPr>
          <p:spPr>
            <a:xfrm rot="-5400000">
              <a:off x="-758999" y="2954954"/>
              <a:ext cx="2033400" cy="515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DE" sz="1900">
                  <a:solidFill>
                    <a:schemeClr val="dk1"/>
                  </a:solidFill>
                  <a:latin typeface="Calibri"/>
                  <a:ea typeface="Calibri"/>
                  <a:cs typeface="Calibri"/>
                  <a:sym typeface="Calibri"/>
                </a:rPr>
                <a:t>UMAP-2</a:t>
              </a:r>
              <a:endParaRPr sz="1500"/>
            </a:p>
          </p:txBody>
        </p:sp>
      </p:grpSp>
      <p:pic>
        <p:nvPicPr>
          <p:cNvPr id="197" name="Google Shape;197;g3b6d3243cff_0_214"/>
          <p:cNvPicPr preferRelativeResize="0"/>
          <p:nvPr/>
        </p:nvPicPr>
        <p:blipFill rotWithShape="1">
          <a:blip r:embed="rId3">
            <a:alphaModFix/>
          </a:blip>
          <a:srcRect b="0" l="0" r="0" t="0"/>
          <a:stretch/>
        </p:blipFill>
        <p:spPr>
          <a:xfrm>
            <a:off x="6233626" y="1568055"/>
            <a:ext cx="5530381" cy="3811092"/>
          </a:xfrm>
          <a:prstGeom prst="rect">
            <a:avLst/>
          </a:prstGeom>
          <a:noFill/>
          <a:ln>
            <a:noFill/>
          </a:ln>
        </p:spPr>
      </p:pic>
      <p:sp>
        <p:nvSpPr>
          <p:cNvPr id="198" name="Google Shape;198;g3b6d3243cff_0_214"/>
          <p:cNvSpPr/>
          <p:nvPr/>
        </p:nvSpPr>
        <p:spPr>
          <a:xfrm>
            <a:off x="5050762" y="3239976"/>
            <a:ext cx="810000" cy="362400"/>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199" name="Google Shape;199;g3b6d3243cff_0_214"/>
          <p:cNvSpPr txBox="1"/>
          <p:nvPr/>
        </p:nvSpPr>
        <p:spPr>
          <a:xfrm>
            <a:off x="5297817" y="5379147"/>
            <a:ext cx="6708000" cy="1262100"/>
          </a:xfrm>
          <a:prstGeom prst="rect">
            <a:avLst/>
          </a:prstGeom>
          <a:noFill/>
          <a:ln>
            <a:noFill/>
          </a:ln>
        </p:spPr>
        <p:txBody>
          <a:bodyPr anchorCtr="0" anchor="t" bIns="45700" lIns="91425" spcFirstLastPara="1" rIns="91425" wrap="square" tIns="45700">
            <a:spAutoFit/>
          </a:bodyPr>
          <a:lstStyle/>
          <a:p>
            <a:pPr indent="-298450" lvl="0" marL="292100" marR="0" rtl="0" algn="l">
              <a:spcBef>
                <a:spcPts val="0"/>
              </a:spcBef>
              <a:spcAft>
                <a:spcPts val="0"/>
              </a:spcAft>
              <a:buClr>
                <a:schemeClr val="dk1"/>
              </a:buClr>
              <a:buSzPts val="1900"/>
              <a:buFont typeface="Arial"/>
              <a:buChar char="•"/>
            </a:pPr>
            <a:r>
              <a:rPr lang="en-DE" sz="1900">
                <a:solidFill>
                  <a:schemeClr val="dk1"/>
                </a:solidFill>
                <a:latin typeface="Calibri"/>
                <a:ea typeface="Calibri"/>
                <a:cs typeface="Calibri"/>
                <a:sym typeface="Calibri"/>
              </a:rPr>
              <a:t>Compare the gene expression distribution in green cells vs. red cells for every gene </a:t>
            </a:r>
            <a:endParaRPr sz="1500"/>
          </a:p>
          <a:p>
            <a:pPr indent="-298450" lvl="0" marL="292100" marR="0" rtl="0" algn="l">
              <a:spcBef>
                <a:spcPts val="0"/>
              </a:spcBef>
              <a:spcAft>
                <a:spcPts val="0"/>
              </a:spcAft>
              <a:buClr>
                <a:schemeClr val="dk1"/>
              </a:buClr>
              <a:buSzPts val="1900"/>
              <a:buFont typeface="Arial"/>
              <a:buChar char="•"/>
            </a:pPr>
            <a:r>
              <a:rPr lang="en-DE" sz="1900">
                <a:solidFill>
                  <a:schemeClr val="dk1"/>
                </a:solidFill>
                <a:latin typeface="Calibri"/>
                <a:ea typeface="Calibri"/>
                <a:cs typeface="Calibri"/>
                <a:sym typeface="Calibri"/>
              </a:rPr>
              <a:t>Extract genes that are significantly different based on statistical tests</a:t>
            </a:r>
            <a:endParaRPr sz="1500"/>
          </a:p>
        </p:txBody>
      </p:sp>
      <p:sp>
        <p:nvSpPr>
          <p:cNvPr id="200" name="Google Shape;200;g3b6d3243cff_0_214"/>
          <p:cNvSpPr txBox="1"/>
          <p:nvPr>
            <p:ph idx="4294967295" type="sldNum"/>
          </p:nvPr>
        </p:nvSpPr>
        <p:spPr>
          <a:xfrm>
            <a:off x="11460300" y="6516400"/>
            <a:ext cx="731700" cy="341700"/>
          </a:xfrm>
          <a:prstGeom prst="rect">
            <a:avLst/>
          </a:prstGeom>
        </p:spPr>
        <p:txBody>
          <a:bodyPr anchorCtr="0" anchor="ctr" bIns="121900" lIns="121900" spcFirstLastPara="1" rIns="121900" wrap="square" tIns="121900">
            <a:normAutofit fontScale="55000" lnSpcReduction="20000"/>
          </a:body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b6d3243cff_0_265"/>
          <p:cNvSpPr txBox="1"/>
          <p:nvPr>
            <p:ph type="title"/>
          </p:nvPr>
        </p:nvSpPr>
        <p:spPr>
          <a:xfrm>
            <a:off x="113588" y="0"/>
            <a:ext cx="7773300" cy="6816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DE" sz="3200"/>
              <a:t>scRNA-seq is a more complex data type</a:t>
            </a:r>
            <a:endParaRPr/>
          </a:p>
        </p:txBody>
      </p:sp>
      <p:graphicFrame>
        <p:nvGraphicFramePr>
          <p:cNvPr id="206" name="Google Shape;206;g3b6d3243cff_0_265"/>
          <p:cNvGraphicFramePr/>
          <p:nvPr/>
        </p:nvGraphicFramePr>
        <p:xfrm>
          <a:off x="214312" y="1334028"/>
          <a:ext cx="3000000" cy="3000000"/>
        </p:xfrm>
        <a:graphic>
          <a:graphicData uri="http://schemas.openxmlformats.org/drawingml/2006/table">
            <a:tbl>
              <a:tblPr bandRow="1" firstRow="1">
                <a:noFill/>
                <a:tableStyleId>{DF0BA4D9-C42D-4B95-9EE6-BF21869DC8B5}</a:tableStyleId>
              </a:tblPr>
              <a:tblGrid>
                <a:gridCol w="1819725"/>
                <a:gridCol w="1431700"/>
              </a:tblGrid>
              <a:tr h="312425">
                <a:tc>
                  <a:txBody>
                    <a:bodyPr/>
                    <a:lstStyle/>
                    <a:p>
                      <a:pPr indent="0" lvl="0" marL="0" marR="0" rtl="0" algn="l">
                        <a:spcBef>
                          <a:spcPts val="0"/>
                        </a:spcBef>
                        <a:spcAft>
                          <a:spcPts val="0"/>
                        </a:spcAft>
                        <a:buNone/>
                      </a:pPr>
                      <a:r>
                        <a:rPr i="0" lang="en-DE" sz="1500" u="none" cap="none" strike="noStrike"/>
                        <a:t>Gene</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t>Abundance</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B3GAT2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48</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NPL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122</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T2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87</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1700010I14RIK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34</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AK020722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88</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B930003M22RIK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25</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AK163153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258</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AGPAT4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329</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MAP3K4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89</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IGF2R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608</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AIRN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48</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MRPL18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1352</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TCP1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1236</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RNASEL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629</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2425">
                <a:tc>
                  <a:txBody>
                    <a:bodyPr/>
                    <a:lstStyle/>
                    <a:p>
                      <a:pPr indent="0" lvl="0" marL="0" marR="0" rtl="0" algn="l">
                        <a:spcBef>
                          <a:spcPts val="0"/>
                        </a:spcBef>
                        <a:spcAft>
                          <a:spcPts val="0"/>
                        </a:spcAft>
                        <a:buNone/>
                      </a:pPr>
                      <a:r>
                        <a:rPr lang="en-DE" sz="1500">
                          <a:latin typeface="Calibri"/>
                          <a:ea typeface="Calibri"/>
                          <a:cs typeface="Calibri"/>
                          <a:sym typeface="Calibri"/>
                        </a:rPr>
                        <a:t>ACAT2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i="0" lang="en-DE" sz="1500">
                          <a:latin typeface="Calibri"/>
                          <a:ea typeface="Calibri"/>
                          <a:cs typeface="Calibri"/>
                          <a:sym typeface="Calibri"/>
                        </a:rPr>
                        <a:t>513</a:t>
                      </a:r>
                      <a:endParaRPr sz="13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bl>
          </a:graphicData>
        </a:graphic>
      </p:graphicFrame>
      <p:sp>
        <p:nvSpPr>
          <p:cNvPr id="207" name="Google Shape;207;g3b6d3243cff_0_265"/>
          <p:cNvSpPr/>
          <p:nvPr/>
        </p:nvSpPr>
        <p:spPr>
          <a:xfrm>
            <a:off x="1366787" y="821017"/>
            <a:ext cx="1852800" cy="392100"/>
          </a:xfrm>
          <a:prstGeom prst="rect">
            <a:avLst/>
          </a:prstGeom>
          <a:noFill/>
          <a:ln cap="flat" cmpd="sng" w="57175">
            <a:solidFill>
              <a:srgbClr val="A52B7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DE" sz="2300">
                <a:solidFill>
                  <a:schemeClr val="dk1"/>
                </a:solidFill>
                <a:latin typeface="Calibri"/>
                <a:ea typeface="Calibri"/>
                <a:cs typeface="Calibri"/>
                <a:sym typeface="Calibri"/>
              </a:rPr>
              <a:t>Bulk Data</a:t>
            </a:r>
            <a:endParaRPr sz="2300">
              <a:solidFill>
                <a:schemeClr val="dk1"/>
              </a:solidFill>
              <a:latin typeface="Calibri"/>
              <a:ea typeface="Calibri"/>
              <a:cs typeface="Calibri"/>
              <a:sym typeface="Calibri"/>
            </a:endParaRPr>
          </a:p>
        </p:txBody>
      </p:sp>
      <p:sp>
        <p:nvSpPr>
          <p:cNvPr id="208" name="Google Shape;208;g3b6d3243cff_0_265"/>
          <p:cNvSpPr/>
          <p:nvPr/>
        </p:nvSpPr>
        <p:spPr>
          <a:xfrm>
            <a:off x="7877124" y="821016"/>
            <a:ext cx="2081700" cy="392100"/>
          </a:xfrm>
          <a:prstGeom prst="rect">
            <a:avLst/>
          </a:prstGeom>
          <a:noFill/>
          <a:ln cap="flat" cmpd="sng" w="57175">
            <a:solidFill>
              <a:srgbClr val="A52B7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DE" sz="2300">
                <a:solidFill>
                  <a:schemeClr val="dk1"/>
                </a:solidFill>
                <a:latin typeface="Calibri"/>
                <a:ea typeface="Calibri"/>
                <a:cs typeface="Calibri"/>
                <a:sym typeface="Calibri"/>
              </a:rPr>
              <a:t>scRNA-seq Data</a:t>
            </a:r>
            <a:endParaRPr sz="1500"/>
          </a:p>
        </p:txBody>
      </p:sp>
      <p:graphicFrame>
        <p:nvGraphicFramePr>
          <p:cNvPr id="209" name="Google Shape;209;g3b6d3243cff_0_265"/>
          <p:cNvGraphicFramePr/>
          <p:nvPr/>
        </p:nvGraphicFramePr>
        <p:xfrm>
          <a:off x="5880985" y="1372227"/>
          <a:ext cx="3000000" cy="3000000"/>
        </p:xfrm>
        <a:graphic>
          <a:graphicData uri="http://schemas.openxmlformats.org/drawingml/2006/table">
            <a:tbl>
              <a:tblPr bandRow="1" firstRow="1">
                <a:noFill/>
                <a:tableStyleId>{DF0BA4D9-C42D-4B95-9EE6-BF21869DC8B5}</a:tableStyleId>
              </a:tblPr>
              <a:tblGrid>
                <a:gridCol w="1623800"/>
                <a:gridCol w="847225"/>
                <a:gridCol w="841075"/>
                <a:gridCol w="844175"/>
                <a:gridCol w="844175"/>
                <a:gridCol w="844175"/>
              </a:tblGrid>
              <a:tr h="315275">
                <a:tc>
                  <a:txBody>
                    <a:bodyPr/>
                    <a:lstStyle/>
                    <a:p>
                      <a:pPr indent="0" lvl="0" marL="0" marR="0" rtl="0" algn="l">
                        <a:spcBef>
                          <a:spcPts val="0"/>
                        </a:spcBef>
                        <a:spcAft>
                          <a:spcPts val="0"/>
                        </a:spcAft>
                        <a:buNone/>
                      </a:pPr>
                      <a:r>
                        <a:rPr i="0" lang="en-DE" sz="1500"/>
                        <a:t>Gene</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Cell 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Cell 2</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Cell 3</a:t>
                      </a:r>
                      <a:r>
                        <a:rPr lang="en-DE" sz="1500"/>
                        <a:t> </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Cell N</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50800">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B3GAT2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50800">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NPL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T2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1700010I14RIK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AK020722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B930003M22RIK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AK163153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AGPAT4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MAP3K4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IGF2R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2</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AIRN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2</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MRPL18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TCP1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3</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RNASEL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2</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r h="315275">
                <a:tc>
                  <a:txBody>
                    <a:bodyPr/>
                    <a:lstStyle/>
                    <a:p>
                      <a:pPr indent="0" lvl="0" marL="0" marR="0" rtl="0" algn="l">
                        <a:spcBef>
                          <a:spcPts val="0"/>
                        </a:spcBef>
                        <a:spcAft>
                          <a:spcPts val="0"/>
                        </a:spcAft>
                        <a:buNone/>
                      </a:pPr>
                      <a:r>
                        <a:rPr lang="en-DE" sz="1500">
                          <a:latin typeface="Calibri"/>
                          <a:ea typeface="Calibri"/>
                          <a:cs typeface="Calibri"/>
                          <a:sym typeface="Calibri"/>
                        </a:rPr>
                        <a:t>ACAT2 </a:t>
                      </a:r>
                      <a:endParaRPr i="0" sz="1500">
                        <a:latin typeface="Calibri"/>
                        <a:ea typeface="Calibri"/>
                        <a:cs typeface="Calibri"/>
                        <a:sym typeface="Calibri"/>
                      </a:endParaRPr>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1</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a:t>
                      </a:r>
                      <a:endParaRPr sz="15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c>
                  <a:txBody>
                    <a:bodyPr/>
                    <a:lstStyle/>
                    <a:p>
                      <a:pPr indent="0" lvl="0" marL="0" marR="0" rtl="0" algn="l">
                        <a:spcBef>
                          <a:spcPts val="0"/>
                        </a:spcBef>
                        <a:spcAft>
                          <a:spcPts val="0"/>
                        </a:spcAft>
                        <a:buNone/>
                      </a:pPr>
                      <a:r>
                        <a:rPr lang="en-DE" sz="1500"/>
                        <a:t>0</a:t>
                      </a:r>
                      <a:endParaRPr sz="1200"/>
                    </a:p>
                  </a:txBody>
                  <a:tcPr marT="45725" marB="45725" marR="91475" marL="91475">
                    <a:lnL cap="flat" cmpd="sng" w="16925">
                      <a:solidFill>
                        <a:srgbClr val="000000"/>
                      </a:solidFill>
                      <a:prstDash val="solid"/>
                      <a:round/>
                      <a:headEnd len="sm" w="sm" type="none"/>
                      <a:tailEnd len="sm" w="sm" type="none"/>
                    </a:lnL>
                    <a:lnR cap="flat" cmpd="sng" w="16925">
                      <a:solidFill>
                        <a:srgbClr val="000000"/>
                      </a:solidFill>
                      <a:prstDash val="solid"/>
                      <a:round/>
                      <a:headEnd len="sm" w="sm" type="none"/>
                      <a:tailEnd len="sm" w="sm" type="none"/>
                    </a:lnR>
                    <a:lnT cap="flat" cmpd="sng" w="16925">
                      <a:solidFill>
                        <a:srgbClr val="000000"/>
                      </a:solidFill>
                      <a:prstDash val="solid"/>
                      <a:round/>
                      <a:headEnd len="sm" w="sm" type="none"/>
                      <a:tailEnd len="sm" w="sm" type="none"/>
                    </a:lnT>
                    <a:lnB cap="flat" cmpd="sng" w="16925">
                      <a:solidFill>
                        <a:srgbClr val="000000"/>
                      </a:solidFill>
                      <a:prstDash val="solid"/>
                      <a:round/>
                      <a:headEnd len="sm" w="sm" type="none"/>
                      <a:tailEnd len="sm" w="sm" type="none"/>
                    </a:lnB>
                    <a:noFill/>
                  </a:tcPr>
                </a:tc>
              </a:tr>
            </a:tbl>
          </a:graphicData>
        </a:graphic>
      </p:graphicFrame>
      <p:sp>
        <p:nvSpPr>
          <p:cNvPr id="210" name="Google Shape;210;g3b6d3243cff_0_265"/>
          <p:cNvSpPr txBox="1"/>
          <p:nvPr>
            <p:ph idx="4294967295" type="sldNum"/>
          </p:nvPr>
        </p:nvSpPr>
        <p:spPr>
          <a:xfrm>
            <a:off x="11460300" y="6516400"/>
            <a:ext cx="731700" cy="341700"/>
          </a:xfrm>
          <a:prstGeom prst="rect">
            <a:avLst/>
          </a:prstGeom>
        </p:spPr>
        <p:txBody>
          <a:bodyPr anchorCtr="0" anchor="ctr" bIns="121900" lIns="121900" spcFirstLastPara="1" rIns="121900" wrap="square" tIns="121900">
            <a:normAutofit fontScale="55000" lnSpcReduction="20000"/>
          </a:bodyPr>
          <a:lstStyle/>
          <a:p>
            <a:pPr indent="0" lvl="0" marL="0" rtl="0" algn="r">
              <a:spcBef>
                <a:spcPts val="0"/>
              </a:spcBef>
              <a:spcAft>
                <a:spcPts val="0"/>
              </a:spcAft>
              <a:buNone/>
            </a:pPr>
            <a:fld id="{00000000-1234-1234-1234-123412341234}" type="slidenum">
              <a:rPr lang="en-DE"/>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
          <p:cNvSpPr txBox="1"/>
          <p:nvPr>
            <p:ph idx="1" type="body"/>
          </p:nvPr>
        </p:nvSpPr>
        <p:spPr>
          <a:xfrm>
            <a:off x="838200" y="2524872"/>
            <a:ext cx="10515600" cy="1603375"/>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lang="en-DE"/>
              <a:t>Use differential gene expression analysis to identify genes or transcripts that are expressed at significantly different levels between two or more groups of samples.</a:t>
            </a:r>
            <a:endParaRPr/>
          </a:p>
          <a:p>
            <a:pPr indent="0" lvl="0" marL="0" rtl="0" algn="ctr">
              <a:lnSpc>
                <a:spcPct val="90000"/>
              </a:lnSpc>
              <a:spcBef>
                <a:spcPts val="1000"/>
              </a:spcBef>
              <a:spcAft>
                <a:spcPts val="0"/>
              </a:spcAft>
              <a:buClr>
                <a:schemeClr val="dk1"/>
              </a:buClr>
              <a:buSzPts val="2800"/>
              <a:buNone/>
            </a:pPr>
            <a:r>
              <a:t/>
            </a:r>
            <a:endParaRPr/>
          </a:p>
          <a:p>
            <a:pPr indent="0" lvl="0" marL="0" rtl="0" algn="ctr">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DE"/>
              <a:t>Pseudo-bulk vs single-cell methods</a:t>
            </a:r>
            <a:endParaRPr/>
          </a:p>
        </p:txBody>
      </p:sp>
      <p:sp>
        <p:nvSpPr>
          <p:cNvPr id="221" name="Google Shape;221;p3"/>
          <p:cNvSpPr txBox="1"/>
          <p:nvPr/>
        </p:nvSpPr>
        <p:spPr>
          <a:xfrm>
            <a:off x="107577" y="6341635"/>
            <a:ext cx="1147034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DE" sz="1200" u="none" cap="none" strike="noStrike">
                <a:solidFill>
                  <a:schemeClr val="dk1"/>
                </a:solidFill>
                <a:latin typeface="Arial"/>
                <a:ea typeface="Arial"/>
                <a:cs typeface="Arial"/>
                <a:sym typeface="Arial"/>
              </a:rPr>
              <a:t>Squair, J. W. </a:t>
            </a:r>
            <a:r>
              <a:rPr b="0" i="1" lang="en-DE" sz="1200" u="none" cap="none" strike="noStrike">
                <a:solidFill>
                  <a:schemeClr val="dk1"/>
                </a:solidFill>
                <a:latin typeface="Arial"/>
                <a:ea typeface="Arial"/>
                <a:cs typeface="Arial"/>
                <a:sym typeface="Arial"/>
              </a:rPr>
              <a:t>et al.</a:t>
            </a:r>
            <a:r>
              <a:rPr b="0" i="0" lang="en-DE" sz="1200" u="none" cap="none" strike="noStrike">
                <a:solidFill>
                  <a:schemeClr val="dk1"/>
                </a:solidFill>
                <a:latin typeface="Arial"/>
                <a:ea typeface="Arial"/>
                <a:cs typeface="Arial"/>
                <a:sym typeface="Arial"/>
              </a:rPr>
              <a:t> Confronting false discoveries in single-cell differential expression. </a:t>
            </a:r>
            <a:r>
              <a:rPr b="0" i="1" lang="en-DE" sz="1200" u="none" cap="none" strike="noStrike">
                <a:solidFill>
                  <a:schemeClr val="dk1"/>
                </a:solidFill>
                <a:latin typeface="Arial"/>
                <a:ea typeface="Arial"/>
                <a:cs typeface="Arial"/>
                <a:sym typeface="Arial"/>
              </a:rPr>
              <a:t>Nat Commun</a:t>
            </a:r>
            <a:r>
              <a:rPr b="0" i="0" lang="en-DE" sz="1200" u="none" cap="none" strike="noStrike">
                <a:solidFill>
                  <a:schemeClr val="dk1"/>
                </a:solidFill>
                <a:latin typeface="Arial"/>
                <a:ea typeface="Arial"/>
                <a:cs typeface="Arial"/>
                <a:sym typeface="Arial"/>
              </a:rPr>
              <a:t> </a:t>
            </a:r>
            <a:r>
              <a:rPr b="1" i="0" lang="en-DE" sz="1200" u="none" cap="none" strike="noStrike">
                <a:solidFill>
                  <a:schemeClr val="dk1"/>
                </a:solidFill>
                <a:latin typeface="Arial"/>
                <a:ea typeface="Arial"/>
                <a:cs typeface="Arial"/>
                <a:sym typeface="Arial"/>
              </a:rPr>
              <a:t>12</a:t>
            </a:r>
            <a:r>
              <a:rPr b="0" i="0" lang="en-DE" sz="1200" u="none" cap="none" strike="noStrike">
                <a:solidFill>
                  <a:schemeClr val="dk1"/>
                </a:solidFill>
                <a:latin typeface="Arial"/>
                <a:ea typeface="Arial"/>
                <a:cs typeface="Arial"/>
                <a:sym typeface="Arial"/>
              </a:rPr>
              <a:t>, 5692 (2021).</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pic>
        <p:nvPicPr>
          <p:cNvPr id="222" name="Google Shape;222;p3"/>
          <p:cNvPicPr preferRelativeResize="0"/>
          <p:nvPr/>
        </p:nvPicPr>
        <p:blipFill rotWithShape="1">
          <a:blip r:embed="rId3">
            <a:alphaModFix/>
          </a:blip>
          <a:srcRect b="0" l="0" r="0" t="0"/>
          <a:stretch/>
        </p:blipFill>
        <p:spPr>
          <a:xfrm>
            <a:off x="661706" y="1704135"/>
            <a:ext cx="6135221" cy="4201120"/>
          </a:xfrm>
          <a:prstGeom prst="rect">
            <a:avLst/>
          </a:prstGeom>
          <a:noFill/>
          <a:ln>
            <a:noFill/>
          </a:ln>
        </p:spPr>
      </p:pic>
      <p:sp>
        <p:nvSpPr>
          <p:cNvPr id="223" name="Google Shape;223;p3"/>
          <p:cNvSpPr txBox="1"/>
          <p:nvPr/>
        </p:nvSpPr>
        <p:spPr>
          <a:xfrm>
            <a:off x="7252447" y="1800169"/>
            <a:ext cx="410135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DE" sz="1800">
                <a:solidFill>
                  <a:schemeClr val="dk1"/>
                </a:solidFill>
                <a:latin typeface="Arial"/>
                <a:ea typeface="Arial"/>
                <a:cs typeface="Arial"/>
                <a:sym typeface="Arial"/>
              </a:rPr>
              <a:t>Pseudobulk methods</a:t>
            </a:r>
            <a:r>
              <a:rPr lang="en-DE" sz="1800">
                <a:solidFill>
                  <a:schemeClr val="dk1"/>
                </a:solidFill>
                <a:latin typeface="Arial"/>
                <a:ea typeface="Arial"/>
                <a:cs typeface="Arial"/>
                <a:sym typeface="Arial"/>
              </a:rPr>
              <a:t>: aggreagte within a biological replicate before applying statistical test</a:t>
            </a:r>
            <a:endParaRPr/>
          </a:p>
          <a:p>
            <a:pPr indent="0" lvl="0" marL="0" marR="0" rtl="0" algn="l">
              <a:spcBef>
                <a:spcPts val="0"/>
              </a:spcBef>
              <a:spcAft>
                <a:spcPts val="0"/>
              </a:spcAft>
              <a:buNone/>
            </a:pPr>
            <a:r>
              <a:rPr b="1" lang="en-DE" sz="1800">
                <a:solidFill>
                  <a:schemeClr val="dk1"/>
                </a:solidFill>
                <a:latin typeface="Arial"/>
                <a:ea typeface="Arial"/>
                <a:cs typeface="Arial"/>
                <a:sym typeface="Arial"/>
              </a:rPr>
              <a:t>Single-cell-</a:t>
            </a:r>
            <a:r>
              <a:rPr lang="en-DE" sz="1800">
                <a:solidFill>
                  <a:schemeClr val="dk1"/>
                </a:solidFill>
                <a:latin typeface="Arial"/>
                <a:ea typeface="Arial"/>
                <a:cs typeface="Arial"/>
                <a:sym typeface="Arial"/>
              </a:rPr>
              <a:t>based methods compare individual cells.</a:t>
            </a:r>
            <a:endParaRPr sz="1800">
              <a:solidFill>
                <a:schemeClr val="dk1"/>
              </a:solidFill>
              <a:latin typeface="Arial"/>
              <a:ea typeface="Arial"/>
              <a:cs typeface="Arial"/>
              <a:sym typeface="Arial"/>
            </a:endParaRPr>
          </a:p>
        </p:txBody>
      </p:sp>
      <p:sp>
        <p:nvSpPr>
          <p:cNvPr id="224" name="Google Shape;224;p3"/>
          <p:cNvSpPr txBox="1"/>
          <p:nvPr/>
        </p:nvSpPr>
        <p:spPr>
          <a:xfrm>
            <a:off x="7252447" y="3966881"/>
            <a:ext cx="4002741" cy="6589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800">
                <a:solidFill>
                  <a:schemeClr val="dk1"/>
                </a:solidFill>
                <a:latin typeface="Arial"/>
                <a:ea typeface="Arial"/>
                <a:cs typeface="Arial"/>
                <a:sym typeface="Arial"/>
              </a:rPr>
              <a:t>Data observation: sparse with few highly-expresssed genes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Play"/>
              <a:buNone/>
            </a:pPr>
            <a:r>
              <a:rPr lang="en-DE" sz="3600"/>
              <a:t>Pseudo-bulk methods outperform single-cell methods, but single-cell methods are more popular</a:t>
            </a:r>
            <a:endParaRPr/>
          </a:p>
        </p:txBody>
      </p:sp>
      <p:pic>
        <p:nvPicPr>
          <p:cNvPr id="230" name="Google Shape;230;p4"/>
          <p:cNvPicPr preferRelativeResize="0"/>
          <p:nvPr/>
        </p:nvPicPr>
        <p:blipFill rotWithShape="1">
          <a:blip r:embed="rId3">
            <a:alphaModFix/>
          </a:blip>
          <a:srcRect b="0" l="0" r="0" t="0"/>
          <a:stretch/>
        </p:blipFill>
        <p:spPr>
          <a:xfrm>
            <a:off x="475129" y="2224923"/>
            <a:ext cx="7772400" cy="3672177"/>
          </a:xfrm>
          <a:prstGeom prst="rect">
            <a:avLst/>
          </a:prstGeom>
          <a:noFill/>
          <a:ln>
            <a:noFill/>
          </a:ln>
        </p:spPr>
      </p:pic>
      <p:sp>
        <p:nvSpPr>
          <p:cNvPr id="231" name="Google Shape;231;p4"/>
          <p:cNvSpPr txBox="1"/>
          <p:nvPr/>
        </p:nvSpPr>
        <p:spPr>
          <a:xfrm>
            <a:off x="8807823" y="4853258"/>
            <a:ext cx="3061447"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800">
                <a:solidFill>
                  <a:schemeClr val="dk1"/>
                </a:solidFill>
                <a:latin typeface="Arial"/>
                <a:ea typeface="Arial"/>
                <a:cs typeface="Arial"/>
                <a:sym typeface="Arial"/>
              </a:rPr>
              <a:t>Area under the concordance curve (AUCC) measures concordance of DE analysis of matched single-cell and bulk RNA-seq data.</a:t>
            </a:r>
            <a:endParaRPr/>
          </a:p>
        </p:txBody>
      </p:sp>
      <p:sp>
        <p:nvSpPr>
          <p:cNvPr id="232" name="Google Shape;232;p4"/>
          <p:cNvSpPr txBox="1"/>
          <p:nvPr/>
        </p:nvSpPr>
        <p:spPr>
          <a:xfrm>
            <a:off x="107577" y="6492875"/>
            <a:ext cx="1147034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200">
                <a:solidFill>
                  <a:schemeClr val="dk1"/>
                </a:solidFill>
                <a:latin typeface="Arial"/>
                <a:ea typeface="Arial"/>
                <a:cs typeface="Arial"/>
                <a:sym typeface="Arial"/>
              </a:rPr>
              <a:t>Squair, J. W. </a:t>
            </a:r>
            <a:r>
              <a:rPr i="1" lang="en-DE" sz="1200">
                <a:solidFill>
                  <a:schemeClr val="dk1"/>
                </a:solidFill>
                <a:latin typeface="Arial"/>
                <a:ea typeface="Arial"/>
                <a:cs typeface="Arial"/>
                <a:sym typeface="Arial"/>
              </a:rPr>
              <a:t>et al.</a:t>
            </a:r>
            <a:r>
              <a:rPr lang="en-DE" sz="1200">
                <a:solidFill>
                  <a:schemeClr val="dk1"/>
                </a:solidFill>
                <a:latin typeface="Arial"/>
                <a:ea typeface="Arial"/>
                <a:cs typeface="Arial"/>
                <a:sym typeface="Arial"/>
              </a:rPr>
              <a:t> Confronting false discoveries in single-cell differential expression. </a:t>
            </a:r>
            <a:r>
              <a:rPr i="1" lang="en-DE" sz="1200">
                <a:solidFill>
                  <a:schemeClr val="dk1"/>
                </a:solidFill>
                <a:latin typeface="Arial"/>
                <a:ea typeface="Arial"/>
                <a:cs typeface="Arial"/>
                <a:sym typeface="Arial"/>
              </a:rPr>
              <a:t>Nat Commun</a:t>
            </a:r>
            <a:r>
              <a:rPr lang="en-DE" sz="1200">
                <a:solidFill>
                  <a:schemeClr val="dk1"/>
                </a:solidFill>
                <a:latin typeface="Arial"/>
                <a:ea typeface="Arial"/>
                <a:cs typeface="Arial"/>
                <a:sym typeface="Arial"/>
              </a:rPr>
              <a:t> </a:t>
            </a:r>
            <a:r>
              <a:rPr b="1" lang="en-DE" sz="1200">
                <a:solidFill>
                  <a:schemeClr val="dk1"/>
                </a:solidFill>
                <a:latin typeface="Arial"/>
                <a:ea typeface="Arial"/>
                <a:cs typeface="Arial"/>
                <a:sym typeface="Arial"/>
              </a:rPr>
              <a:t>12</a:t>
            </a:r>
            <a:r>
              <a:rPr lang="en-DE" sz="1200">
                <a:solidFill>
                  <a:schemeClr val="dk1"/>
                </a:solidFill>
                <a:latin typeface="Arial"/>
                <a:ea typeface="Arial"/>
                <a:cs typeface="Arial"/>
                <a:sym typeface="Arial"/>
              </a:rPr>
              <a:t>, 5692 (2021).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lay"/>
              <a:buNone/>
            </a:pPr>
            <a:r>
              <a:rPr lang="en-DE"/>
              <a:t>Minimal difference for lowly expressed genes but large differences for highly expressed genes</a:t>
            </a:r>
            <a:endParaRPr/>
          </a:p>
        </p:txBody>
      </p:sp>
      <p:pic>
        <p:nvPicPr>
          <p:cNvPr id="238" name="Google Shape;238;p5"/>
          <p:cNvPicPr preferRelativeResize="0"/>
          <p:nvPr/>
        </p:nvPicPr>
        <p:blipFill rotWithShape="1">
          <a:blip r:embed="rId3">
            <a:alphaModFix/>
          </a:blip>
          <a:srcRect b="0" l="0" r="0" t="0"/>
          <a:stretch/>
        </p:blipFill>
        <p:spPr>
          <a:xfrm>
            <a:off x="498475" y="2353235"/>
            <a:ext cx="6364696" cy="3281084"/>
          </a:xfrm>
          <a:prstGeom prst="rect">
            <a:avLst/>
          </a:prstGeom>
          <a:noFill/>
          <a:ln>
            <a:noFill/>
          </a:ln>
        </p:spPr>
      </p:pic>
      <p:cxnSp>
        <p:nvCxnSpPr>
          <p:cNvPr id="239" name="Google Shape;239;p5"/>
          <p:cNvCxnSpPr/>
          <p:nvPr/>
        </p:nvCxnSpPr>
        <p:spPr>
          <a:xfrm rot="10800000">
            <a:off x="4356847" y="2608729"/>
            <a:ext cx="0" cy="1035423"/>
          </a:xfrm>
          <a:prstGeom prst="straightConnector1">
            <a:avLst/>
          </a:prstGeom>
          <a:noFill/>
          <a:ln cap="flat" cmpd="sng" w="19050">
            <a:solidFill>
              <a:schemeClr val="dk1"/>
            </a:solidFill>
            <a:prstDash val="solid"/>
            <a:miter lim="800000"/>
            <a:headEnd len="sm" w="sm" type="none"/>
            <a:tailEnd len="sm" w="sm" type="none"/>
          </a:ln>
        </p:spPr>
      </p:cxnSp>
      <p:sp>
        <p:nvSpPr>
          <p:cNvPr id="240" name="Google Shape;240;p5"/>
          <p:cNvSpPr txBox="1"/>
          <p:nvPr/>
        </p:nvSpPr>
        <p:spPr>
          <a:xfrm>
            <a:off x="2810436" y="1983903"/>
            <a:ext cx="14253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800">
                <a:solidFill>
                  <a:schemeClr val="dk1"/>
                </a:solidFill>
                <a:latin typeface="Arial"/>
                <a:ea typeface="Arial"/>
                <a:cs typeface="Arial"/>
                <a:sym typeface="Arial"/>
              </a:rPr>
              <a:t>Single-cell</a:t>
            </a:r>
            <a:endParaRPr/>
          </a:p>
        </p:txBody>
      </p:sp>
      <p:sp>
        <p:nvSpPr>
          <p:cNvPr id="241" name="Google Shape;241;p5"/>
          <p:cNvSpPr txBox="1"/>
          <p:nvPr/>
        </p:nvSpPr>
        <p:spPr>
          <a:xfrm>
            <a:off x="4836803" y="1983903"/>
            <a:ext cx="14253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800">
                <a:solidFill>
                  <a:schemeClr val="dk1"/>
                </a:solidFill>
                <a:latin typeface="Arial"/>
                <a:ea typeface="Arial"/>
                <a:cs typeface="Arial"/>
                <a:sym typeface="Arial"/>
              </a:rPr>
              <a:t>pseudobulk</a:t>
            </a:r>
            <a:endParaRPr sz="1800">
              <a:solidFill>
                <a:schemeClr val="dk1"/>
              </a:solidFill>
              <a:latin typeface="Arial"/>
              <a:ea typeface="Arial"/>
              <a:cs typeface="Arial"/>
              <a:sym typeface="Arial"/>
            </a:endParaRPr>
          </a:p>
        </p:txBody>
      </p:sp>
      <p:sp>
        <p:nvSpPr>
          <p:cNvPr id="242" name="Google Shape;242;p5"/>
          <p:cNvSpPr txBox="1"/>
          <p:nvPr/>
        </p:nvSpPr>
        <p:spPr>
          <a:xfrm>
            <a:off x="7248308" y="1983902"/>
            <a:ext cx="410549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800">
                <a:solidFill>
                  <a:schemeClr val="dk1"/>
                </a:solidFill>
                <a:latin typeface="Arial"/>
                <a:ea typeface="Arial"/>
                <a:cs typeface="Arial"/>
                <a:sym typeface="Arial"/>
              </a:rPr>
              <a:t>Single-cell methods identify highly expressed genes as DE, even when their expression remained unchanged.</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DE"/>
              <a:t>Random aggregation does not improve performance</a:t>
            </a:r>
            <a:endParaRPr/>
          </a:p>
        </p:txBody>
      </p:sp>
      <p:pic>
        <p:nvPicPr>
          <p:cNvPr id="249" name="Google Shape;249;p6"/>
          <p:cNvPicPr preferRelativeResize="0"/>
          <p:nvPr/>
        </p:nvPicPr>
        <p:blipFill rotWithShape="1">
          <a:blip r:embed="rId3">
            <a:alphaModFix/>
          </a:blip>
          <a:srcRect b="0" l="0" r="0" t="0"/>
          <a:stretch/>
        </p:blipFill>
        <p:spPr>
          <a:xfrm>
            <a:off x="838200" y="2023783"/>
            <a:ext cx="6794500" cy="2057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Play"/>
              <a:buNone/>
            </a:pPr>
            <a:r>
              <a:rPr lang="en-DE"/>
              <a:t>False discoveries arise in the absence of any biological difference</a:t>
            </a:r>
            <a:endParaRPr/>
          </a:p>
        </p:txBody>
      </p:sp>
      <p:pic>
        <p:nvPicPr>
          <p:cNvPr id="256" name="Google Shape;256;p7"/>
          <p:cNvPicPr preferRelativeResize="0"/>
          <p:nvPr/>
        </p:nvPicPr>
        <p:blipFill rotWithShape="1">
          <a:blip r:embed="rId3">
            <a:alphaModFix/>
          </a:blip>
          <a:srcRect b="0" l="0" r="0" t="0"/>
          <a:stretch/>
        </p:blipFill>
        <p:spPr>
          <a:xfrm>
            <a:off x="497168" y="1690688"/>
            <a:ext cx="4635749" cy="4772959"/>
          </a:xfrm>
          <a:prstGeom prst="rect">
            <a:avLst/>
          </a:prstGeom>
          <a:noFill/>
          <a:ln>
            <a:noFill/>
          </a:ln>
        </p:spPr>
      </p:pic>
      <p:sp>
        <p:nvSpPr>
          <p:cNvPr id="257" name="Google Shape;257;p7"/>
          <p:cNvSpPr txBox="1"/>
          <p:nvPr/>
        </p:nvSpPr>
        <p:spPr>
          <a:xfrm>
            <a:off x="5540188" y="1949823"/>
            <a:ext cx="57150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800">
                <a:solidFill>
                  <a:schemeClr val="dk1"/>
                </a:solidFill>
                <a:latin typeface="Arial"/>
                <a:ea typeface="Arial"/>
                <a:cs typeface="Arial"/>
                <a:sym typeface="Arial"/>
              </a:rPr>
              <a:t>Simulated single-cell data with different degrees of heterogeneity between replicates. Each replicate is randomly assigned to control or treatment group, so there is an absence of any difference between groups.</a:t>
            </a:r>
            <a:endParaRPr/>
          </a:p>
        </p:txBody>
      </p:sp>
      <p:pic>
        <p:nvPicPr>
          <p:cNvPr id="258" name="Google Shape;258;p7"/>
          <p:cNvPicPr preferRelativeResize="0"/>
          <p:nvPr/>
        </p:nvPicPr>
        <p:blipFill rotWithShape="1">
          <a:blip r:embed="rId4">
            <a:alphaModFix/>
          </a:blip>
          <a:srcRect b="0" l="0" r="0" t="0"/>
          <a:stretch/>
        </p:blipFill>
        <p:spPr>
          <a:xfrm>
            <a:off x="5410201" y="3300834"/>
            <a:ext cx="5402051" cy="31628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DE"/>
              <a:t>Summary</a:t>
            </a:r>
            <a:endParaRPr/>
          </a:p>
        </p:txBody>
      </p:sp>
      <p:sp>
        <p:nvSpPr>
          <p:cNvPr id="264" name="Google Shape;264;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DE"/>
              <a:t>presence of variability between replicates is unavoidable, and can be attributed to both  technical factors and intrinsic biological differences </a:t>
            </a:r>
            <a:endParaRPr/>
          </a:p>
          <a:p>
            <a:pPr indent="-228600" lvl="0" marL="228600" rtl="0" algn="l">
              <a:lnSpc>
                <a:spcPct val="90000"/>
              </a:lnSpc>
              <a:spcBef>
                <a:spcPts val="1000"/>
              </a:spcBef>
              <a:spcAft>
                <a:spcPts val="0"/>
              </a:spcAft>
              <a:buClr>
                <a:schemeClr val="dk1"/>
              </a:buClr>
              <a:buSzPts val="2800"/>
              <a:buChar char="•"/>
            </a:pPr>
            <a:r>
              <a:rPr lang="en-DE"/>
              <a:t>single-cell DE methods conflate variability between biological replicates with the effect of a biological perturbation</a:t>
            </a:r>
            <a:endParaRPr/>
          </a:p>
          <a:p>
            <a:pPr indent="-228600" lvl="0" marL="228600" rtl="0" algn="l">
              <a:lnSpc>
                <a:spcPct val="90000"/>
              </a:lnSpc>
              <a:spcBef>
                <a:spcPts val="1000"/>
              </a:spcBef>
              <a:spcAft>
                <a:spcPts val="0"/>
              </a:spcAft>
              <a:buClr>
                <a:schemeClr val="dk1"/>
              </a:buClr>
              <a:buSzPts val="2800"/>
              <a:buChar char="•"/>
            </a:pPr>
            <a:r>
              <a:rPr lang="en-DE"/>
              <a:t>Pseudobulk methods are more robust to this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b6d3243cff_0_274"/>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DE"/>
              <a:t>‹#›</a:t>
            </a:fld>
            <a:endParaRPr/>
          </a:p>
        </p:txBody>
      </p:sp>
      <p:sp>
        <p:nvSpPr>
          <p:cNvPr id="271" name="Google Shape;271;g3b6d3243cff_0_274"/>
          <p:cNvSpPr txBox="1"/>
          <p:nvPr/>
        </p:nvSpPr>
        <p:spPr>
          <a:xfrm>
            <a:off x="208808" y="166579"/>
            <a:ext cx="10515600" cy="6465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4400"/>
              <a:buFont typeface="Calibri"/>
              <a:buNone/>
            </a:pPr>
            <a:r>
              <a:rPr lang="en-DE" sz="4400">
                <a:solidFill>
                  <a:schemeClr val="dk1"/>
                </a:solidFill>
                <a:latin typeface="Calibri"/>
                <a:ea typeface="Calibri"/>
                <a:cs typeface="Calibri"/>
                <a:sym typeface="Calibri"/>
              </a:rPr>
              <a:t>DGE analysis </a:t>
            </a:r>
            <a:endParaRPr sz="1500"/>
          </a:p>
        </p:txBody>
      </p:sp>
      <p:sp>
        <p:nvSpPr>
          <p:cNvPr id="272" name="Google Shape;272;g3b6d3243cff_0_274"/>
          <p:cNvSpPr txBox="1"/>
          <p:nvPr/>
        </p:nvSpPr>
        <p:spPr>
          <a:xfrm>
            <a:off x="208808" y="1247321"/>
            <a:ext cx="5544900" cy="2432100"/>
          </a:xfrm>
          <a:prstGeom prst="rect">
            <a:avLst/>
          </a:prstGeom>
          <a:noFill/>
          <a:ln>
            <a:noFill/>
          </a:ln>
        </p:spPr>
        <p:txBody>
          <a:bodyPr anchorCtr="0" anchor="t" bIns="45700" lIns="91425" spcFirstLastPara="1" rIns="91425" wrap="square" tIns="45700">
            <a:spAutoFit/>
          </a:bodyPr>
          <a:lstStyle/>
          <a:p>
            <a:pPr indent="-349250" lvl="0" marL="342900" marR="0" rtl="0" algn="l">
              <a:spcBef>
                <a:spcPts val="0"/>
              </a:spcBef>
              <a:spcAft>
                <a:spcPts val="0"/>
              </a:spcAft>
              <a:buClr>
                <a:schemeClr val="dk1"/>
              </a:buClr>
              <a:buSzPts val="1900"/>
              <a:buFont typeface="Calibri"/>
              <a:buAutoNum type="arabicPeriod"/>
            </a:pPr>
            <a:r>
              <a:rPr lang="en-DE" sz="1900">
                <a:solidFill>
                  <a:schemeClr val="dk1"/>
                </a:solidFill>
                <a:latin typeface="Calibri"/>
                <a:ea typeface="Calibri"/>
                <a:cs typeface="Calibri"/>
                <a:sym typeface="Calibri"/>
              </a:rPr>
              <a:t>Subsetting the cell type(s) of interest to perform DEA.</a:t>
            </a:r>
            <a:endParaRPr sz="1500"/>
          </a:p>
          <a:p>
            <a:pPr indent="-349250" lvl="0" marL="342900" marR="0" rtl="0" algn="l">
              <a:spcBef>
                <a:spcPts val="0"/>
              </a:spcBef>
              <a:spcAft>
                <a:spcPts val="0"/>
              </a:spcAft>
              <a:buClr>
                <a:schemeClr val="dk1"/>
              </a:buClr>
              <a:buSzPts val="1900"/>
              <a:buFont typeface="Calibri"/>
              <a:buAutoNum type="arabicPeriod"/>
            </a:pPr>
            <a:r>
              <a:rPr lang="en-DE" sz="1900">
                <a:solidFill>
                  <a:schemeClr val="dk1"/>
                </a:solidFill>
                <a:latin typeface="Calibri"/>
                <a:ea typeface="Calibri"/>
                <a:cs typeface="Calibri"/>
                <a:sym typeface="Calibri"/>
              </a:rPr>
              <a:t>Extracting their raw integer counts.</a:t>
            </a:r>
            <a:endParaRPr sz="1500"/>
          </a:p>
          <a:p>
            <a:pPr indent="-349250" lvl="0" marL="342900" marR="0" rtl="0" algn="l">
              <a:spcBef>
                <a:spcPts val="0"/>
              </a:spcBef>
              <a:spcAft>
                <a:spcPts val="0"/>
              </a:spcAft>
              <a:buClr>
                <a:schemeClr val="dk1"/>
              </a:buClr>
              <a:buSzPts val="1900"/>
              <a:buFont typeface="Calibri"/>
              <a:buAutoNum type="arabicPeriod"/>
            </a:pPr>
            <a:r>
              <a:rPr lang="en-DE" sz="1900">
                <a:solidFill>
                  <a:schemeClr val="dk1"/>
                </a:solidFill>
                <a:latin typeface="Calibri"/>
                <a:ea typeface="Calibri"/>
                <a:cs typeface="Calibri"/>
                <a:sym typeface="Calibri"/>
              </a:rPr>
              <a:t>Summing their counts per gene into a single profile if they pass QC.</a:t>
            </a:r>
            <a:endParaRPr sz="1500"/>
          </a:p>
          <a:p>
            <a:pPr indent="-349250" lvl="0" marL="342900" marR="0" rtl="0" algn="l">
              <a:spcBef>
                <a:spcPts val="0"/>
              </a:spcBef>
              <a:spcAft>
                <a:spcPts val="0"/>
              </a:spcAft>
              <a:buClr>
                <a:schemeClr val="dk1"/>
              </a:buClr>
              <a:buSzPts val="1900"/>
              <a:buFont typeface="Calibri"/>
              <a:buAutoNum type="arabicPeriod"/>
            </a:pPr>
            <a:r>
              <a:rPr lang="en-DE" sz="1900">
                <a:solidFill>
                  <a:schemeClr val="dk1"/>
                </a:solidFill>
                <a:latin typeface="Calibri"/>
                <a:ea typeface="Calibri"/>
                <a:cs typeface="Calibri"/>
                <a:sym typeface="Calibri"/>
              </a:rPr>
              <a:t>Performing DEA if at least two biological replicates per condition are available (more replicates are recommended).</a:t>
            </a:r>
            <a:endParaRPr sz="1500"/>
          </a:p>
        </p:txBody>
      </p:sp>
      <p:sp>
        <p:nvSpPr>
          <p:cNvPr id="273" name="Google Shape;273;g3b6d3243cff_0_274"/>
          <p:cNvSpPr txBox="1"/>
          <p:nvPr/>
        </p:nvSpPr>
        <p:spPr>
          <a:xfrm>
            <a:off x="3" y="6183443"/>
            <a:ext cx="6113100" cy="32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500">
                <a:solidFill>
                  <a:schemeClr val="dk1"/>
                </a:solidFill>
                <a:latin typeface="Calibri"/>
                <a:ea typeface="Calibri"/>
                <a:cs typeface="Calibri"/>
                <a:sym typeface="Calibri"/>
              </a:rPr>
              <a:t> Squair J.W., et al 2021 Nat. Comm.</a:t>
            </a:r>
            <a:endParaRPr sz="1500">
              <a:solidFill>
                <a:schemeClr val="dk1"/>
              </a:solidFill>
              <a:latin typeface="Calibri"/>
              <a:ea typeface="Calibri"/>
              <a:cs typeface="Calibri"/>
              <a:sym typeface="Calibri"/>
            </a:endParaRPr>
          </a:p>
        </p:txBody>
      </p:sp>
      <p:sp>
        <p:nvSpPr>
          <p:cNvPr id="274" name="Google Shape;274;g3b6d3243cff_0_274"/>
          <p:cNvSpPr/>
          <p:nvPr/>
        </p:nvSpPr>
        <p:spPr>
          <a:xfrm>
            <a:off x="5638800" y="1688455"/>
            <a:ext cx="229500" cy="729600"/>
          </a:xfrm>
          <a:prstGeom prst="rightBrace">
            <a:avLst>
              <a:gd fmla="val 53250" name="adj1"/>
              <a:gd fmla="val 50000" name="adj2"/>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dk1"/>
              </a:solidFill>
              <a:latin typeface="Calibri"/>
              <a:ea typeface="Calibri"/>
              <a:cs typeface="Calibri"/>
              <a:sym typeface="Calibri"/>
            </a:endParaRPr>
          </a:p>
        </p:txBody>
      </p:sp>
      <p:sp>
        <p:nvSpPr>
          <p:cNvPr id="275" name="Google Shape;275;g3b6d3243cff_0_274"/>
          <p:cNvSpPr txBox="1"/>
          <p:nvPr/>
        </p:nvSpPr>
        <p:spPr>
          <a:xfrm>
            <a:off x="6200456" y="1378591"/>
            <a:ext cx="5427900" cy="184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DE" sz="1900">
                <a:solidFill>
                  <a:schemeClr val="dk1"/>
                </a:solidFill>
                <a:latin typeface="Calibri"/>
                <a:ea typeface="Calibri"/>
                <a:cs typeface="Calibri"/>
                <a:sym typeface="Calibri"/>
              </a:rPr>
              <a:t>Pseudobulking:</a:t>
            </a:r>
            <a:endParaRPr sz="1500"/>
          </a:p>
          <a:p>
            <a:pPr indent="-298450" lvl="0" marL="292100" marR="0" rtl="0" algn="l">
              <a:spcBef>
                <a:spcPts val="0"/>
              </a:spcBef>
              <a:spcAft>
                <a:spcPts val="0"/>
              </a:spcAft>
              <a:buClr>
                <a:schemeClr val="dk1"/>
              </a:buClr>
              <a:buSzPts val="1900"/>
              <a:buFont typeface="Arial"/>
              <a:buChar char="•"/>
            </a:pPr>
            <a:r>
              <a:rPr lang="en-DE" sz="1900">
                <a:solidFill>
                  <a:schemeClr val="dk1"/>
                </a:solidFill>
                <a:latin typeface="Calibri"/>
                <a:ea typeface="Calibri"/>
                <a:cs typeface="Calibri"/>
                <a:sym typeface="Calibri"/>
              </a:rPr>
              <a:t>Single cells within a sample are not independent of each other</a:t>
            </a:r>
            <a:endParaRPr sz="1500"/>
          </a:p>
          <a:p>
            <a:pPr indent="-298450" lvl="0" marL="292100" marR="0" rtl="0" algn="l">
              <a:spcBef>
                <a:spcPts val="0"/>
              </a:spcBef>
              <a:spcAft>
                <a:spcPts val="0"/>
              </a:spcAft>
              <a:buClr>
                <a:schemeClr val="dk1"/>
              </a:buClr>
              <a:buSzPts val="1900"/>
              <a:buFont typeface="Arial"/>
              <a:buChar char="•"/>
            </a:pPr>
            <a:r>
              <a:rPr lang="en-DE" sz="1900">
                <a:solidFill>
                  <a:schemeClr val="dk1"/>
                </a:solidFill>
                <a:latin typeface="Calibri"/>
                <a:ea typeface="Calibri"/>
                <a:cs typeface="Calibri"/>
                <a:sym typeface="Calibri"/>
              </a:rPr>
              <a:t>If we treat cells as samples, we are not testing the variation across a population of samples, rather the variation inside an individual one</a:t>
            </a:r>
            <a:endParaRPr sz="1900">
              <a:solidFill>
                <a:schemeClr val="dk1"/>
              </a:solidFill>
              <a:latin typeface="Calibri"/>
              <a:ea typeface="Calibri"/>
              <a:cs typeface="Calibri"/>
              <a:sym typeface="Calibri"/>
            </a:endParaRPr>
          </a:p>
        </p:txBody>
      </p:sp>
      <p:grpSp>
        <p:nvGrpSpPr>
          <p:cNvPr id="276" name="Google Shape;276;g3b6d3243cff_0_274"/>
          <p:cNvGrpSpPr/>
          <p:nvPr/>
        </p:nvGrpSpPr>
        <p:grpSpPr>
          <a:xfrm>
            <a:off x="379484" y="4049092"/>
            <a:ext cx="11669072" cy="1620000"/>
            <a:chOff x="379484" y="4049092"/>
            <a:chExt cx="11669072" cy="1620000"/>
          </a:xfrm>
        </p:grpSpPr>
        <p:pic>
          <p:nvPicPr>
            <p:cNvPr id="277" name="Google Shape;277;g3b6d3243cff_0_274"/>
            <p:cNvPicPr preferRelativeResize="0"/>
            <p:nvPr/>
          </p:nvPicPr>
          <p:blipFill rotWithShape="1">
            <a:blip r:embed="rId3">
              <a:alphaModFix/>
            </a:blip>
            <a:srcRect b="0" l="0" r="0" t="0"/>
            <a:stretch/>
          </p:blipFill>
          <p:spPr>
            <a:xfrm>
              <a:off x="379484" y="4049092"/>
              <a:ext cx="4465617" cy="1620000"/>
            </a:xfrm>
            <a:prstGeom prst="rect">
              <a:avLst/>
            </a:prstGeom>
            <a:noFill/>
            <a:ln>
              <a:noFill/>
            </a:ln>
          </p:spPr>
        </p:pic>
        <p:sp>
          <p:nvSpPr>
            <p:cNvPr id="278" name="Google Shape;278;g3b6d3243cff_0_274"/>
            <p:cNvSpPr txBox="1"/>
            <p:nvPr/>
          </p:nvSpPr>
          <p:spPr>
            <a:xfrm>
              <a:off x="4317574" y="4387550"/>
              <a:ext cx="3025800" cy="323100"/>
            </a:xfrm>
            <a:prstGeom prst="rect">
              <a:avLst/>
            </a:prstGeom>
            <a:solidFill>
              <a:srgbClr val="D8D8D8"/>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DE" sz="1500">
                  <a:solidFill>
                    <a:srgbClr val="E74C3C"/>
                  </a:solidFill>
                  <a:latin typeface="Courier New"/>
                  <a:ea typeface="Courier New"/>
                  <a:cs typeface="Courier New"/>
                  <a:sym typeface="Courier New"/>
                </a:rPr>
                <a:t>decoupler.get_pseudobulk</a:t>
              </a:r>
              <a:endParaRPr sz="1500">
                <a:solidFill>
                  <a:schemeClr val="dk1"/>
                </a:solidFill>
                <a:latin typeface="Courier New"/>
                <a:ea typeface="Courier New"/>
                <a:cs typeface="Courier New"/>
                <a:sym typeface="Courier New"/>
              </a:endParaRPr>
            </a:p>
          </p:txBody>
        </p:sp>
        <p:pic>
          <p:nvPicPr>
            <p:cNvPr id="279" name="Google Shape;279;g3b6d3243cff_0_274"/>
            <p:cNvPicPr preferRelativeResize="0"/>
            <p:nvPr/>
          </p:nvPicPr>
          <p:blipFill rotWithShape="1">
            <a:blip r:embed="rId4">
              <a:alphaModFix/>
            </a:blip>
            <a:srcRect b="50000" l="0" r="12564" t="0"/>
            <a:stretch/>
          </p:blipFill>
          <p:spPr>
            <a:xfrm>
              <a:off x="7080160" y="4049092"/>
              <a:ext cx="2315601" cy="1620000"/>
            </a:xfrm>
            <a:prstGeom prst="rect">
              <a:avLst/>
            </a:prstGeom>
            <a:noFill/>
            <a:ln>
              <a:noFill/>
            </a:ln>
          </p:spPr>
        </p:pic>
        <p:pic>
          <p:nvPicPr>
            <p:cNvPr id="280" name="Google Shape;280;g3b6d3243cff_0_274"/>
            <p:cNvPicPr preferRelativeResize="0"/>
            <p:nvPr/>
          </p:nvPicPr>
          <p:blipFill rotWithShape="1">
            <a:blip r:embed="rId4">
              <a:alphaModFix/>
            </a:blip>
            <a:srcRect b="0" l="0" r="0" t="50000"/>
            <a:stretch/>
          </p:blipFill>
          <p:spPr>
            <a:xfrm>
              <a:off x="9400259" y="4049092"/>
              <a:ext cx="2648297" cy="1620000"/>
            </a:xfrm>
            <a:prstGeom prst="rect">
              <a:avLst/>
            </a:prstGeom>
            <a:noFill/>
            <a:ln>
              <a:noFill/>
            </a:ln>
          </p:spPr>
        </p:pic>
        <p:cxnSp>
          <p:nvCxnSpPr>
            <p:cNvPr id="281" name="Google Shape;281;g3b6d3243cff_0_274"/>
            <p:cNvCxnSpPr/>
            <p:nvPr/>
          </p:nvCxnSpPr>
          <p:spPr>
            <a:xfrm>
              <a:off x="4993240" y="4859092"/>
              <a:ext cx="1777500" cy="0"/>
            </a:xfrm>
            <a:prstGeom prst="straightConnector1">
              <a:avLst/>
            </a:prstGeom>
            <a:noFill/>
            <a:ln cap="flat" cmpd="sng" w="12700">
              <a:solidFill>
                <a:schemeClr val="dk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b6d3243cff_0_290"/>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DE"/>
              <a:t>‹#›</a:t>
            </a:fld>
            <a:endParaRPr/>
          </a:p>
        </p:txBody>
      </p:sp>
      <p:sp>
        <p:nvSpPr>
          <p:cNvPr id="287" name="Google Shape;287;g3b6d3243cff_0_290"/>
          <p:cNvSpPr txBox="1"/>
          <p:nvPr/>
        </p:nvSpPr>
        <p:spPr>
          <a:xfrm>
            <a:off x="208808" y="166579"/>
            <a:ext cx="10515600" cy="646500"/>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l">
              <a:lnSpc>
                <a:spcPct val="90000"/>
              </a:lnSpc>
              <a:spcBef>
                <a:spcPts val="0"/>
              </a:spcBef>
              <a:spcAft>
                <a:spcPts val="0"/>
              </a:spcAft>
              <a:buClr>
                <a:schemeClr val="dk1"/>
              </a:buClr>
              <a:buSzPct val="100000"/>
              <a:buFont typeface="Calibri"/>
              <a:buNone/>
            </a:pPr>
            <a:r>
              <a:rPr lang="en-DE" sz="4400">
                <a:solidFill>
                  <a:schemeClr val="dk1"/>
                </a:solidFill>
                <a:latin typeface="Calibri"/>
                <a:ea typeface="Calibri"/>
                <a:cs typeface="Calibri"/>
                <a:sym typeface="Calibri"/>
              </a:rPr>
              <a:t>DGE analysis – contrasting between conditions </a:t>
            </a:r>
            <a:endParaRPr sz="1500"/>
          </a:p>
        </p:txBody>
      </p:sp>
      <p:grpSp>
        <p:nvGrpSpPr>
          <p:cNvPr id="288" name="Google Shape;288;g3b6d3243cff_0_290"/>
          <p:cNvGrpSpPr/>
          <p:nvPr/>
        </p:nvGrpSpPr>
        <p:grpSpPr>
          <a:xfrm>
            <a:off x="820924" y="1100487"/>
            <a:ext cx="10550152" cy="2733574"/>
            <a:chOff x="820924" y="1100487"/>
            <a:chExt cx="10550152" cy="2733574"/>
          </a:xfrm>
        </p:grpSpPr>
        <p:grpSp>
          <p:nvGrpSpPr>
            <p:cNvPr id="289" name="Google Shape;289;g3b6d3243cff_0_290"/>
            <p:cNvGrpSpPr/>
            <p:nvPr/>
          </p:nvGrpSpPr>
          <p:grpSpPr>
            <a:xfrm>
              <a:off x="820924" y="1112892"/>
              <a:ext cx="3600138" cy="2721169"/>
              <a:chOff x="1" y="1383584"/>
              <a:chExt cx="5833018" cy="4408894"/>
            </a:xfrm>
          </p:grpSpPr>
          <p:cxnSp>
            <p:nvCxnSpPr>
              <p:cNvPr id="290" name="Google Shape;290;g3b6d3243cff_0_290"/>
              <p:cNvCxnSpPr/>
              <p:nvPr/>
            </p:nvCxnSpPr>
            <p:spPr>
              <a:xfrm rot="10800000">
                <a:off x="454918" y="1383584"/>
                <a:ext cx="0" cy="3753900"/>
              </a:xfrm>
              <a:prstGeom prst="straightConnector1">
                <a:avLst/>
              </a:prstGeom>
              <a:noFill/>
              <a:ln cap="flat" cmpd="sng" w="9525">
                <a:solidFill>
                  <a:schemeClr val="dk1"/>
                </a:solidFill>
                <a:prstDash val="solid"/>
                <a:miter lim="800000"/>
                <a:headEnd len="sm" w="sm" type="none"/>
                <a:tailEnd len="med" w="med" type="triangle"/>
              </a:ln>
            </p:spPr>
          </p:cxnSp>
          <p:cxnSp>
            <p:nvCxnSpPr>
              <p:cNvPr id="291" name="Google Shape;291;g3b6d3243cff_0_290"/>
              <p:cNvCxnSpPr/>
              <p:nvPr/>
            </p:nvCxnSpPr>
            <p:spPr>
              <a:xfrm>
                <a:off x="454918" y="5137484"/>
                <a:ext cx="5378100" cy="0"/>
              </a:xfrm>
              <a:prstGeom prst="straightConnector1">
                <a:avLst/>
              </a:prstGeom>
              <a:noFill/>
              <a:ln cap="flat" cmpd="sng" w="9525">
                <a:solidFill>
                  <a:schemeClr val="dk1"/>
                </a:solidFill>
                <a:prstDash val="solid"/>
                <a:miter lim="800000"/>
                <a:headEnd len="sm" w="sm" type="none"/>
                <a:tailEnd len="med" w="med" type="triangle"/>
              </a:ln>
            </p:spPr>
          </p:cxnSp>
          <p:sp>
            <p:nvSpPr>
              <p:cNvPr id="292" name="Google Shape;292;g3b6d3243cff_0_290"/>
              <p:cNvSpPr/>
              <p:nvPr/>
            </p:nvSpPr>
            <p:spPr>
              <a:xfrm>
                <a:off x="1321192" y="26228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3" name="Google Shape;293;g3b6d3243cff_0_290"/>
              <p:cNvSpPr/>
              <p:nvPr/>
            </p:nvSpPr>
            <p:spPr>
              <a:xfrm>
                <a:off x="1473592" y="27752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4" name="Google Shape;294;g3b6d3243cff_0_290"/>
              <p:cNvSpPr/>
              <p:nvPr/>
            </p:nvSpPr>
            <p:spPr>
              <a:xfrm>
                <a:off x="1756334" y="3035969"/>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5" name="Google Shape;295;g3b6d3243cff_0_290"/>
              <p:cNvSpPr/>
              <p:nvPr/>
            </p:nvSpPr>
            <p:spPr>
              <a:xfrm>
                <a:off x="1056497" y="27752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6" name="Google Shape;296;g3b6d3243cff_0_290"/>
              <p:cNvSpPr/>
              <p:nvPr/>
            </p:nvSpPr>
            <p:spPr>
              <a:xfrm>
                <a:off x="1581876" y="2362200"/>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7" name="Google Shape;297;g3b6d3243cff_0_290"/>
              <p:cNvSpPr/>
              <p:nvPr/>
            </p:nvSpPr>
            <p:spPr>
              <a:xfrm>
                <a:off x="1986939" y="2873542"/>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8" name="Google Shape;298;g3b6d3243cff_0_290"/>
              <p:cNvSpPr/>
              <p:nvPr/>
            </p:nvSpPr>
            <p:spPr>
              <a:xfrm>
                <a:off x="1267050" y="2253916"/>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299" name="Google Shape;299;g3b6d3243cff_0_290"/>
              <p:cNvSpPr/>
              <p:nvPr/>
            </p:nvSpPr>
            <p:spPr>
              <a:xfrm>
                <a:off x="1335229" y="2991852"/>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0" name="Google Shape;300;g3b6d3243cff_0_290"/>
              <p:cNvSpPr/>
              <p:nvPr/>
            </p:nvSpPr>
            <p:spPr>
              <a:xfrm>
                <a:off x="2029050" y="2571001"/>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1" name="Google Shape;301;g3b6d3243cff_0_290"/>
              <p:cNvSpPr/>
              <p:nvPr/>
            </p:nvSpPr>
            <p:spPr>
              <a:xfrm>
                <a:off x="1517708" y="315227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2" name="Google Shape;302;g3b6d3243cff_0_290"/>
              <p:cNvSpPr/>
              <p:nvPr/>
            </p:nvSpPr>
            <p:spPr>
              <a:xfrm>
                <a:off x="1030429" y="30800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3" name="Google Shape;303;g3b6d3243cff_0_290"/>
              <p:cNvSpPr/>
              <p:nvPr/>
            </p:nvSpPr>
            <p:spPr>
              <a:xfrm>
                <a:off x="1702192" y="2622884"/>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4" name="Google Shape;304;g3b6d3243cff_0_290"/>
              <p:cNvSpPr/>
              <p:nvPr/>
            </p:nvSpPr>
            <p:spPr>
              <a:xfrm>
                <a:off x="2181450" y="2723401"/>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5" name="Google Shape;305;g3b6d3243cff_0_290"/>
              <p:cNvSpPr/>
              <p:nvPr/>
            </p:nvSpPr>
            <p:spPr>
              <a:xfrm>
                <a:off x="3934050" y="3499438"/>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6" name="Google Shape;306;g3b6d3243cff_0_290"/>
              <p:cNvSpPr/>
              <p:nvPr/>
            </p:nvSpPr>
            <p:spPr>
              <a:xfrm>
                <a:off x="2333850" y="2875801"/>
                <a:ext cx="108300" cy="108300"/>
              </a:xfrm>
              <a:prstGeom prst="ellipse">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7" name="Google Shape;307;g3b6d3243cff_0_290"/>
              <p:cNvSpPr/>
              <p:nvPr/>
            </p:nvSpPr>
            <p:spPr>
              <a:xfrm>
                <a:off x="4258902" y="36638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8" name="Google Shape;308;g3b6d3243cff_0_290"/>
              <p:cNvSpPr/>
              <p:nvPr/>
            </p:nvSpPr>
            <p:spPr>
              <a:xfrm>
                <a:off x="4411302" y="38162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09" name="Google Shape;309;g3b6d3243cff_0_290"/>
              <p:cNvSpPr/>
              <p:nvPr/>
            </p:nvSpPr>
            <p:spPr>
              <a:xfrm>
                <a:off x="4150618" y="3174586"/>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0" name="Google Shape;310;g3b6d3243cff_0_290"/>
              <p:cNvSpPr/>
              <p:nvPr/>
            </p:nvSpPr>
            <p:spPr>
              <a:xfrm>
                <a:off x="4042334" y="3772154"/>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1" name="Google Shape;311;g3b6d3243cff_0_290"/>
              <p:cNvSpPr/>
              <p:nvPr/>
            </p:nvSpPr>
            <p:spPr>
              <a:xfrm>
                <a:off x="4519586" y="3283746"/>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2" name="Google Shape;312;g3b6d3243cff_0_290"/>
              <p:cNvSpPr/>
              <p:nvPr/>
            </p:nvSpPr>
            <p:spPr>
              <a:xfrm>
                <a:off x="4204760" y="342837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3" name="Google Shape;313;g3b6d3243cff_0_290"/>
              <p:cNvSpPr/>
              <p:nvPr/>
            </p:nvSpPr>
            <p:spPr>
              <a:xfrm>
                <a:off x="4258902" y="4000755"/>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4" name="Google Shape;314;g3b6d3243cff_0_290"/>
              <p:cNvSpPr/>
              <p:nvPr/>
            </p:nvSpPr>
            <p:spPr>
              <a:xfrm>
                <a:off x="4694043" y="3597696"/>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5" name="Google Shape;315;g3b6d3243cff_0_290"/>
              <p:cNvSpPr/>
              <p:nvPr/>
            </p:nvSpPr>
            <p:spPr>
              <a:xfrm>
                <a:off x="4726128" y="389873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6" name="Google Shape;316;g3b6d3243cff_0_290"/>
              <p:cNvSpPr/>
              <p:nvPr/>
            </p:nvSpPr>
            <p:spPr>
              <a:xfrm>
                <a:off x="3825766" y="3984712"/>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7" name="Google Shape;317;g3b6d3243cff_0_290"/>
              <p:cNvSpPr/>
              <p:nvPr/>
            </p:nvSpPr>
            <p:spPr>
              <a:xfrm>
                <a:off x="4563702" y="39686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8" name="Google Shape;318;g3b6d3243cff_0_290"/>
              <p:cNvSpPr/>
              <p:nvPr/>
            </p:nvSpPr>
            <p:spPr>
              <a:xfrm>
                <a:off x="4411302" y="3514351"/>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19" name="Google Shape;319;g3b6d3243cff_0_290"/>
              <p:cNvSpPr/>
              <p:nvPr/>
            </p:nvSpPr>
            <p:spPr>
              <a:xfrm>
                <a:off x="3717482" y="3214818"/>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0" name="Google Shape;320;g3b6d3243cff_0_290"/>
              <p:cNvSpPr/>
              <p:nvPr/>
            </p:nvSpPr>
            <p:spPr>
              <a:xfrm>
                <a:off x="4391250" y="2981827"/>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1" name="Google Shape;321;g3b6d3243cff_0_290"/>
              <p:cNvSpPr/>
              <p:nvPr/>
            </p:nvSpPr>
            <p:spPr>
              <a:xfrm>
                <a:off x="4834412" y="341259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2" name="Google Shape;322;g3b6d3243cff_0_290"/>
              <p:cNvSpPr/>
              <p:nvPr/>
            </p:nvSpPr>
            <p:spPr>
              <a:xfrm>
                <a:off x="4768237" y="3122448"/>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3" name="Google Shape;323;g3b6d3243cff_0_290"/>
              <p:cNvSpPr/>
              <p:nvPr/>
            </p:nvSpPr>
            <p:spPr>
              <a:xfrm>
                <a:off x="3716480" y="3575512"/>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4" name="Google Shape;324;g3b6d3243cff_0_290"/>
              <p:cNvSpPr/>
              <p:nvPr/>
            </p:nvSpPr>
            <p:spPr>
              <a:xfrm>
                <a:off x="3954102" y="3231863"/>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5" name="Google Shape;325;g3b6d3243cff_0_290"/>
              <p:cNvSpPr/>
              <p:nvPr/>
            </p:nvSpPr>
            <p:spPr>
              <a:xfrm>
                <a:off x="4008244" y="2857134"/>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6" name="Google Shape;326;g3b6d3243cff_0_290"/>
              <p:cNvSpPr/>
              <p:nvPr/>
            </p:nvSpPr>
            <p:spPr>
              <a:xfrm>
                <a:off x="3861861" y="303596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7" name="Google Shape;327;g3b6d3243cff_0_290"/>
              <p:cNvSpPr/>
              <p:nvPr/>
            </p:nvSpPr>
            <p:spPr>
              <a:xfrm>
                <a:off x="4716102" y="4121070"/>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8" name="Google Shape;328;g3b6d3243cff_0_290"/>
              <p:cNvSpPr/>
              <p:nvPr/>
            </p:nvSpPr>
            <p:spPr>
              <a:xfrm>
                <a:off x="4888554" y="3745959"/>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29" name="Google Shape;329;g3b6d3243cff_0_290"/>
              <p:cNvSpPr/>
              <p:nvPr/>
            </p:nvSpPr>
            <p:spPr>
              <a:xfrm>
                <a:off x="5177312" y="3703721"/>
                <a:ext cx="108300" cy="1083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30" name="Google Shape;330;g3b6d3243cff_0_290"/>
              <p:cNvSpPr txBox="1"/>
              <p:nvPr/>
            </p:nvSpPr>
            <p:spPr>
              <a:xfrm>
                <a:off x="1900713" y="5169078"/>
                <a:ext cx="2033400" cy="6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DE" sz="1900">
                    <a:solidFill>
                      <a:schemeClr val="dk1"/>
                    </a:solidFill>
                    <a:latin typeface="Calibri"/>
                    <a:ea typeface="Calibri"/>
                    <a:cs typeface="Calibri"/>
                    <a:sym typeface="Calibri"/>
                  </a:rPr>
                  <a:t>UMAP-1</a:t>
                </a:r>
                <a:endParaRPr sz="1500"/>
              </a:p>
            </p:txBody>
          </p:sp>
          <p:sp>
            <p:nvSpPr>
              <p:cNvPr id="331" name="Google Shape;331;g3b6d3243cff_0_290"/>
              <p:cNvSpPr txBox="1"/>
              <p:nvPr/>
            </p:nvSpPr>
            <p:spPr>
              <a:xfrm rot="-5400000">
                <a:off x="-704999" y="2900954"/>
                <a:ext cx="2033400" cy="623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DE" sz="1900">
                    <a:solidFill>
                      <a:schemeClr val="dk1"/>
                    </a:solidFill>
                    <a:latin typeface="Calibri"/>
                    <a:ea typeface="Calibri"/>
                    <a:cs typeface="Calibri"/>
                    <a:sym typeface="Calibri"/>
                  </a:rPr>
                  <a:t>UMAP-2</a:t>
                </a:r>
                <a:endParaRPr sz="1500"/>
              </a:p>
            </p:txBody>
          </p:sp>
        </p:grpSp>
        <p:pic>
          <p:nvPicPr>
            <p:cNvPr id="332" name="Google Shape;332;g3b6d3243cff_0_290"/>
            <p:cNvPicPr preferRelativeResize="0"/>
            <p:nvPr/>
          </p:nvPicPr>
          <p:blipFill rotWithShape="1">
            <a:blip r:embed="rId3">
              <a:alphaModFix/>
            </a:blip>
            <a:srcRect b="0" l="0" r="0" t="0"/>
            <a:stretch/>
          </p:blipFill>
          <p:spPr>
            <a:xfrm>
              <a:off x="7771076" y="1100487"/>
              <a:ext cx="3600000" cy="2480829"/>
            </a:xfrm>
            <a:prstGeom prst="rect">
              <a:avLst/>
            </a:prstGeom>
            <a:noFill/>
            <a:ln>
              <a:noFill/>
            </a:ln>
          </p:spPr>
        </p:pic>
        <p:cxnSp>
          <p:nvCxnSpPr>
            <p:cNvPr id="333" name="Google Shape;333;g3b6d3243cff_0_290"/>
            <p:cNvCxnSpPr/>
            <p:nvPr/>
          </p:nvCxnSpPr>
          <p:spPr>
            <a:xfrm>
              <a:off x="4880981" y="2210290"/>
              <a:ext cx="2413800" cy="0"/>
            </a:xfrm>
            <a:prstGeom prst="straightConnector1">
              <a:avLst/>
            </a:prstGeom>
            <a:noFill/>
            <a:ln cap="flat" cmpd="sng" w="12700">
              <a:solidFill>
                <a:schemeClr val="dk1"/>
              </a:solidFill>
              <a:prstDash val="solid"/>
              <a:miter lim="800000"/>
              <a:headEnd len="sm" w="sm" type="none"/>
              <a:tailEnd len="med" w="med" type="triangle"/>
            </a:ln>
          </p:spPr>
        </p:cxnSp>
        <p:sp>
          <p:nvSpPr>
            <p:cNvPr id="334" name="Google Shape;334;g3b6d3243cff_0_290"/>
            <p:cNvSpPr txBox="1"/>
            <p:nvPr/>
          </p:nvSpPr>
          <p:spPr>
            <a:xfrm>
              <a:off x="4800866" y="1175921"/>
              <a:ext cx="2547600" cy="969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900">
                  <a:solidFill>
                    <a:schemeClr val="dk1"/>
                  </a:solidFill>
                  <a:latin typeface="Calibri"/>
                  <a:ea typeface="Calibri"/>
                  <a:cs typeface="Calibri"/>
                  <a:sym typeface="Calibri"/>
                </a:rPr>
                <a:t>Experimental design to compare GEX in a given cell type </a:t>
              </a:r>
              <a:endParaRPr sz="1500"/>
            </a:p>
          </p:txBody>
        </p:sp>
        <p:sp>
          <p:nvSpPr>
            <p:cNvPr id="335" name="Google Shape;335;g3b6d3243cff_0_290"/>
            <p:cNvSpPr txBox="1"/>
            <p:nvPr/>
          </p:nvSpPr>
          <p:spPr>
            <a:xfrm>
              <a:off x="5519768" y="2346833"/>
              <a:ext cx="1185900" cy="1262100"/>
            </a:xfrm>
            <a:prstGeom prst="rect">
              <a:avLst/>
            </a:prstGeom>
            <a:noFill/>
            <a:ln>
              <a:noFill/>
            </a:ln>
          </p:spPr>
          <p:txBody>
            <a:bodyPr anchorCtr="0" anchor="t" bIns="45700" lIns="91425" spcFirstLastPara="1" rIns="91425" wrap="square" tIns="45700">
              <a:spAutoFit/>
            </a:bodyPr>
            <a:lstStyle/>
            <a:p>
              <a:pPr indent="-298450" lvl="0" marL="292100" marR="0" rtl="0" algn="l">
                <a:spcBef>
                  <a:spcPts val="0"/>
                </a:spcBef>
                <a:spcAft>
                  <a:spcPts val="0"/>
                </a:spcAft>
                <a:buClr>
                  <a:schemeClr val="dk1"/>
                </a:buClr>
                <a:buSzPts val="1900"/>
                <a:buFont typeface="Arial"/>
                <a:buChar char="•"/>
              </a:pPr>
              <a:r>
                <a:rPr b="1" lang="en-DE" sz="1900">
                  <a:solidFill>
                    <a:schemeClr val="dk1"/>
                  </a:solidFill>
                  <a:latin typeface="Calibri"/>
                  <a:ea typeface="Calibri"/>
                  <a:cs typeface="Calibri"/>
                  <a:sym typeface="Calibri"/>
                </a:rPr>
                <a:t>DESeq2</a:t>
              </a:r>
              <a:endParaRPr sz="1500"/>
            </a:p>
            <a:p>
              <a:pPr indent="-298450" lvl="0" marL="292100" marR="0" rtl="0" algn="l">
                <a:spcBef>
                  <a:spcPts val="0"/>
                </a:spcBef>
                <a:spcAft>
                  <a:spcPts val="0"/>
                </a:spcAft>
                <a:buClr>
                  <a:schemeClr val="dk1"/>
                </a:buClr>
                <a:buSzPts val="1900"/>
                <a:buFont typeface="Arial"/>
                <a:buChar char="•"/>
              </a:pPr>
              <a:r>
                <a:rPr lang="en-DE" sz="1900">
                  <a:solidFill>
                    <a:schemeClr val="dk1"/>
                  </a:solidFill>
                  <a:latin typeface="Calibri"/>
                  <a:ea typeface="Calibri"/>
                  <a:cs typeface="Calibri"/>
                  <a:sym typeface="Calibri"/>
                </a:rPr>
                <a:t>EdgeR</a:t>
              </a:r>
              <a:endParaRPr sz="1500"/>
            </a:p>
            <a:p>
              <a:pPr indent="-298450" lvl="0" marL="292100" marR="0" rtl="0" algn="l">
                <a:spcBef>
                  <a:spcPts val="0"/>
                </a:spcBef>
                <a:spcAft>
                  <a:spcPts val="0"/>
                </a:spcAft>
                <a:buClr>
                  <a:schemeClr val="dk1"/>
                </a:buClr>
                <a:buSzPts val="1900"/>
                <a:buFont typeface="Arial"/>
                <a:buChar char="•"/>
              </a:pPr>
              <a:r>
                <a:rPr lang="en-DE" sz="1900">
                  <a:solidFill>
                    <a:schemeClr val="dk1"/>
                  </a:solidFill>
                  <a:latin typeface="Calibri"/>
                  <a:ea typeface="Calibri"/>
                  <a:cs typeface="Calibri"/>
                  <a:sym typeface="Calibri"/>
                </a:rPr>
                <a:t>limma</a:t>
              </a:r>
              <a:endParaRPr sz="1500"/>
            </a:p>
          </p:txBody>
        </p:sp>
      </p:grpSp>
      <p:grpSp>
        <p:nvGrpSpPr>
          <p:cNvPr id="336" name="Google Shape;336;g3b6d3243cff_0_290"/>
          <p:cNvGrpSpPr/>
          <p:nvPr/>
        </p:nvGrpSpPr>
        <p:grpSpPr>
          <a:xfrm>
            <a:off x="666643" y="4205488"/>
            <a:ext cx="4968396" cy="1620000"/>
            <a:chOff x="666643" y="4205488"/>
            <a:chExt cx="4968396" cy="1620000"/>
          </a:xfrm>
        </p:grpSpPr>
        <p:pic>
          <p:nvPicPr>
            <p:cNvPr id="337" name="Google Shape;337;g3b6d3243cff_0_290"/>
            <p:cNvPicPr preferRelativeResize="0"/>
            <p:nvPr/>
          </p:nvPicPr>
          <p:blipFill rotWithShape="1">
            <a:blip r:embed="rId4">
              <a:alphaModFix/>
            </a:blip>
            <a:srcRect b="50000" l="0" r="12564" t="0"/>
            <a:stretch/>
          </p:blipFill>
          <p:spPr>
            <a:xfrm>
              <a:off x="666643" y="4205488"/>
              <a:ext cx="2315601" cy="1620000"/>
            </a:xfrm>
            <a:prstGeom prst="rect">
              <a:avLst/>
            </a:prstGeom>
            <a:noFill/>
            <a:ln>
              <a:noFill/>
            </a:ln>
          </p:spPr>
        </p:pic>
        <p:pic>
          <p:nvPicPr>
            <p:cNvPr id="338" name="Google Shape;338;g3b6d3243cff_0_290"/>
            <p:cNvPicPr preferRelativeResize="0"/>
            <p:nvPr/>
          </p:nvPicPr>
          <p:blipFill rotWithShape="1">
            <a:blip r:embed="rId4">
              <a:alphaModFix/>
            </a:blip>
            <a:srcRect b="0" l="0" r="0" t="50000"/>
            <a:stretch/>
          </p:blipFill>
          <p:spPr>
            <a:xfrm>
              <a:off x="2986742" y="4205488"/>
              <a:ext cx="2648297" cy="1620000"/>
            </a:xfrm>
            <a:prstGeom prst="rect">
              <a:avLst/>
            </a:prstGeom>
            <a:noFill/>
            <a:ln>
              <a:noFill/>
            </a:ln>
          </p:spPr>
        </p:pic>
        <p:sp>
          <p:nvSpPr>
            <p:cNvPr id="339" name="Google Shape;339;g3b6d3243cff_0_290"/>
            <p:cNvSpPr/>
            <p:nvPr/>
          </p:nvSpPr>
          <p:spPr>
            <a:xfrm>
              <a:off x="1048867" y="5435029"/>
              <a:ext cx="307200" cy="2259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40" name="Google Shape;340;g3b6d3243cff_0_290"/>
            <p:cNvSpPr/>
            <p:nvPr/>
          </p:nvSpPr>
          <p:spPr>
            <a:xfrm>
              <a:off x="3369972" y="5475342"/>
              <a:ext cx="307200" cy="225900"/>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grpSp>
      <p:pic>
        <p:nvPicPr>
          <p:cNvPr descr="A table of numbers and symbols&#10;&#10;AI-generated content may be incorrect." id="341" name="Google Shape;341;g3b6d3243cff_0_290"/>
          <p:cNvPicPr preferRelativeResize="0"/>
          <p:nvPr/>
        </p:nvPicPr>
        <p:blipFill rotWithShape="1">
          <a:blip r:embed="rId5">
            <a:alphaModFix/>
          </a:blip>
          <a:srcRect b="0" l="0" r="0" t="0"/>
          <a:stretch/>
        </p:blipFill>
        <p:spPr>
          <a:xfrm>
            <a:off x="6556962" y="3944327"/>
            <a:ext cx="3599999" cy="2592277"/>
          </a:xfrm>
          <a:prstGeom prst="rect">
            <a:avLst/>
          </a:prstGeom>
          <a:noFill/>
          <a:ln>
            <a:noFill/>
          </a:ln>
        </p:spPr>
      </p:pic>
      <p:pic>
        <p:nvPicPr>
          <p:cNvPr descr="A diagram of a number of red and blue dots&#10;&#10;AI-generated content may be incorrect." id="342" name="Google Shape;342;g3b6d3243cff_0_290"/>
          <p:cNvPicPr preferRelativeResize="0"/>
          <p:nvPr/>
        </p:nvPicPr>
        <p:blipFill rotWithShape="1">
          <a:blip r:embed="rId6">
            <a:alphaModFix/>
          </a:blip>
          <a:srcRect b="0" l="0" r="0" t="0"/>
          <a:stretch/>
        </p:blipFill>
        <p:spPr>
          <a:xfrm>
            <a:off x="5715915" y="3633174"/>
            <a:ext cx="5282092" cy="2844203"/>
          </a:xfrm>
          <a:prstGeom prst="rect">
            <a:avLst/>
          </a:prstGeom>
          <a:noFill/>
          <a:ln>
            <a:noFill/>
          </a:ln>
        </p:spPr>
      </p:pic>
      <p:grpSp>
        <p:nvGrpSpPr>
          <p:cNvPr id="343" name="Google Shape;343;g3b6d3243cff_0_290"/>
          <p:cNvGrpSpPr/>
          <p:nvPr/>
        </p:nvGrpSpPr>
        <p:grpSpPr>
          <a:xfrm>
            <a:off x="53518" y="6035638"/>
            <a:ext cx="5078511" cy="704255"/>
            <a:chOff x="53518" y="6035638"/>
            <a:chExt cx="5078511" cy="704255"/>
          </a:xfrm>
        </p:grpSpPr>
        <p:sp>
          <p:nvSpPr>
            <p:cNvPr id="344" name="Google Shape;344;g3b6d3243cff_0_290"/>
            <p:cNvSpPr txBox="1"/>
            <p:nvPr/>
          </p:nvSpPr>
          <p:spPr>
            <a:xfrm>
              <a:off x="1365829" y="6062793"/>
              <a:ext cx="37662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900">
                  <a:solidFill>
                    <a:schemeClr val="dk1"/>
                  </a:solidFill>
                  <a:latin typeface="Calibri"/>
                  <a:ea typeface="Calibri"/>
                  <a:cs typeface="Calibri"/>
                  <a:sym typeface="Calibri"/>
                </a:rPr>
                <a:t>Muzellec B. et al., 2023 Bioinformatics</a:t>
              </a:r>
              <a:endParaRPr sz="1900">
                <a:solidFill>
                  <a:schemeClr val="dk1"/>
                </a:solidFill>
                <a:latin typeface="Calibri"/>
                <a:ea typeface="Calibri"/>
                <a:cs typeface="Calibri"/>
                <a:sym typeface="Calibri"/>
              </a:endParaRPr>
            </a:p>
          </p:txBody>
        </p:sp>
        <p:pic>
          <p:nvPicPr>
            <p:cNvPr descr="A black text on a white background&#10;&#10;AI-generated content may be incorrect." id="345" name="Google Shape;345;g3b6d3243cff_0_290"/>
            <p:cNvPicPr preferRelativeResize="0"/>
            <p:nvPr/>
          </p:nvPicPr>
          <p:blipFill rotWithShape="1">
            <a:blip r:embed="rId7">
              <a:alphaModFix/>
            </a:blip>
            <a:srcRect b="0" l="0" r="0" t="0"/>
            <a:stretch/>
          </p:blipFill>
          <p:spPr>
            <a:xfrm>
              <a:off x="53518" y="6035638"/>
              <a:ext cx="1296604" cy="423643"/>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b6d3243cff_0_353"/>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DE"/>
              <a:t>‹#›</a:t>
            </a:fld>
            <a:endParaRPr/>
          </a:p>
        </p:txBody>
      </p:sp>
      <p:sp>
        <p:nvSpPr>
          <p:cNvPr id="351" name="Google Shape;351;g3b6d3243cff_0_353"/>
          <p:cNvSpPr txBox="1"/>
          <p:nvPr/>
        </p:nvSpPr>
        <p:spPr>
          <a:xfrm>
            <a:off x="208808" y="166579"/>
            <a:ext cx="10515600" cy="6465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dk1"/>
              </a:buClr>
              <a:buSzPts val="4400"/>
              <a:buFont typeface="Calibri"/>
              <a:buNone/>
            </a:pPr>
            <a:r>
              <a:rPr lang="en-DE" sz="4400">
                <a:solidFill>
                  <a:schemeClr val="dk1"/>
                </a:solidFill>
                <a:latin typeface="Calibri"/>
                <a:ea typeface="Calibri"/>
                <a:cs typeface="Calibri"/>
                <a:sym typeface="Calibri"/>
              </a:rPr>
              <a:t>DGE analysis – Gene Set Enrichment Analysis</a:t>
            </a:r>
            <a:endParaRPr sz="1500"/>
          </a:p>
        </p:txBody>
      </p:sp>
      <p:pic>
        <p:nvPicPr>
          <p:cNvPr descr="A blue text on a white background&#10;&#10;AI-generated content may be incorrect." id="352" name="Google Shape;352;g3b6d3243cff_0_353"/>
          <p:cNvPicPr preferRelativeResize="0"/>
          <p:nvPr/>
        </p:nvPicPr>
        <p:blipFill rotWithShape="1">
          <a:blip r:embed="rId3">
            <a:alphaModFix/>
          </a:blip>
          <a:srcRect b="0" l="0" r="0" t="0"/>
          <a:stretch/>
        </p:blipFill>
        <p:spPr>
          <a:xfrm>
            <a:off x="1348509" y="1875470"/>
            <a:ext cx="2844800" cy="977900"/>
          </a:xfrm>
          <a:prstGeom prst="rect">
            <a:avLst/>
          </a:prstGeom>
          <a:noFill/>
          <a:ln>
            <a:noFill/>
          </a:ln>
        </p:spPr>
      </p:pic>
      <p:sp>
        <p:nvSpPr>
          <p:cNvPr id="353" name="Google Shape;353;g3b6d3243cff_0_353"/>
          <p:cNvSpPr txBox="1"/>
          <p:nvPr/>
        </p:nvSpPr>
        <p:spPr>
          <a:xfrm>
            <a:off x="208809" y="1118127"/>
            <a:ext cx="5163300" cy="677100"/>
          </a:xfrm>
          <a:prstGeom prst="rect">
            <a:avLst/>
          </a:prstGeom>
          <a:noFill/>
          <a:ln>
            <a:noFill/>
          </a:ln>
        </p:spPr>
        <p:txBody>
          <a:bodyPr anchorCtr="0" anchor="t" bIns="45700" lIns="91425" spcFirstLastPara="1" rIns="91425" wrap="square" tIns="45700">
            <a:spAutoFit/>
          </a:bodyPr>
          <a:lstStyle/>
          <a:p>
            <a:pPr indent="-349250" lvl="0" marL="342900" marR="0" rtl="0" algn="l">
              <a:spcBef>
                <a:spcPts val="0"/>
              </a:spcBef>
              <a:spcAft>
                <a:spcPts val="0"/>
              </a:spcAft>
              <a:buClr>
                <a:schemeClr val="dk1"/>
              </a:buClr>
              <a:buSzPts val="1900"/>
              <a:buFont typeface="Calibri"/>
              <a:buAutoNum type="arabicPeriod"/>
            </a:pPr>
            <a:r>
              <a:rPr lang="en-DE" sz="1900">
                <a:solidFill>
                  <a:schemeClr val="dk1"/>
                </a:solidFill>
                <a:latin typeface="Calibri"/>
                <a:ea typeface="Calibri"/>
                <a:cs typeface="Calibri"/>
                <a:sym typeface="Calibri"/>
              </a:rPr>
              <a:t>Database collection of gene sets annotated to different biological processes</a:t>
            </a:r>
            <a:endParaRPr sz="1500"/>
          </a:p>
        </p:txBody>
      </p:sp>
      <p:sp>
        <p:nvSpPr>
          <p:cNvPr id="354" name="Google Shape;354;g3b6d3243cff_0_353"/>
          <p:cNvSpPr txBox="1"/>
          <p:nvPr/>
        </p:nvSpPr>
        <p:spPr>
          <a:xfrm>
            <a:off x="208808" y="3596974"/>
            <a:ext cx="6110100" cy="384900"/>
          </a:xfrm>
          <a:prstGeom prst="rect">
            <a:avLst/>
          </a:prstGeom>
          <a:noFill/>
          <a:ln>
            <a:noFill/>
          </a:ln>
        </p:spPr>
        <p:txBody>
          <a:bodyPr anchorCtr="0" anchor="t" bIns="45700" lIns="91425" spcFirstLastPara="1" rIns="91425" wrap="square" tIns="45700">
            <a:spAutoFit/>
          </a:bodyPr>
          <a:lstStyle/>
          <a:p>
            <a:pPr indent="-349250" lvl="0" marL="342900" marR="0" rtl="0" algn="l">
              <a:lnSpc>
                <a:spcPct val="100000"/>
              </a:lnSpc>
              <a:spcBef>
                <a:spcPts val="0"/>
              </a:spcBef>
              <a:spcAft>
                <a:spcPts val="0"/>
              </a:spcAft>
              <a:buClr>
                <a:srgbClr val="000000"/>
              </a:buClr>
              <a:buSzPts val="1900"/>
              <a:buFont typeface="Calibri"/>
              <a:buAutoNum type="arabicPeriod" startAt="2"/>
            </a:pPr>
            <a:r>
              <a:rPr b="0" i="0" lang="en-DE" sz="1900" u="none" cap="none" strike="noStrike">
                <a:solidFill>
                  <a:srgbClr val="000000"/>
                </a:solidFill>
                <a:latin typeface="Calibri"/>
                <a:ea typeface="Calibri"/>
                <a:cs typeface="Calibri"/>
                <a:sym typeface="Calibri"/>
              </a:rPr>
              <a:t>Infer functional enrichment  </a:t>
            </a:r>
            <a:endParaRPr b="0" i="0" sz="1900" u="none" cap="none" strike="noStrike">
              <a:solidFill>
                <a:srgbClr val="000000"/>
              </a:solidFill>
              <a:latin typeface="Calibri"/>
              <a:ea typeface="Calibri"/>
              <a:cs typeface="Calibri"/>
              <a:sym typeface="Calibri"/>
            </a:endParaRPr>
          </a:p>
        </p:txBody>
      </p:sp>
      <p:pic>
        <p:nvPicPr>
          <p:cNvPr id="355" name="Google Shape;355;g3b6d3243cff_0_353"/>
          <p:cNvPicPr preferRelativeResize="0"/>
          <p:nvPr/>
        </p:nvPicPr>
        <p:blipFill rotWithShape="1">
          <a:blip r:embed="rId4">
            <a:alphaModFix/>
          </a:blip>
          <a:srcRect b="0" l="0" r="0" t="0"/>
          <a:stretch/>
        </p:blipFill>
        <p:spPr>
          <a:xfrm>
            <a:off x="6412980" y="1009976"/>
            <a:ext cx="4430509" cy="3030664"/>
          </a:xfrm>
          <a:prstGeom prst="rect">
            <a:avLst/>
          </a:prstGeom>
          <a:noFill/>
          <a:ln>
            <a:noFill/>
          </a:ln>
        </p:spPr>
      </p:pic>
      <p:sp>
        <p:nvSpPr>
          <p:cNvPr id="356" name="Google Shape;356;g3b6d3243cff_0_353"/>
          <p:cNvSpPr txBox="1"/>
          <p:nvPr/>
        </p:nvSpPr>
        <p:spPr>
          <a:xfrm>
            <a:off x="-17532" y="6073798"/>
            <a:ext cx="61131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900">
                <a:solidFill>
                  <a:schemeClr val="dk1"/>
                </a:solidFill>
                <a:latin typeface="Calibri"/>
                <a:ea typeface="Calibri"/>
                <a:cs typeface="Calibri"/>
                <a:sym typeface="Calibri"/>
              </a:rPr>
              <a:t>https://decoupler-py.readthedocs.io/</a:t>
            </a:r>
            <a:endParaRPr sz="1500"/>
          </a:p>
        </p:txBody>
      </p:sp>
      <p:grpSp>
        <p:nvGrpSpPr>
          <p:cNvPr id="357" name="Google Shape;357;g3b6d3243cff_0_353"/>
          <p:cNvGrpSpPr/>
          <p:nvPr/>
        </p:nvGrpSpPr>
        <p:grpSpPr>
          <a:xfrm>
            <a:off x="7448875" y="1502563"/>
            <a:ext cx="3684756" cy="3183793"/>
            <a:chOff x="7448875" y="1502563"/>
            <a:chExt cx="3684756" cy="3183793"/>
          </a:xfrm>
        </p:grpSpPr>
        <p:sp>
          <p:nvSpPr>
            <p:cNvPr id="358" name="Google Shape;358;g3b6d3243cff_0_353"/>
            <p:cNvSpPr/>
            <p:nvPr/>
          </p:nvSpPr>
          <p:spPr>
            <a:xfrm>
              <a:off x="7448875" y="1502563"/>
              <a:ext cx="930600" cy="2362800"/>
            </a:xfrm>
            <a:prstGeom prst="rect">
              <a:avLst/>
            </a:prstGeom>
            <a:noFill/>
            <a:ln cap="flat" cmpd="sng" w="190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900">
                <a:solidFill>
                  <a:schemeClr val="lt1"/>
                </a:solidFill>
                <a:latin typeface="Calibri"/>
                <a:ea typeface="Calibri"/>
                <a:cs typeface="Calibri"/>
                <a:sym typeface="Calibri"/>
              </a:endParaRPr>
            </a:p>
          </p:txBody>
        </p:sp>
        <p:sp>
          <p:nvSpPr>
            <p:cNvPr id="359" name="Google Shape;359;g3b6d3243cff_0_353"/>
            <p:cNvSpPr txBox="1"/>
            <p:nvPr/>
          </p:nvSpPr>
          <p:spPr>
            <a:xfrm>
              <a:off x="8508931" y="4009256"/>
              <a:ext cx="26247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DE" sz="1900">
                  <a:solidFill>
                    <a:schemeClr val="dk1"/>
                  </a:solidFill>
                  <a:latin typeface="Calibri"/>
                  <a:ea typeface="Calibri"/>
                  <a:cs typeface="Calibri"/>
                  <a:sym typeface="Calibri"/>
                </a:rPr>
                <a:t>Filter by a given collection</a:t>
              </a:r>
              <a:endParaRPr sz="1500"/>
            </a:p>
          </p:txBody>
        </p:sp>
        <p:cxnSp>
          <p:nvCxnSpPr>
            <p:cNvPr id="360" name="Google Shape;360;g3b6d3243cff_0_353"/>
            <p:cNvCxnSpPr>
              <a:endCxn id="359" idx="1"/>
            </p:cNvCxnSpPr>
            <p:nvPr/>
          </p:nvCxnSpPr>
          <p:spPr>
            <a:xfrm>
              <a:off x="7914031" y="4019306"/>
              <a:ext cx="594900" cy="328500"/>
            </a:xfrm>
            <a:prstGeom prst="bentConnector3">
              <a:avLst>
                <a:gd fmla="val 50000" name="adj1"/>
              </a:avLst>
            </a:prstGeom>
            <a:noFill/>
            <a:ln cap="flat" cmpd="sng" w="19075">
              <a:solidFill>
                <a:srgbClr val="FF0000"/>
              </a:solidFill>
              <a:prstDash val="solid"/>
              <a:miter lim="800000"/>
              <a:headEnd len="sm" w="sm" type="none"/>
              <a:tailEnd len="med" w="med" type="triangle"/>
            </a:ln>
          </p:spPr>
        </p:cxnSp>
      </p:grpSp>
      <p:pic>
        <p:nvPicPr>
          <p:cNvPr descr="c23f70072a994a3e8fb0490d0337a712" id="361" name="Google Shape;361;g3b6d3243cff_0_353"/>
          <p:cNvPicPr preferRelativeResize="0"/>
          <p:nvPr/>
        </p:nvPicPr>
        <p:blipFill rotWithShape="1">
          <a:blip r:embed="rId5">
            <a:alphaModFix/>
          </a:blip>
          <a:srcRect b="0" l="0" r="0" t="0"/>
          <a:stretch/>
        </p:blipFill>
        <p:spPr>
          <a:xfrm>
            <a:off x="387875" y="4128148"/>
            <a:ext cx="5163306" cy="1945646"/>
          </a:xfrm>
          <a:prstGeom prst="rect">
            <a:avLst/>
          </a:prstGeom>
          <a:noFill/>
          <a:ln>
            <a:noFill/>
          </a:ln>
        </p:spPr>
      </p:pic>
      <p:pic>
        <p:nvPicPr>
          <p:cNvPr descr="A screenshot of a graph&#10;&#10;AI-generated content may be incorrect." id="362" name="Google Shape;362;g3b6d3243cff_0_353"/>
          <p:cNvPicPr preferRelativeResize="0"/>
          <p:nvPr/>
        </p:nvPicPr>
        <p:blipFill rotWithShape="1">
          <a:blip r:embed="rId6">
            <a:alphaModFix/>
          </a:blip>
          <a:srcRect b="0" l="0" r="0" t="0"/>
          <a:stretch/>
        </p:blipFill>
        <p:spPr>
          <a:xfrm>
            <a:off x="5953734" y="4866850"/>
            <a:ext cx="5814039" cy="977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b6d7c0d904_0_0"/>
          <p:cNvSpPr txBox="1"/>
          <p:nvPr>
            <p:ph type="title"/>
          </p:nvPr>
        </p:nvSpPr>
        <p:spPr>
          <a:xfrm>
            <a:off x="415600" y="593367"/>
            <a:ext cx="11360700" cy="7635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DE"/>
              <a:t>Github</a:t>
            </a:r>
            <a:endParaRPr/>
          </a:p>
        </p:txBody>
      </p:sp>
      <p:sp>
        <p:nvSpPr>
          <p:cNvPr id="369" name="Google Shape;369;g3b6d7c0d904_0_0"/>
          <p:cNvSpPr txBox="1"/>
          <p:nvPr>
            <p:ph idx="1" type="body"/>
          </p:nvPr>
        </p:nvSpPr>
        <p:spPr>
          <a:xfrm>
            <a:off x="415600" y="1536633"/>
            <a:ext cx="11360700" cy="45552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DE"/>
              <a:t>git add . </a:t>
            </a:r>
            <a:endParaRPr/>
          </a:p>
          <a:p>
            <a:pPr indent="0" lvl="0" marL="0" rtl="0" algn="l">
              <a:spcBef>
                <a:spcPts val="1600"/>
              </a:spcBef>
              <a:spcAft>
                <a:spcPts val="0"/>
              </a:spcAft>
              <a:buNone/>
            </a:pPr>
            <a:r>
              <a:rPr lang="en-DE"/>
              <a:t>git commit -m “MEANINGFUL MESSAGE”</a:t>
            </a:r>
            <a:endParaRPr/>
          </a:p>
          <a:p>
            <a:pPr indent="0" lvl="0" marL="0" rtl="0" algn="l">
              <a:spcBef>
                <a:spcPts val="1600"/>
              </a:spcBef>
              <a:spcAft>
                <a:spcPts val="1600"/>
              </a:spcAft>
              <a:buNone/>
            </a:pPr>
            <a:r>
              <a:rPr lang="en-DE"/>
              <a:t>git push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2025-12-09T18:42:23Z</dcterms:created>
  <dc:creator>Francesca Drummer</dc:creator>
</cp:coreProperties>
</file>